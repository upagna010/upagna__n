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59" r:id="rId7"/>
    <p:sldId id="260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lfish Girl" userId="df1b0ef0a5d3a049" providerId="LiveId" clId="{B9F42AD0-5DF5-4E8A-AAE6-32DAABD8D66D}"/>
    <pc:docChg chg="custSel modSld">
      <pc:chgData name="Selfish Girl" userId="df1b0ef0a5d3a049" providerId="LiveId" clId="{B9F42AD0-5DF5-4E8A-AAE6-32DAABD8D66D}" dt="2026-08-14T18:15:09.233" v="0" actId="700"/>
      <pc:docMkLst>
        <pc:docMk/>
      </pc:docMkLst>
      <pc:sldChg chg="delSp mod modClrScheme chgLayout">
        <pc:chgData name="Selfish Girl" userId="df1b0ef0a5d3a049" providerId="LiveId" clId="{B9F42AD0-5DF5-4E8A-AAE6-32DAABD8D66D}" dt="2026-08-14T18:15:09.233" v="0" actId="700"/>
        <pc:sldMkLst>
          <pc:docMk/>
          <pc:sldMk cId="3792888958" sldId="256"/>
        </pc:sldMkLst>
        <pc:spChg chg="del">
          <ac:chgData name="Selfish Girl" userId="df1b0ef0a5d3a049" providerId="LiveId" clId="{B9F42AD0-5DF5-4E8A-AAE6-32DAABD8D66D}" dt="2026-08-14T18:15:09.233" v="0" actId="700"/>
          <ac:spMkLst>
            <pc:docMk/>
            <pc:sldMk cId="3792888958" sldId="256"/>
            <ac:spMk id="2" creationId="{D2E714CD-0456-7A40-D5A6-128F47521AA0}"/>
          </ac:spMkLst>
        </pc:spChg>
        <pc:spChg chg="del">
          <ac:chgData name="Selfish Girl" userId="df1b0ef0a5d3a049" providerId="LiveId" clId="{B9F42AD0-5DF5-4E8A-AAE6-32DAABD8D66D}" dt="2026-08-14T18:15:09.233" v="0" actId="700"/>
          <ac:spMkLst>
            <pc:docMk/>
            <pc:sldMk cId="3792888958" sldId="256"/>
            <ac:spMk id="3" creationId="{1BED52C8-5B7B-B426-E185-1769EA39540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CCC91-8B5A-76EF-095F-EC9760B48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8547C5-3D4A-08D0-676B-53AE2E657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70A7C-E1C8-306C-D4A0-97FEF59D2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B0BD-010D-4C33-8D2F-ADC850D3E75A}" type="datetimeFigureOut">
              <a:rPr lang="en-IN" smtClean="0"/>
              <a:t>14.8.26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1F08D-E7AB-0420-DA45-17A4DC670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4C873-CE23-202E-478B-A1BF9292A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A4D0C-BAEA-435F-8ECD-5B22275E9F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855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0025C-D5A3-A5AA-9D1F-C51391A8D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619EA-5BD4-0175-E7E2-DFCF53E20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7509D-5001-14ED-3860-EE7CFF52C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B0BD-010D-4C33-8D2F-ADC850D3E75A}" type="datetimeFigureOut">
              <a:rPr lang="en-IN" smtClean="0"/>
              <a:t>14.8.26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32525-29CC-103B-6A4A-0C1CCB114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AA45-F75A-E0E0-13D3-5F61189E7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A4D0C-BAEA-435F-8ECD-5B22275E9F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576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C8418-BA56-962A-37A1-00C7328E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F6FA0-9818-0B0F-3B1B-5E1A057F7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43B51-7518-5DC5-CB90-97CB36DBC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B0BD-010D-4C33-8D2F-ADC850D3E75A}" type="datetimeFigureOut">
              <a:rPr lang="en-IN" smtClean="0"/>
              <a:t>14.8.26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5CFA0-5B62-C0AA-E230-995EFCA56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B60D8-F106-0584-6BDC-55A96C53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A4D0C-BAEA-435F-8ECD-5B22275E9F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17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9ECAD-DEA9-B57D-FE3A-D881A7C8B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4495F-10B6-D306-F0FE-A7490EE21A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6DA02-2BCA-C035-2CAB-49FA1AA9C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C20C0-3B7E-642B-5174-0671BD363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B0BD-010D-4C33-8D2F-ADC850D3E75A}" type="datetimeFigureOut">
              <a:rPr lang="en-IN" smtClean="0"/>
              <a:t>14.8.26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FBB88-556A-208F-9BE1-1815A5B43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B9DFE-A47E-7229-FD6D-D7D9E2D94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A4D0C-BAEA-435F-8ECD-5B22275E9F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306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CEE9E-463E-0602-0D3B-E3C7B1C97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A4958-EE1F-B495-6F0E-332CD597C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C5C4DF-AEA0-CD50-51E4-3BE5067AF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90E955-D0C6-08E5-1439-B09D717B3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1F7A2B-3DD9-6FAC-4578-307F15B474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132D55-484C-1E90-891E-9B8E7087A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B0BD-010D-4C33-8D2F-ADC850D3E75A}" type="datetimeFigureOut">
              <a:rPr lang="en-IN" smtClean="0"/>
              <a:t>14.8.26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8D0B3A-BFF0-BAF8-FF4F-0A6766AC0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AA2EF-5DC0-8A92-109D-94DAF55E1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A4D0C-BAEA-435F-8ECD-5B22275E9F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43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C8BA0-CB40-1EAC-2E5E-D17F82CAC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FBC0-6598-CA51-AB2E-6C3C93F75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B0BD-010D-4C33-8D2F-ADC850D3E75A}" type="datetimeFigureOut">
              <a:rPr lang="en-IN" smtClean="0"/>
              <a:t>14.8.26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8C6669-0A48-FC37-D0F5-989F0B324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07A7AF-59E6-9191-3F9C-6092FCC53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A4D0C-BAEA-435F-8ECD-5B22275E9F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820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1B4E27-6A7B-B032-4BF5-32759E3DA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B0BD-010D-4C33-8D2F-ADC850D3E75A}" type="datetimeFigureOut">
              <a:rPr lang="en-IN" smtClean="0"/>
              <a:t>14.8.26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55BD07-0537-02C3-9C5B-B366D93FF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841B5-2DD8-DE9B-E98F-1C261A99F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A4D0C-BAEA-435F-8ECD-5B22275E9F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960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320B0-F96F-68A7-918A-700C9C0A9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559A5-CB76-AB6D-B513-D4403400F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A43DFA-AE90-ECDF-7F18-C3223EB90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90ABF-62BD-166D-4ED1-A85F44681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B0BD-010D-4C33-8D2F-ADC850D3E75A}" type="datetimeFigureOut">
              <a:rPr lang="en-IN" smtClean="0"/>
              <a:t>14.8.26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A5E0B-E969-7446-08C5-90EECCA7B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5FB8D-6F63-2FAD-FE7C-B6DA04AB7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A4D0C-BAEA-435F-8ECD-5B22275E9F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876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6FB24-E2B8-91FB-06E2-A6C5D850F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5E6540-D8CD-A100-17B5-85EE27691B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C636E8-A36A-4BD6-311D-9B2F1C7A1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DC7BA-07AB-F4C8-822D-75307D1A4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B0BD-010D-4C33-8D2F-ADC850D3E75A}" type="datetimeFigureOut">
              <a:rPr lang="en-IN" smtClean="0"/>
              <a:t>14.8.26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23974-3977-7CAE-90B8-2A4AF656D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E7A3D-B486-23A6-A714-591A10F13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A4D0C-BAEA-435F-8ECD-5B22275E9F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68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56085-D5E4-3282-9ABD-8CB0F1FA7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4027D0-801B-84E1-F4AC-FEC08C03CD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C49B7-F87A-7207-8A27-5C45E265F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B0BD-010D-4C33-8D2F-ADC850D3E75A}" type="datetimeFigureOut">
              <a:rPr lang="en-IN" smtClean="0"/>
              <a:t>14.8.26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6A204-4381-45A4-3DAC-B46FFBA1F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B1DE4-8534-357A-233E-0699B3527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A4D0C-BAEA-435F-8ECD-5B22275E9F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482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5ADDEF-1611-13EE-04AF-EBFA710C6F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455566-BA9A-F973-30BD-F7B2735C9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F0298-8C83-4E43-65FB-312D2C4E7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2B0BD-010D-4C33-8D2F-ADC850D3E75A}" type="datetimeFigureOut">
              <a:rPr lang="en-IN" smtClean="0"/>
              <a:t>14.8.26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9DBE7-4CF7-3EC5-6397-42233D94C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B71DB-8914-26EA-2016-21FA0563C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A4D0C-BAEA-435F-8ECD-5B22275E9F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46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7F8558-0CD7-2831-24F5-BF57EA0CF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75135-51FE-0507-7FD6-D6601FB5C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32BE0-E177-16A6-621C-A964543011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2B0BD-010D-4C33-8D2F-ADC850D3E75A}" type="datetimeFigureOut">
              <a:rPr lang="en-IN" smtClean="0"/>
              <a:t>14.8.26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6A9F9-A914-DA7D-2C3A-1D742B48D2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657EF-B92B-27F8-AEF3-9C80B0810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A4D0C-BAEA-435F-8ECD-5B22275E9F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749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self.inc/info/electric-cars-vs-gas-cars-cost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2888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v_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" y="0"/>
            <a:ext cx="1218882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 flipH="1">
            <a:off x="-2383604" y="2011681"/>
            <a:ext cx="729465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EBFF"/>
                </a:solidFill>
              </a:defRPr>
            </a:pPr>
            <a:endParaRPr lang="en-IN" sz="2400" b="1" dirty="0">
              <a:latin typeface="+mj-lt"/>
            </a:endParaRPr>
          </a:p>
          <a:p>
            <a:pPr>
              <a:defRPr sz="1800">
                <a:solidFill>
                  <a:srgbClr val="DCEBFF"/>
                </a:solidFill>
              </a:defRPr>
            </a:pPr>
            <a:endParaRPr lang="en-IN" sz="2400" b="1" dirty="0">
              <a:latin typeface="+mj-lt"/>
            </a:endParaRPr>
          </a:p>
          <a:p>
            <a:pPr>
              <a:defRPr sz="1800">
                <a:solidFill>
                  <a:srgbClr val="DCEBFF"/>
                </a:solidFill>
              </a:defRPr>
            </a:pPr>
            <a:endParaRPr lang="en-IN" dirty="0"/>
          </a:p>
          <a:p>
            <a:pPr>
              <a:defRPr sz="1800">
                <a:solidFill>
                  <a:srgbClr val="DCEBFF"/>
                </a:solidFill>
              </a:defRPr>
            </a:pPr>
            <a:endParaRPr lang="en-IN" sz="3200" b="1" dirty="0"/>
          </a:p>
          <a:p>
            <a:pPr>
              <a:defRPr sz="1800">
                <a:solidFill>
                  <a:srgbClr val="DCEBFF"/>
                </a:solidFill>
              </a:defRPr>
            </a:pPr>
            <a:endParaRPr lang="en-IN" sz="3200" b="1" dirty="0"/>
          </a:p>
          <a:p>
            <a:pPr>
              <a:defRPr sz="1800">
                <a:solidFill>
                  <a:srgbClr val="DCEBFF"/>
                </a:solidFill>
              </a:defRPr>
            </a:pPr>
            <a:endParaRPr lang="en-IN" sz="3200" b="1" dirty="0"/>
          </a:p>
          <a:p>
            <a:pPr>
              <a:defRPr sz="1800">
                <a:solidFill>
                  <a:srgbClr val="DCEBFF"/>
                </a:solidFill>
              </a:defRPr>
            </a:pPr>
            <a:endParaRPr lang="en-IN" sz="3200" b="1" dirty="0"/>
          </a:p>
          <a:p>
            <a:pPr>
              <a:defRPr sz="1800">
                <a:solidFill>
                  <a:srgbClr val="DCEBFF"/>
                </a:solidFill>
              </a:defRPr>
            </a:pPr>
            <a:r>
              <a:rPr lang="en-IN" sz="3200" b="1" dirty="0"/>
              <a:t>                                                                       </a:t>
            </a:r>
          </a:p>
          <a:p>
            <a:pPr>
              <a:defRPr sz="1800">
                <a:solidFill>
                  <a:srgbClr val="DCEBFF"/>
                </a:solidFill>
              </a:defRPr>
            </a:pPr>
            <a:r>
              <a:rPr lang="en-IN" sz="3200" b="1" dirty="0"/>
              <a:t>                                                                 </a:t>
            </a:r>
            <a:endParaRPr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E37E7F-C11A-E55E-6AA2-02F859E971D0}"/>
              </a:ext>
            </a:extLst>
          </p:cNvPr>
          <p:cNvSpPr txBox="1"/>
          <p:nvPr/>
        </p:nvSpPr>
        <p:spPr>
          <a:xfrm>
            <a:off x="2647183" y="1725157"/>
            <a:ext cx="6195316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         </a:t>
            </a:r>
            <a:r>
              <a:rPr lang="en-IN" sz="4800" b="1" dirty="0">
                <a:solidFill>
                  <a:srgbClr val="00B050"/>
                </a:solidFill>
                <a:latin typeface="+mj-lt"/>
              </a:rPr>
              <a:t>EV – Pulse Analytics</a:t>
            </a:r>
            <a:endParaRPr lang="en-IN" sz="4400" b="1" dirty="0">
              <a:solidFill>
                <a:srgbClr val="00B050"/>
              </a:solidFill>
              <a:latin typeface="+mj-lt"/>
            </a:endParaRPr>
          </a:p>
          <a:p>
            <a:pPr>
              <a:buNone/>
            </a:pPr>
            <a:r>
              <a:rPr lang="en-IN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Smart EV Charging Station Performance &amp; Revenue Intelligence</a:t>
            </a:r>
          </a:p>
          <a:p>
            <a:pPr>
              <a:buNone/>
            </a:pPr>
            <a:endParaRPr lang="en-IN" sz="2800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BD3A57-C4C4-BD3F-C4F1-5BD376EA2543}"/>
              </a:ext>
            </a:extLst>
          </p:cNvPr>
          <p:cNvSpPr txBox="1"/>
          <p:nvPr/>
        </p:nvSpPr>
        <p:spPr>
          <a:xfrm>
            <a:off x="1075239" y="3591969"/>
            <a:ext cx="72843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                                    </a:t>
            </a:r>
            <a:r>
              <a:rPr lang="en-IN" sz="2800" b="1" dirty="0">
                <a:solidFill>
                  <a:schemeClr val="bg1"/>
                </a:solidFill>
                <a:latin typeface="Bahnschrift SemiBold" panose="020B0502040204020203" pitchFamily="34" charset="0"/>
              </a:rPr>
              <a:t>Power BI Project Presentation</a:t>
            </a:r>
            <a:endParaRPr lang="en-IN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8C9602-2FDB-D5D9-7D2E-7DDD990AA2AE}"/>
              </a:ext>
            </a:extLst>
          </p:cNvPr>
          <p:cNvSpPr txBox="1"/>
          <p:nvPr/>
        </p:nvSpPr>
        <p:spPr>
          <a:xfrm>
            <a:off x="3982825" y="4677411"/>
            <a:ext cx="72843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/>
              <a:t>Presented by : Upagna N</a:t>
            </a:r>
          </a:p>
          <a:p>
            <a:pPr algn="ctr"/>
            <a:r>
              <a:rPr lang="en-IN" sz="2400" b="1" dirty="0"/>
              <a:t>               Institution : upGrad</a:t>
            </a:r>
          </a:p>
          <a:p>
            <a:pPr algn="ctr"/>
            <a:r>
              <a:rPr lang="en-IN" sz="2400" b="1" dirty="0"/>
              <a:t>                 Batch: PBI Batch-5</a:t>
            </a:r>
            <a:br>
              <a:rPr lang="en-IN" sz="2400" b="1" dirty="0"/>
            </a:br>
            <a:r>
              <a:rPr lang="en-IN" sz="2400" b="1" dirty="0"/>
              <a:t>           Date : 14-August-2026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3E7DB9-0946-C756-2962-8363AA4B51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637068" y="202958"/>
            <a:ext cx="2280863" cy="152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523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v_b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0229" y="365761"/>
            <a:ext cx="37714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en-IN" sz="3200" dirty="0"/>
              <a:t>   </a:t>
            </a:r>
            <a:r>
              <a:rPr sz="3200" dirty="0">
                <a:solidFill>
                  <a:srgbClr val="92D050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6398" y="1073646"/>
            <a:ext cx="10885096" cy="6093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Electric Vehicle (EV) charging station operators generate large volumes of data from </a:t>
            </a:r>
          </a:p>
          <a:p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charging sessions, station locations, pricing plans, weather conditions, and </a:t>
            </a:r>
          </a:p>
          <a:p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calendar-based demand patterns. </a:t>
            </a:r>
          </a:p>
          <a:p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However, this data is often stored across multiple sources and is not effectively </a:t>
            </a:r>
          </a:p>
          <a:p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utilized for decision-making.</a:t>
            </a:r>
          </a:p>
          <a:p>
            <a:endParaRPr lang="en-US" sz="2400" dirty="0"/>
          </a:p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The key business challenges are:</a:t>
            </a:r>
          </a:p>
          <a:p>
            <a:r>
              <a:rPr lang="en-IN" sz="2800" dirty="0"/>
              <a:t>⚡ 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Identifying peak charging hours and high-demand locations.</a:t>
            </a:r>
          </a:p>
          <a:p>
            <a:r>
              <a:rPr lang="en-IN" sz="2800" dirty="0"/>
              <a:t>🔋 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Monitoring station utilization and charger performance.</a:t>
            </a:r>
          </a:p>
          <a:p>
            <a:r>
              <a:rPr lang="en-IN" sz="2800" dirty="0"/>
              <a:t>⏱️ 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Reducing customer waiting time and congestion.</a:t>
            </a:r>
          </a:p>
          <a:p>
            <a:r>
              <a:rPr lang="en-IN" sz="2800" dirty="0"/>
              <a:t>💰 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Understanding the impact of pricing and weather on revenue and </a:t>
            </a:r>
          </a:p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       energy consumption.</a:t>
            </a:r>
          </a:p>
          <a:p>
            <a:r>
              <a:rPr lang="en-IN" sz="2800" dirty="0"/>
              <a:t>📊 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Providing management with a single, interactive view </a:t>
            </a:r>
          </a:p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       of operational performance.</a:t>
            </a:r>
          </a:p>
          <a:p>
            <a:pPr>
              <a:defRPr sz="1800">
                <a:solidFill>
                  <a:srgbClr val="F0F8FF"/>
                </a:solidFill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2731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B130B9-830E-B652-2FB7-E22D7A731589}"/>
              </a:ext>
            </a:extLst>
          </p:cNvPr>
          <p:cNvSpPr txBox="1"/>
          <p:nvPr/>
        </p:nvSpPr>
        <p:spPr>
          <a:xfrm>
            <a:off x="1249898" y="575623"/>
            <a:ext cx="1061834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    Business Impact :</a:t>
            </a:r>
          </a:p>
          <a:p>
            <a:endParaRPr lang="en-IN" sz="3200" b="1" dirty="0">
              <a:solidFill>
                <a:schemeClr val="bg1"/>
              </a:solidFill>
            </a:endParaRPr>
          </a:p>
          <a:p>
            <a:r>
              <a:rPr lang="en-IN" sz="3600" dirty="0"/>
              <a:t>📈 </a:t>
            </a:r>
            <a:r>
              <a:rPr lang="en-US" sz="3600" dirty="0">
                <a:solidFill>
                  <a:schemeClr val="bg1"/>
                </a:solidFill>
              </a:rPr>
              <a:t>Improve revenue visibility and pricing decisions</a:t>
            </a:r>
          </a:p>
          <a:p>
            <a:r>
              <a:rPr lang="en-IN" sz="3600" dirty="0"/>
              <a:t>⏳ </a:t>
            </a:r>
            <a:r>
              <a:rPr lang="en-US" sz="3600" dirty="0">
                <a:solidFill>
                  <a:schemeClr val="bg1"/>
                </a:solidFill>
              </a:rPr>
              <a:t>Reduce waiting time and charging congestion   </a:t>
            </a:r>
          </a:p>
          <a:p>
            <a:r>
              <a:rPr lang="en-IN" sz="3600" dirty="0"/>
              <a:t>🔌 </a:t>
            </a:r>
            <a:r>
              <a:rPr lang="en-US" sz="3600" dirty="0">
                <a:solidFill>
                  <a:schemeClr val="bg1"/>
                </a:solidFill>
              </a:rPr>
              <a:t>Optimize charger and station utilization</a:t>
            </a:r>
          </a:p>
          <a:p>
            <a:r>
              <a:rPr lang="en-IN" sz="3600" dirty="0"/>
              <a:t>📍 </a:t>
            </a:r>
            <a:r>
              <a:rPr lang="en-US" sz="3600" dirty="0">
                <a:solidFill>
                  <a:schemeClr val="bg1"/>
                </a:solidFill>
              </a:rPr>
              <a:t>Identify high-performing and underperforming   locations</a:t>
            </a:r>
          </a:p>
          <a:p>
            <a:r>
              <a:rPr lang="en-IN" sz="3600" dirty="0"/>
              <a:t>📊 </a:t>
            </a:r>
            <a:r>
              <a:rPr lang="en-US" sz="3600" dirty="0">
                <a:solidFill>
                  <a:schemeClr val="bg1"/>
                </a:solidFill>
              </a:rPr>
              <a:t>Enable faster data-driven management decisions</a:t>
            </a:r>
          </a:p>
          <a:p>
            <a:endParaRPr lang="en-IN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2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v_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0229" y="365760"/>
            <a:ext cx="10827003" cy="51706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dirty="0">
                <a:solidFill>
                  <a:srgbClr val="92D050"/>
                </a:solidFill>
              </a:rPr>
              <a:t>Innovation</a:t>
            </a:r>
            <a:br>
              <a:rPr lang="en-IN" dirty="0"/>
            </a:br>
            <a:br>
              <a:rPr lang="en-IN" dirty="0"/>
            </a:br>
            <a:r>
              <a:rPr lang="en-US" dirty="0"/>
              <a:t>⚡ </a:t>
            </a:r>
            <a:r>
              <a:rPr lang="en-US" sz="2400" dirty="0">
                <a:solidFill>
                  <a:schemeClr val="bg1"/>
                </a:solidFill>
              </a:rPr>
              <a:t>Unified Analytics Platform – Combined charging sessions, station details, pricing, 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weather, and calendar data into a single Power BI model.</a:t>
            </a:r>
          </a:p>
          <a:p>
            <a:r>
              <a:rPr lang="en-US" sz="2400" dirty="0">
                <a:solidFill>
                  <a:schemeClr val="bg1"/>
                </a:solidFill>
              </a:rPr>
              <a:t>📊 Interactive Decision-Making – Designed dynamic dashboards with slicers, filters,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and drill-down analysis for management-friendly exploration.</a:t>
            </a:r>
          </a:p>
          <a:p>
            <a:r>
              <a:rPr lang="en-US" sz="2400" dirty="0">
                <a:solidFill>
                  <a:schemeClr val="bg1"/>
                </a:solidFill>
              </a:rPr>
              <a:t>📍Location Intelligence – Enabled area-wise and station-wise performance 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comparison to identify revenue hotspots and underutilized stations.</a:t>
            </a:r>
          </a:p>
          <a:p>
            <a:r>
              <a:rPr lang="en-US" sz="2400" dirty="0">
                <a:solidFill>
                  <a:schemeClr val="bg1"/>
                </a:solidFill>
              </a:rPr>
              <a:t>⏱️ Operational Insight – Analyzed waiting time, session completion, and charger 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utilization to improve customer experience and efficiency.</a:t>
            </a:r>
          </a:p>
          <a:p>
            <a:r>
              <a:rPr lang="en-US" sz="2400" dirty="0">
                <a:solidFill>
                  <a:schemeClr val="bg1"/>
                </a:solidFill>
              </a:rPr>
              <a:t>💡 Business-Focused Visualization – Converted raw operational data into actionable 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KPIs and visual insights for faster strategic decisions.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endParaRPr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824549" y="109728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8FF"/>
                </a:solidFill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2780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v_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0229" y="274321"/>
            <a:ext cx="381181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3200" dirty="0">
                <a:solidFill>
                  <a:srgbClr val="00B050"/>
                </a:solidFill>
              </a:rPr>
              <a:t>Architecture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8788" y="1188720"/>
            <a:ext cx="137160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600" dirty="0"/>
              <a:t>Charging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600" dirty="0"/>
              <a:t>Sessions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4708" y="1188720"/>
            <a:ext cx="137160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600" dirty="0"/>
              <a:t>Stations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50627" y="1188720"/>
            <a:ext cx="137160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600" dirty="0"/>
              <a:t>Pricing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6548" y="1188720"/>
            <a:ext cx="137160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600" dirty="0"/>
              <a:t>Weather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2468" y="1188720"/>
            <a:ext cx="137160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sz="1600" dirty="0"/>
              <a:t>Calendar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7668" y="2743200"/>
            <a:ext cx="2743200" cy="822960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 dirty="0"/>
              <a:t>Power BI Data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7668" y="4389120"/>
            <a:ext cx="2743200" cy="822960"/>
          </a:xfrm>
          <a:prstGeom prst="roundRect">
            <a:avLst/>
          </a:prstGeom>
          <a:solidFill>
            <a:srgbClr val="0596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 dirty="0"/>
              <a:t>Interactive Dashboard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4588" y="1920240"/>
            <a:ext cx="3154680" cy="82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90508" y="1920240"/>
            <a:ext cx="1508760" cy="82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299268" y="1920240"/>
            <a:ext cx="137160" cy="82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299268" y="1920240"/>
            <a:ext cx="1783080" cy="82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4299269" y="1920240"/>
            <a:ext cx="3428999" cy="82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299268" y="3566160"/>
            <a:ext cx="0" cy="82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3013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v_b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0229" y="365761"/>
            <a:ext cx="475040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3200" dirty="0">
                <a:solidFill>
                  <a:srgbClr val="00B050"/>
                </a:solidFill>
              </a:rPr>
              <a:t>Power BI Dashboard – KPIs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1668" y="1280160"/>
            <a:ext cx="173736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2400" dirty="0">
                <a:solidFill>
                  <a:srgbClr val="FF0000"/>
                </a:solidFill>
              </a:rPr>
              <a:t>500</a:t>
            </a:r>
          </a:p>
          <a:p>
            <a:pPr algn="ctr">
              <a:defRPr sz="1100">
                <a:solidFill>
                  <a:srgbClr val="BFDBFE"/>
                </a:solidFill>
              </a:defRPr>
            </a:pPr>
            <a:r>
              <a:rPr sz="1600" b="1" dirty="0"/>
              <a:t>Total Sessions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9108" y="1280160"/>
            <a:ext cx="173736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2400" dirty="0">
                <a:solidFill>
                  <a:srgbClr val="FF0000"/>
                </a:solidFill>
              </a:rPr>
              <a:t>₹528,030</a:t>
            </a:r>
          </a:p>
          <a:p>
            <a:pPr algn="ctr">
              <a:defRPr sz="1100">
                <a:solidFill>
                  <a:srgbClr val="BFDBFE"/>
                </a:solidFill>
              </a:defRPr>
            </a:pPr>
            <a:r>
              <a:rPr sz="1400" b="1" dirty="0"/>
              <a:t>Total Revenue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6548" y="1280160"/>
            <a:ext cx="173736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2000" dirty="0">
                <a:solidFill>
                  <a:srgbClr val="FF0000"/>
                </a:solidFill>
              </a:rPr>
              <a:t>28,305 kWh</a:t>
            </a:r>
          </a:p>
          <a:p>
            <a:pPr algn="ctr">
              <a:defRPr sz="1100">
                <a:solidFill>
                  <a:srgbClr val="BFDBFE"/>
                </a:solidFill>
              </a:defRPr>
            </a:pPr>
            <a:r>
              <a:rPr sz="1400" b="1" dirty="0"/>
              <a:t>Energy Delivered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3988" y="1280160"/>
            <a:ext cx="173736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2400" dirty="0">
                <a:solidFill>
                  <a:srgbClr val="FF0000"/>
                </a:solidFill>
              </a:rPr>
              <a:t>10.6 min</a:t>
            </a:r>
          </a:p>
          <a:p>
            <a:pPr algn="ctr">
              <a:defRPr sz="1100">
                <a:solidFill>
                  <a:srgbClr val="BFDBFE"/>
                </a:solidFill>
              </a:defRPr>
            </a:pPr>
            <a:r>
              <a:rPr sz="1400" b="1" dirty="0"/>
              <a:t>Avg Wait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51428" y="1280160"/>
            <a:ext cx="173736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2400" dirty="0">
                <a:solidFill>
                  <a:srgbClr val="FF0000"/>
                </a:solidFill>
              </a:rPr>
              <a:t>85.2%</a:t>
            </a:r>
          </a:p>
          <a:p>
            <a:pPr algn="ctr">
              <a:defRPr sz="1100">
                <a:solidFill>
                  <a:srgbClr val="BFDBFE"/>
                </a:solidFill>
              </a:defRPr>
            </a:pPr>
            <a:r>
              <a:rPr sz="1400" b="1" dirty="0"/>
              <a:t>Completion Rate</a:t>
            </a:r>
          </a:p>
        </p:txBody>
      </p:sp>
      <p:pic>
        <p:nvPicPr>
          <p:cNvPr id="9" name="Picture 8" descr="dashboard_h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4" y="2743200"/>
            <a:ext cx="5492564" cy="3749040"/>
          </a:xfrm>
          <a:prstGeom prst="rect">
            <a:avLst/>
          </a:prstGeom>
        </p:spPr>
      </p:pic>
      <p:pic>
        <p:nvPicPr>
          <p:cNvPr id="10" name="Picture 9" descr="dashboard_ar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2743200"/>
            <a:ext cx="5702749" cy="374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044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64903C-4C86-A22C-DE70-34B92C922AD2}"/>
              </a:ext>
            </a:extLst>
          </p:cNvPr>
          <p:cNvSpPr txBox="1"/>
          <p:nvPr/>
        </p:nvSpPr>
        <p:spPr>
          <a:xfrm>
            <a:off x="839912" y="596169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00B050"/>
                </a:solidFill>
              </a:rPr>
              <a:t>Key Insights(green)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21B6E8-6044-5749-149E-A55A10810E0D}"/>
              </a:ext>
            </a:extLst>
          </p:cNvPr>
          <p:cNvSpPr txBox="1"/>
          <p:nvPr/>
        </p:nvSpPr>
        <p:spPr>
          <a:xfrm>
            <a:off x="726895" y="1491232"/>
            <a:ext cx="962945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📌 Peak revenue: 8 PM </a:t>
            </a:r>
          </a:p>
          <a:p>
            <a:r>
              <a:rPr lang="en-IN" sz="2800" dirty="0">
                <a:solidFill>
                  <a:schemeClr val="bg1"/>
                </a:solidFill>
              </a:rPr>
              <a:t>📍 Highest revenue area: Hitech City </a:t>
            </a:r>
          </a:p>
          <a:p>
            <a:r>
              <a:rPr lang="en-IN" sz="2800" dirty="0">
                <a:solidFill>
                  <a:schemeClr val="bg1"/>
                </a:solidFill>
              </a:rPr>
              <a:t>🔌 Most profitable charger : DC Fast</a:t>
            </a:r>
          </a:p>
          <a:p>
            <a:r>
              <a:rPr lang="en-IN" sz="2800" dirty="0">
                <a:solidFill>
                  <a:schemeClr val="bg1"/>
                </a:solidFill>
              </a:rPr>
              <a:t> 📈 Strong and consistent charging demand </a:t>
            </a:r>
          </a:p>
          <a:p>
            <a:r>
              <a:rPr lang="en-IN" sz="2800" dirty="0">
                <a:solidFill>
                  <a:schemeClr val="bg1"/>
                </a:solidFill>
              </a:rPr>
              <a:t>⏱️ Congestion increases during peak hours </a:t>
            </a:r>
          </a:p>
          <a:p>
            <a:r>
              <a:rPr lang="en-IN" sz="2800" dirty="0">
                <a:solidFill>
                  <a:schemeClr val="bg1"/>
                </a:solidFill>
              </a:rPr>
              <a:t>✅ High session completion rate </a:t>
            </a:r>
          </a:p>
          <a:p>
            <a:r>
              <a:rPr lang="en-IN" sz="2800" dirty="0">
                <a:solidFill>
                  <a:schemeClr val="bg1"/>
                </a:solidFill>
              </a:rPr>
              <a:t>🔋 Higher utilization = higher revenue</a:t>
            </a:r>
          </a:p>
        </p:txBody>
      </p:sp>
    </p:spTree>
    <p:extLst>
      <p:ext uri="{BB962C8B-B14F-4D97-AF65-F5344CB8AC3E}">
        <p14:creationId xmlns:p14="http://schemas.microsoft.com/office/powerpoint/2010/main" val="1862899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00B3C6-1C09-B082-2B3C-A32D7B620FA8}"/>
              </a:ext>
            </a:extLst>
          </p:cNvPr>
          <p:cNvSpPr txBox="1"/>
          <p:nvPr/>
        </p:nvSpPr>
        <p:spPr>
          <a:xfrm>
            <a:off x="737170" y="606444"/>
            <a:ext cx="11283594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00B050"/>
                </a:solidFill>
              </a:rPr>
              <a:t>Recommendations:</a:t>
            </a:r>
            <a:br>
              <a:rPr lang="en-IN" sz="2800" b="1" dirty="0">
                <a:solidFill>
                  <a:srgbClr val="00B050"/>
                </a:solidFill>
              </a:rPr>
            </a:br>
            <a:br>
              <a:rPr lang="en-IN" sz="2800" b="1" dirty="0">
                <a:solidFill>
                  <a:srgbClr val="00B050"/>
                </a:solidFill>
              </a:rPr>
            </a:b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🔌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Expand DC Fast Charging 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  Add DC Fast chargers in Hitech City, Gachibowli, Madhapur to reduce congestion</a:t>
            </a:r>
          </a:p>
          <a:p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💰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Dynamic Pricing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  Offer off-peak discounts to balance demand and improve utilization</a:t>
            </a:r>
          </a:p>
          <a:p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⏱️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Reduce Wait Times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  Use real-time monitoring and smart queue management during peak hours</a:t>
            </a:r>
          </a:p>
          <a:p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📍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Improve Operations 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  Optimize underperforming stations + Implement predictive maintenance</a:t>
            </a:r>
          </a:p>
          <a:p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📊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Enable Real-Time Monitoring 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  Use Power BI dashboard for continuous tracking of revenue and utilization</a:t>
            </a:r>
          </a:p>
          <a:p>
            <a:endParaRPr lang="en-IN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80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ED0A38-0F88-FCF5-B110-1EA1BB0A8461}"/>
              </a:ext>
            </a:extLst>
          </p:cNvPr>
          <p:cNvSpPr txBox="1"/>
          <p:nvPr/>
        </p:nvSpPr>
        <p:spPr>
          <a:xfrm>
            <a:off x="675525" y="647540"/>
            <a:ext cx="1139660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Conclusion:</a:t>
            </a:r>
            <a:br>
              <a:rPr lang="en-IN" sz="2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br>
              <a:rPr lang="en-IN" sz="2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IN" sz="2800" dirty="0">
                <a:solidFill>
                  <a:schemeClr val="bg1">
                    <a:lumMod val="95000"/>
                  </a:schemeClr>
                </a:solidFill>
              </a:rPr>
              <a:t>📊 Converted raw EV data into actionable insights </a:t>
            </a:r>
          </a:p>
          <a:p>
            <a:r>
              <a:rPr lang="en-IN" sz="2800" dirty="0">
                <a:solidFill>
                  <a:schemeClr val="bg1">
                    <a:lumMod val="95000"/>
                  </a:schemeClr>
                </a:solidFill>
              </a:rPr>
              <a:t>⚡ Unified operational and revenue analysis in Power BI</a:t>
            </a:r>
          </a:p>
          <a:p>
            <a:r>
              <a:rPr lang="en-IN" sz="2800" dirty="0">
                <a:solidFill>
                  <a:schemeClr val="bg1">
                    <a:lumMod val="95000"/>
                  </a:schemeClr>
                </a:solidFill>
              </a:rPr>
              <a:t> 📈 Identified peak demand and high-performing locations </a:t>
            </a:r>
          </a:p>
          <a:p>
            <a:r>
              <a:rPr lang="en-IN" sz="2800" dirty="0">
                <a:solidFill>
                  <a:schemeClr val="bg1">
                    <a:lumMod val="95000"/>
                  </a:schemeClr>
                </a:solidFill>
              </a:rPr>
              <a:t>🔌 Highlighted opportunities for infrastructure optimization </a:t>
            </a:r>
          </a:p>
          <a:p>
            <a:r>
              <a:rPr lang="en-IN" sz="2800" dirty="0">
                <a:solidFill>
                  <a:schemeClr val="bg1">
                    <a:lumMod val="95000"/>
                  </a:schemeClr>
                </a:solidFill>
              </a:rPr>
              <a:t>⏱️ Enabled real-time KPI monitoring and faster decisions </a:t>
            </a:r>
          </a:p>
          <a:p>
            <a:r>
              <a:rPr lang="en-IN" sz="2800" dirty="0">
                <a:solidFill>
                  <a:schemeClr val="bg1">
                    <a:lumMod val="95000"/>
                  </a:schemeClr>
                </a:solidFill>
              </a:rPr>
              <a:t>🚀 Supports scalable and sustainable EV charging growth</a:t>
            </a:r>
          </a:p>
          <a:p>
            <a:endParaRPr lang="en-IN" sz="28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IN" sz="2800" b="1" dirty="0">
                <a:solidFill>
                  <a:srgbClr val="002060"/>
                </a:solidFill>
              </a:rPr>
              <a:t>💡 EV Pulse Analytics demonstrates that data-driven monitoring and visualization can enhance operational efficiency, improve customer satisfaction, and drive strategic growth in modern EV charging networks.</a:t>
            </a:r>
            <a:endParaRPr lang="en-IN" sz="28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7349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545</Words>
  <Application>Microsoft Office PowerPoint</Application>
  <PresentationFormat>Widescreen</PresentationFormat>
  <Paragraphs>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Selfish Girl</dc:creator>
  <cp:lastModifiedBy>Selfish Girl</cp:lastModifiedBy>
  <cp:revision>3</cp:revision>
  <dcterms:created xsi:type="dcterms:W3CDTF">2026-08-14T17:03:28Z</dcterms:created>
  <dcterms:modified xsi:type="dcterms:W3CDTF">2026-08-14T18:15:12Z</dcterms:modified>
</cp:coreProperties>
</file>