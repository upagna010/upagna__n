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8130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Agriculture Profitability Intelligence Dashboard and explain that it combines agronomy, cost and profitability data in Power BI to support better farm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business problem: multiple agricultural factors influence profit, so a centralized dashboard is needed to compare profitability and its drivers.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retrieved dataset contains 500 rows and 13 columns. It covers 2021 to 2024 and includes Kharif, Rabi and Zaid seasons. Profit per acre is the main target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four layers: Excel source, Power Query cleaning and DAX measures, Power BI Desktop visual analytics, and final deployment through Power BI Service and LinkedIn.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nine-step workflow from collection to publication. Emphasize that data quality and DAX measures are established before the visual story is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Replace the placeholder with the final dashboard screenshot. Highlight the map, crop-profit bar, year trend, season donut, scatter plot and KPI cards, along with the five filters.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the data-driven findings. The top crop by average profit per acre is N/A; the top state is N/A; the best season is N/A; and the irrigation type with the highest average profit is N/A. Correlations are rainfall-yield 0.00, fertilizer-profit 0.00, and market-price-profit 0.00.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value of the dashboard for farmers, Agritech organizations and policy teams. The model can scale to larger datasets and integrate live market and weather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Recommendations should be evidence-led. Avoid claiming that one irrigation type or crop is universally best; validate decisions by crop, soil, region and season.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by summarizing that the dashboard turns agricultural profitability data into an interactive decision-support product. Future scope includes weather APIs, predictive modeling, mobile delivery and cost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0D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45936"/>
            <a:ext cx="12191695" cy="73152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54864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19088"/>
            <a:ext cx="12191695" cy="36576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234440"/>
            <a:ext cx="7772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FAF6"/>
                </a:solidFill>
                <a:latin typeface="Aptos"/>
              </a:rPr>
              <a:t>Agriculture Profitability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10512"/>
            <a:ext cx="7772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>
                <a:solidFill>
                  <a:srgbClr val="30D280"/>
                </a:solidFill>
                <a:latin typeface="Aptos"/>
              </a:rPr>
              <a:t>Intelligence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383280"/>
            <a:ext cx="5257800" cy="141732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3383280"/>
            <a:ext cx="50292" cy="1417320"/>
          </a:xfrm>
          <a:prstGeom prst="rect">
            <a:avLst/>
          </a:prstGeom>
          <a:solidFill>
            <a:srgbClr val="30D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46120" y="3749039"/>
            <a:ext cx="2331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48CDE0"/>
                </a:solidFill>
                <a:latin typeface="Aptos"/>
              </a:rPr>
              <a:t>Interactive • Dark Agriculture-Tech Theme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234440"/>
            <a:ext cx="3886200" cy="356616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52360" y="1234440"/>
            <a:ext cx="50292" cy="3566160"/>
          </a:xfrm>
          <a:prstGeom prst="rect">
            <a:avLst/>
          </a:prstGeom>
          <a:solidFill>
            <a:srgbClr val="F4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54112" y="15727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5D3C3"/>
                </a:solidFill>
                <a:latin typeface="Aptos"/>
              </a:rPr>
              <a:t>PROJECT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2" y="2011680"/>
            <a:ext cx="29260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dirty="0">
                <a:solidFill>
                  <a:srgbClr val="F5FAF6"/>
                </a:solidFill>
                <a:latin typeface="Aptos"/>
              </a:rPr>
              <a:t>Power BI</a:t>
            </a:r>
            <a:br>
              <a:rPr sz="2000" dirty="0"/>
            </a:br>
            <a:r>
              <a:rPr sz="2000" dirty="0"/>
              <a:t>Power Query</a:t>
            </a:r>
            <a:br>
              <a:rPr sz="2000" dirty="0"/>
            </a:br>
            <a:r>
              <a:rPr sz="2000" dirty="0"/>
              <a:t>DAX</a:t>
            </a:r>
            <a:br>
              <a:rPr sz="2000" dirty="0"/>
            </a:br>
            <a:r>
              <a:rPr sz="2000" dirty="0"/>
              <a:t>Excel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6072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B5D3C3"/>
                </a:solidFill>
                <a:latin typeface="Aptos"/>
              </a:rPr>
              <a:t>Presented by: </a:t>
            </a:r>
            <a:r>
              <a:rPr lang="en-IN" sz="1600" b="1" dirty="0">
                <a:solidFill>
                  <a:srgbClr val="B5D3C3"/>
                </a:solidFill>
                <a:latin typeface="Aptos"/>
              </a:rPr>
              <a:t>UPAGNA N</a:t>
            </a:r>
            <a:endParaRPr sz="1600" b="1" dirty="0">
              <a:solidFill>
                <a:srgbClr val="B5D3C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4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45936"/>
            <a:ext cx="12191695" cy="73152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54864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19088"/>
            <a:ext cx="12191695" cy="36576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1089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AF6"/>
                </a:solidFill>
                <a:latin typeface="Aptos"/>
              </a:rPr>
              <a:t>THE BUSINESS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6629400" cy="452628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0292" cy="4526280"/>
          </a:xfrm>
          <a:prstGeom prst="rect">
            <a:avLst/>
          </a:prstGeom>
          <a:solidFill>
            <a:srgbClr val="30D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691640"/>
            <a:ext cx="5897880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AF6"/>
                </a:solidFill>
                <a:latin typeface="Aptos"/>
              </a:defRPr>
            </a:pPr>
            <a:r>
              <a:rPr sz="1600" dirty="0">
                <a:latin typeface="+mj-lt"/>
              </a:rPr>
              <a:t>• Farm profitability changes with rainfall, fertilizer usage, production cost and market price.</a:t>
            </a:r>
          </a:p>
          <a:p>
            <a:pPr>
              <a:spcAft>
                <a:spcPts val="800"/>
              </a:spcAft>
              <a:defRPr sz="1400">
                <a:solidFill>
                  <a:srgbClr val="F5FAF6"/>
                </a:solidFill>
                <a:latin typeface="Aptos"/>
              </a:defRPr>
            </a:pPr>
            <a:r>
              <a:rPr sz="1600" dirty="0">
                <a:latin typeface="+mj-lt"/>
              </a:rPr>
              <a:t>• Comparing crop, state and season performance manually is slow and inconsistent.</a:t>
            </a:r>
          </a:p>
          <a:p>
            <a:pPr>
              <a:spcAft>
                <a:spcPts val="800"/>
              </a:spcAft>
              <a:defRPr sz="1400">
                <a:solidFill>
                  <a:srgbClr val="F5FAF6"/>
                </a:solidFill>
                <a:latin typeface="Aptos"/>
              </a:defRPr>
            </a:pPr>
            <a:r>
              <a:rPr sz="1600" dirty="0">
                <a:latin typeface="+mj-lt"/>
              </a:rPr>
              <a:t>• Decision-makers need one view of profitability drivers and performance.</a:t>
            </a:r>
          </a:p>
          <a:p>
            <a:pPr>
              <a:spcAft>
                <a:spcPts val="800"/>
              </a:spcAft>
              <a:defRPr sz="1400">
                <a:solidFill>
                  <a:srgbClr val="F5FAF6"/>
                </a:solidFill>
                <a:latin typeface="Aptos"/>
              </a:defRPr>
            </a:pPr>
            <a:r>
              <a:rPr sz="1600" dirty="0">
                <a:latin typeface="+mj-lt"/>
              </a:rPr>
              <a:t>• The objective is to identify the most profitable Crop, State, Season and Irrigation Type.</a:t>
            </a:r>
          </a:p>
          <a:p>
            <a:pPr>
              <a:spcAft>
                <a:spcPts val="800"/>
              </a:spcAft>
              <a:defRPr sz="1400">
                <a:solidFill>
                  <a:srgbClr val="F5FAF6"/>
                </a:solidFill>
                <a:latin typeface="Aptos"/>
              </a:defRPr>
            </a:pPr>
            <a:r>
              <a:rPr sz="1600" dirty="0">
                <a:latin typeface="+mj-lt"/>
              </a:rPr>
              <a:t>• Power BI converts agricultural records into an interactive decision-support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325880"/>
            <a:ext cx="3886200" cy="452628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89520" y="1325880"/>
            <a:ext cx="50292" cy="4526280"/>
          </a:xfrm>
          <a:prstGeom prst="rect">
            <a:avLst/>
          </a:prstGeom>
          <a:solidFill>
            <a:srgbClr val="F4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27848" y="17373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5D3C3"/>
                </a:solidFill>
                <a:latin typeface="Aptos"/>
              </a:rPr>
              <a:t>CORE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2148840"/>
            <a:ext cx="288036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5FAF6"/>
                </a:solidFill>
                <a:latin typeface="Aptos"/>
              </a:rPr>
              <a:t>Where should</a:t>
            </a:r>
            <a:br>
              <a:rPr sz="2000" dirty="0"/>
            </a:br>
            <a:r>
              <a:rPr sz="2000" dirty="0"/>
              <a:t>farmers focus</a:t>
            </a:r>
            <a:br>
              <a:rPr sz="2000" dirty="0"/>
            </a:br>
            <a:r>
              <a:rPr sz="2000" dirty="0"/>
              <a:t>to maximize</a:t>
            </a:r>
            <a:br>
              <a:rPr sz="2000" dirty="0"/>
            </a:br>
            <a:r>
              <a:rPr sz="2000" dirty="0"/>
              <a:t>profit?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0D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45936"/>
            <a:ext cx="12191695" cy="73152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54864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19088"/>
            <a:ext cx="12191695" cy="36576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1089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AF6"/>
                </a:solidFill>
                <a:latin typeface="Aptos"/>
              </a:rPr>
              <a:t>DATA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61872"/>
            <a:ext cx="2331720" cy="118872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61872"/>
            <a:ext cx="50292" cy="1188720"/>
          </a:xfrm>
          <a:prstGeom prst="rect">
            <a:avLst/>
          </a:prstGeom>
          <a:solidFill>
            <a:srgbClr val="30D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389888"/>
            <a:ext cx="20116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B5D3C3"/>
                </a:solidFill>
                <a:latin typeface="Aptos"/>
              </a:rPr>
              <a:t>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691639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30D280"/>
                </a:solidFill>
                <a:latin typeface="Aptos"/>
              </a:rPr>
              <a:t>500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261872"/>
            <a:ext cx="2331720" cy="118872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0" y="1261872"/>
            <a:ext cx="50292" cy="1188720"/>
          </a:xfrm>
          <a:prstGeom prst="rect">
            <a:avLst/>
          </a:prstGeom>
          <a:solidFill>
            <a:srgbClr val="48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64992" y="1389888"/>
            <a:ext cx="20116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B5D3C3"/>
                </a:solidFill>
                <a:latin typeface="Aptos"/>
              </a:rPr>
              <a:t>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1691639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48CDE0"/>
                </a:solidFill>
                <a:latin typeface="Aptos"/>
              </a:rPr>
              <a:t>13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1261872"/>
            <a:ext cx="2331720" cy="118872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0720" y="1261872"/>
            <a:ext cx="50292" cy="1188720"/>
          </a:xfrm>
          <a:prstGeom prst="rect">
            <a:avLst/>
          </a:prstGeom>
          <a:solidFill>
            <a:srgbClr val="F4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5886" y="1389888"/>
            <a:ext cx="20116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B5D3C3"/>
                </a:solidFill>
                <a:latin typeface="Aptos"/>
              </a:rPr>
              <a:t>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5312" y="1691639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4BE4A"/>
                </a:solidFill>
                <a:latin typeface="Aptos"/>
              </a:rPr>
              <a:t>2021–2024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261872"/>
            <a:ext cx="2331720" cy="118872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21040" y="1261872"/>
            <a:ext cx="50292" cy="1188720"/>
          </a:xfrm>
          <a:prstGeom prst="rect">
            <a:avLst/>
          </a:prstGeom>
          <a:solidFill>
            <a:srgbClr val="9DE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85632" y="1389888"/>
            <a:ext cx="20116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B5D3C3"/>
                </a:solidFill>
                <a:latin typeface="Aptos"/>
              </a:rPr>
              <a:t>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91639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9DE04C"/>
                </a:solidFill>
                <a:latin typeface="Aptos"/>
              </a:rPr>
              <a:t>Profit / Acre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743200"/>
            <a:ext cx="10744200" cy="283464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2743200"/>
            <a:ext cx="50292" cy="2834640"/>
          </a:xfrm>
          <a:prstGeom prst="rect">
            <a:avLst/>
          </a:prstGeom>
          <a:solidFill>
            <a:srgbClr val="48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063240"/>
            <a:ext cx="19202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dirty="0">
                <a:solidFill>
                  <a:srgbClr val="B5D3C3"/>
                </a:solidFill>
                <a:latin typeface="Aptos"/>
              </a:rPr>
              <a:t>DATA DOMAINS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" y="3547872"/>
            <a:ext cx="4663440" cy="658368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96112" y="3547872"/>
            <a:ext cx="50292" cy="658368"/>
          </a:xfrm>
          <a:prstGeom prst="rect">
            <a:avLst/>
          </a:prstGeom>
          <a:solidFill>
            <a:srgbClr val="30D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8992" y="3657600"/>
            <a:ext cx="118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30D280"/>
                </a:solidFill>
                <a:latin typeface="Aptos"/>
              </a:rPr>
              <a:t>LOCATION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13432" y="3639312"/>
            <a:ext cx="2971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5FAF6"/>
                </a:solidFill>
                <a:latin typeface="Aptos"/>
              </a:rPr>
              <a:t>State, District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62472" y="3547872"/>
            <a:ext cx="4663440" cy="658368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62472" y="3547872"/>
            <a:ext cx="50292" cy="658368"/>
          </a:xfrm>
          <a:prstGeom prst="rect">
            <a:avLst/>
          </a:prstGeom>
          <a:solidFill>
            <a:srgbClr val="9DE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45352" y="3657600"/>
            <a:ext cx="118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9DE04C"/>
                </a:solidFill>
                <a:latin typeface="Aptos"/>
              </a:rPr>
              <a:t>AGRONOMY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3639312"/>
            <a:ext cx="2971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5FAF6"/>
                </a:solidFill>
                <a:latin typeface="Aptos"/>
              </a:rPr>
              <a:t>Crop, Season, Yield, Rainfall, Soil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" y="4443983"/>
            <a:ext cx="4663440" cy="658368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96112" y="4443983"/>
            <a:ext cx="50292" cy="658368"/>
          </a:xfrm>
          <a:prstGeom prst="rect">
            <a:avLst/>
          </a:prstGeom>
          <a:solidFill>
            <a:srgbClr val="48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78992" y="4553712"/>
            <a:ext cx="118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48CDE0"/>
                </a:solidFill>
                <a:latin typeface="Aptos"/>
              </a:rPr>
              <a:t>INPUTS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13432" y="4535423"/>
            <a:ext cx="2971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5FAF6"/>
                </a:solidFill>
                <a:latin typeface="Aptos"/>
              </a:rPr>
              <a:t>Fertilizer Usage, Irrigation Type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62472" y="4443983"/>
            <a:ext cx="4663440" cy="658368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062472" y="4443983"/>
            <a:ext cx="50292" cy="658368"/>
          </a:xfrm>
          <a:prstGeom prst="rect">
            <a:avLst/>
          </a:prstGeom>
          <a:solidFill>
            <a:srgbClr val="F4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45352" y="4553712"/>
            <a:ext cx="118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F4BE4A"/>
                </a:solidFill>
                <a:latin typeface="Aptos"/>
              </a:rPr>
              <a:t>ECONOMICS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9792" y="4535423"/>
            <a:ext cx="2971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5FAF6"/>
                </a:solidFill>
                <a:latin typeface="Aptos"/>
              </a:rPr>
              <a:t>Market Price, Production Cost, Profit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0D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45936"/>
            <a:ext cx="12191695" cy="73152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54864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19088"/>
            <a:ext cx="12191695" cy="36576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1089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AF6"/>
                </a:solidFill>
                <a:latin typeface="Aptos"/>
              </a:rPr>
              <a:t>SOLUTION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2487168" cy="297180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50292" cy="2971800"/>
          </a:xfrm>
          <a:prstGeom prst="rect">
            <a:avLst/>
          </a:prstGeom>
          <a:solidFill>
            <a:srgbClr val="48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847088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8CDE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5D3C3"/>
                </a:solidFill>
                <a:latin typeface="Aptos"/>
              </a:rPr>
              <a:t>DATA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20574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5FAF6"/>
                </a:solidFill>
                <a:latin typeface="Aptos"/>
              </a:rPr>
              <a:t>Excel</a:t>
            </a:r>
            <a:br>
              <a:rPr sz="2000" dirty="0"/>
            </a:br>
            <a:r>
              <a:rPr sz="2000" dirty="0"/>
              <a:t>500 ×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49039"/>
            <a:ext cx="2057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B5D3C3"/>
                </a:solidFill>
                <a:latin typeface="Aptos"/>
              </a:rPr>
              <a:t>Agriculture dataset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90088" y="2999232"/>
            <a:ext cx="374903" cy="0"/>
          </a:xfrm>
          <a:prstGeom prst="line">
            <a:avLst/>
          </a:prstGeom>
          <a:ln w="25400">
            <a:solidFill>
              <a:srgbClr val="30D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29000" y="1600200"/>
            <a:ext cx="2487168" cy="297180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29000" y="1600200"/>
            <a:ext cx="50292" cy="2971800"/>
          </a:xfrm>
          <a:prstGeom prst="rect">
            <a:avLst/>
          </a:prstGeom>
          <a:solidFill>
            <a:srgbClr val="F4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1847088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4BE4A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240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5D3C3"/>
                </a:solidFill>
                <a:latin typeface="Aptos"/>
              </a:rPr>
              <a:t>DATA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651760"/>
            <a:ext cx="20574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5FAF6"/>
                </a:solidFill>
                <a:latin typeface="Aptos"/>
              </a:rPr>
              <a:t>Power Query</a:t>
            </a:r>
            <a:br>
              <a:rPr sz="2000" dirty="0"/>
            </a:br>
            <a:r>
              <a:rPr sz="2000" dirty="0"/>
              <a:t>+ DAX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749039"/>
            <a:ext cx="2057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B5D3C3"/>
                </a:solidFill>
                <a:latin typeface="Aptos"/>
              </a:rPr>
              <a:t>Clean + calculate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16168" y="2999232"/>
            <a:ext cx="374904" cy="0"/>
          </a:xfrm>
          <a:prstGeom prst="line">
            <a:avLst/>
          </a:prstGeom>
          <a:ln w="25400">
            <a:solidFill>
              <a:srgbClr val="30D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55080" y="1600200"/>
            <a:ext cx="2487168" cy="297180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1600200"/>
            <a:ext cx="50292" cy="2971800"/>
          </a:xfrm>
          <a:prstGeom prst="rect">
            <a:avLst/>
          </a:prstGeom>
          <a:solidFill>
            <a:srgbClr val="30D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1847088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30D280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240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5D3C3"/>
                </a:solidFill>
                <a:latin typeface="Aptos"/>
              </a:rPr>
              <a:t>POWER BI DESKTOP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651760"/>
            <a:ext cx="20574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5FAF6"/>
                </a:solidFill>
                <a:latin typeface="Aptos"/>
              </a:rPr>
              <a:t>7 Visuals</a:t>
            </a:r>
            <a:br>
              <a:rPr sz="2000" dirty="0"/>
            </a:br>
            <a:r>
              <a:rPr sz="2000" dirty="0"/>
              <a:t>+ Slicers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749039"/>
            <a:ext cx="20574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dirty="0">
                <a:solidFill>
                  <a:srgbClr val="B5D3C3"/>
                </a:solidFill>
                <a:latin typeface="Aptos"/>
              </a:rPr>
              <a:t>Model + interact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42248" y="2999232"/>
            <a:ext cx="374904" cy="0"/>
          </a:xfrm>
          <a:prstGeom prst="line">
            <a:avLst/>
          </a:prstGeom>
          <a:ln w="25400">
            <a:solidFill>
              <a:srgbClr val="30D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281160" y="1600200"/>
            <a:ext cx="2487168" cy="297180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281160" y="1600200"/>
            <a:ext cx="50292" cy="2971800"/>
          </a:xfrm>
          <a:prstGeom prst="rect">
            <a:avLst/>
          </a:prstGeom>
          <a:solidFill>
            <a:srgbClr val="9DE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64040" y="1847088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9DE04C"/>
                </a:solidFill>
                <a:latin typeface="Apto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22402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5D3C3"/>
                </a:solidFill>
                <a:latin typeface="Aptos"/>
              </a:rP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2651760"/>
            <a:ext cx="20574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5FAF6"/>
                </a:solidFill>
                <a:latin typeface="Aptos"/>
              </a:rPr>
              <a:t>1920 × 1080</a:t>
            </a:r>
            <a:br>
              <a:rPr sz="2000" dirty="0"/>
            </a:br>
            <a:r>
              <a:rPr sz="2000" dirty="0"/>
              <a:t>Publish + Share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3749039"/>
            <a:ext cx="2057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B5D3C3"/>
                </a:solidFill>
                <a:latin typeface="Aptos"/>
              </a:rPr>
              <a:t>Power BI Service + LinkedIn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1560" y="4983480"/>
            <a:ext cx="10012680" cy="658368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51560" y="4983480"/>
            <a:ext cx="50292" cy="658368"/>
          </a:xfrm>
          <a:prstGeom prst="rect">
            <a:avLst/>
          </a:prstGeom>
          <a:solidFill>
            <a:srgbClr val="30D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714500" y="5175504"/>
            <a:ext cx="9509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FAF6"/>
                </a:solidFill>
                <a:latin typeface="Aptos"/>
              </a:rPr>
              <a:t>DAX examples: Total Profit = SUM(Profit)  •  Avg Yield  •  Profit Margin % = Profit / Cost × 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8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45936"/>
            <a:ext cx="12191695" cy="73152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54864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19088"/>
            <a:ext cx="12191695" cy="36576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10896"/>
            <a:ext cx="10789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F5FAF6"/>
                </a:solidFill>
                <a:latin typeface="Aptos"/>
              </a:rPr>
              <a:t>ANALYTICS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2286000"/>
            <a:ext cx="932688" cy="1234440"/>
          </a:xfrm>
          <a:prstGeom prst="roundRect">
            <a:avLst/>
          </a:prstGeom>
          <a:solidFill>
            <a:srgbClr val="135846"/>
          </a:solidFill>
          <a:ln>
            <a:solidFill>
              <a:srgbClr val="30D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258775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5FAF6"/>
                </a:solidFill>
                <a:latin typeface="Aptos"/>
              </a:rPr>
              <a:t>START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25296" y="2907792"/>
            <a:ext cx="219456" cy="0"/>
          </a:xfrm>
          <a:prstGeom prst="line">
            <a:avLst/>
          </a:prstGeom>
          <a:ln w="25400">
            <a:solidFill>
              <a:srgbClr val="30D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472184" y="2286000"/>
            <a:ext cx="932688" cy="1234440"/>
          </a:xfrm>
          <a:prstGeom prst="roundRect">
            <a:avLst/>
          </a:prstGeom>
          <a:solidFill>
            <a:srgbClr val="135846"/>
          </a:solidFill>
          <a:ln>
            <a:solidFill>
              <a:srgbClr val="48C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27048" y="258775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5FAF6"/>
                </a:solidFill>
                <a:latin typeface="Aptos"/>
              </a:rPr>
              <a:t>DATA</a:t>
            </a:r>
            <a:br/>
            <a:r>
              <a:t>COLLECTION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04872" y="2907792"/>
            <a:ext cx="219456" cy="0"/>
          </a:xfrm>
          <a:prstGeom prst="line">
            <a:avLst/>
          </a:prstGeom>
          <a:ln w="25400">
            <a:solidFill>
              <a:srgbClr val="30D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51760" y="2286000"/>
            <a:ext cx="932688" cy="1234440"/>
          </a:xfrm>
          <a:prstGeom prst="roundRect">
            <a:avLst/>
          </a:prstGeom>
          <a:solidFill>
            <a:srgbClr val="135846"/>
          </a:solidFill>
          <a:ln>
            <a:solidFill>
              <a:srgbClr val="F4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06624" y="258775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5FAF6"/>
                </a:solidFill>
                <a:latin typeface="Aptos"/>
              </a:rPr>
              <a:t>POWER QUERY</a:t>
            </a:r>
            <a:br/>
            <a:r>
              <a:t>CLEANING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84448" y="2907792"/>
            <a:ext cx="219456" cy="0"/>
          </a:xfrm>
          <a:prstGeom prst="line">
            <a:avLst/>
          </a:prstGeom>
          <a:ln w="25400">
            <a:solidFill>
              <a:srgbClr val="30D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831336" y="2286000"/>
            <a:ext cx="932688" cy="1234440"/>
          </a:xfrm>
          <a:prstGeom prst="roundRect">
            <a:avLst/>
          </a:prstGeom>
          <a:solidFill>
            <a:srgbClr val="135846"/>
          </a:solidFill>
          <a:ln>
            <a:solidFill>
              <a:srgbClr val="9DE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86200" y="258775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5FAF6"/>
                </a:solidFill>
                <a:latin typeface="Aptos"/>
              </a:rPr>
              <a:t>DAX</a:t>
            </a:r>
            <a:br/>
            <a:r>
              <a:t>MEASURES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64024" y="2907792"/>
            <a:ext cx="219456" cy="0"/>
          </a:xfrm>
          <a:prstGeom prst="line">
            <a:avLst/>
          </a:prstGeom>
          <a:ln w="25400">
            <a:solidFill>
              <a:srgbClr val="30D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10912" y="2286000"/>
            <a:ext cx="932688" cy="1234440"/>
          </a:xfrm>
          <a:prstGeom prst="roundRect">
            <a:avLst/>
          </a:prstGeom>
          <a:solidFill>
            <a:srgbClr val="135846"/>
          </a:solidFill>
          <a:ln>
            <a:solidFill>
              <a:srgbClr val="30D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65776" y="258775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5FAF6"/>
                </a:solidFill>
                <a:latin typeface="Aptos"/>
              </a:rPr>
              <a:t>VISUALS</a:t>
            </a:r>
            <a:br/>
            <a:r>
              <a:t>CREATION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0" y="2907792"/>
            <a:ext cx="219456" cy="0"/>
          </a:xfrm>
          <a:prstGeom prst="line">
            <a:avLst/>
          </a:prstGeom>
          <a:ln w="25400">
            <a:solidFill>
              <a:srgbClr val="30D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90488" y="2286000"/>
            <a:ext cx="932688" cy="1234440"/>
          </a:xfrm>
          <a:prstGeom prst="roundRect">
            <a:avLst/>
          </a:prstGeom>
          <a:solidFill>
            <a:srgbClr val="135846"/>
          </a:solidFill>
          <a:ln>
            <a:solidFill>
              <a:srgbClr val="48C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45352" y="258775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5FAF6"/>
                </a:solidFill>
                <a:latin typeface="Aptos"/>
              </a:rPr>
              <a:t>1920×1080</a:t>
            </a:r>
            <a:br/>
            <a:r>
              <a:t>DESIGN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23176" y="2907792"/>
            <a:ext cx="219456" cy="0"/>
          </a:xfrm>
          <a:prstGeom prst="line">
            <a:avLst/>
          </a:prstGeom>
          <a:ln w="25400">
            <a:solidFill>
              <a:srgbClr val="30D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70064" y="2286000"/>
            <a:ext cx="932688" cy="1234440"/>
          </a:xfrm>
          <a:prstGeom prst="roundRect">
            <a:avLst/>
          </a:prstGeom>
          <a:solidFill>
            <a:srgbClr val="135846"/>
          </a:solidFill>
          <a:ln>
            <a:solidFill>
              <a:srgbClr val="F4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24928" y="258775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5FAF6"/>
                </a:solidFill>
                <a:latin typeface="Aptos"/>
              </a:rPr>
              <a:t>SLICERS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02752" y="2907792"/>
            <a:ext cx="219456" cy="0"/>
          </a:xfrm>
          <a:prstGeom prst="line">
            <a:avLst/>
          </a:prstGeom>
          <a:ln w="25400">
            <a:solidFill>
              <a:srgbClr val="30D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549640" y="2286000"/>
            <a:ext cx="932688" cy="1234440"/>
          </a:xfrm>
          <a:prstGeom prst="roundRect">
            <a:avLst/>
          </a:prstGeom>
          <a:solidFill>
            <a:srgbClr val="135846"/>
          </a:solidFill>
          <a:ln>
            <a:solidFill>
              <a:srgbClr val="9DE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04504" y="258775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5FAF6"/>
                </a:solidFill>
                <a:latin typeface="Aptos"/>
              </a:rPr>
              <a:t>INSIGHTS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82328" y="2907792"/>
            <a:ext cx="219456" cy="0"/>
          </a:xfrm>
          <a:prstGeom prst="line">
            <a:avLst/>
          </a:prstGeom>
          <a:ln w="25400">
            <a:solidFill>
              <a:srgbClr val="30D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729216" y="2286000"/>
            <a:ext cx="932688" cy="1234440"/>
          </a:xfrm>
          <a:prstGeom prst="roundRect">
            <a:avLst/>
          </a:prstGeom>
          <a:solidFill>
            <a:srgbClr val="135846"/>
          </a:solidFill>
          <a:ln>
            <a:solidFill>
              <a:srgbClr val="30D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84080" y="258775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5FAF6"/>
                </a:solidFill>
                <a:latin typeface="Aptos"/>
              </a:rPr>
              <a:t>PUBLISH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661904" y="2907792"/>
            <a:ext cx="219456" cy="0"/>
          </a:xfrm>
          <a:prstGeom prst="line">
            <a:avLst/>
          </a:prstGeom>
          <a:ln w="25400">
            <a:solidFill>
              <a:srgbClr val="30D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908792" y="2286000"/>
            <a:ext cx="932688" cy="1234440"/>
          </a:xfrm>
          <a:prstGeom prst="roundRect">
            <a:avLst/>
          </a:prstGeom>
          <a:solidFill>
            <a:srgbClr val="135846"/>
          </a:solidFill>
          <a:ln>
            <a:solidFill>
              <a:srgbClr val="48C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63656" y="258775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5FAF6"/>
                </a:solidFill>
                <a:latin typeface="Aptos"/>
              </a:rPr>
              <a:t>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61772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0D280"/>
                </a:solidFill>
                <a:latin typeface="Aptos"/>
              </a:rPr>
              <a:t>DATA → QUALITY → MEASURES → VISUAL STORY → DECISION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0D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45936"/>
            <a:ext cx="12191695" cy="73152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54864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19088"/>
            <a:ext cx="12191695" cy="36576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1089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AF6"/>
                </a:solidFill>
                <a:latin typeface="Aptos"/>
              </a:rPr>
              <a:t>DASHBOARD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11155680" cy="5166360"/>
          </a:xfrm>
          <a:prstGeom prst="roundRect">
            <a:avLst/>
          </a:prstGeom>
          <a:solidFill>
            <a:srgbClr val="0A193C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50292" cy="5166360"/>
          </a:xfrm>
          <a:prstGeom prst="rect">
            <a:avLst/>
          </a:prstGeom>
          <a:solidFill>
            <a:srgbClr val="48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solidFill>
            <a:srgbClr val="0E2643"/>
          </a:solidFill>
          <a:ln w="19050">
            <a:solidFill>
              <a:srgbClr val="30D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B5D3C3"/>
                </a:solidFill>
                <a:latin typeface="Aptos"/>
              </a:rPr>
              <a:t>POWER BI DASHBOARD SCREENSHOT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2697480"/>
            <a:ext cx="1828800" cy="658368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43000" y="2697480"/>
            <a:ext cx="50292" cy="658368"/>
          </a:xfrm>
          <a:prstGeom prst="rect">
            <a:avLst/>
          </a:prstGeom>
          <a:solidFill>
            <a:srgbClr val="30D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52728" y="2926080"/>
            <a:ext cx="1600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30D280"/>
                </a:solidFill>
                <a:latin typeface="Aptos"/>
              </a:rPr>
              <a:t>TOTAL PROFIT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2697480"/>
            <a:ext cx="1828800" cy="658368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46120" y="2697480"/>
            <a:ext cx="50292" cy="658368"/>
          </a:xfrm>
          <a:prstGeom prst="rect">
            <a:avLst/>
          </a:prstGeom>
          <a:solidFill>
            <a:srgbClr val="48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55848" y="2926080"/>
            <a:ext cx="1600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48CDE0"/>
                </a:solidFill>
                <a:latin typeface="Aptos"/>
              </a:rPr>
              <a:t>AVG YIELD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49240" y="2697480"/>
            <a:ext cx="1828800" cy="658368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49240" y="2697480"/>
            <a:ext cx="50292" cy="658368"/>
          </a:xfrm>
          <a:prstGeom prst="rect">
            <a:avLst/>
          </a:prstGeom>
          <a:solidFill>
            <a:srgbClr val="F4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58968" y="2926080"/>
            <a:ext cx="1600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F4BE4A"/>
                </a:solidFill>
                <a:latin typeface="Aptos"/>
              </a:rPr>
              <a:t>AVG PROFIT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2697480"/>
            <a:ext cx="1828800" cy="658368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52360" y="2697480"/>
            <a:ext cx="50292" cy="658368"/>
          </a:xfrm>
          <a:prstGeom prst="rect">
            <a:avLst/>
          </a:prstGeom>
          <a:solidFill>
            <a:srgbClr val="9DE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62088" y="2926080"/>
            <a:ext cx="1600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9DE04C"/>
                </a:solidFill>
                <a:latin typeface="Aptos"/>
              </a:rPr>
              <a:t>TOTAL COST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3703320"/>
            <a:ext cx="2926080" cy="150876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43000" y="3703320"/>
            <a:ext cx="50292" cy="1508760"/>
          </a:xfrm>
          <a:prstGeom prst="rect">
            <a:avLst/>
          </a:prstGeom>
          <a:solidFill>
            <a:srgbClr val="48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80160" y="4069080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B5D3C3"/>
                </a:solidFill>
                <a:latin typeface="Aptos"/>
              </a:rPr>
              <a:t>STATE-WISE PROFIT MAP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703320"/>
            <a:ext cx="2926080" cy="150876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97680" y="3703320"/>
            <a:ext cx="50292" cy="1508760"/>
          </a:xfrm>
          <a:prstGeom prst="rect">
            <a:avLst/>
          </a:prstGeom>
          <a:solidFill>
            <a:srgbClr val="30D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34840" y="4069080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B5D3C3"/>
                </a:solidFill>
                <a:latin typeface="Aptos"/>
              </a:rPr>
              <a:t>CROP-WISE PROFIT BAR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52360" y="3703320"/>
            <a:ext cx="2926080" cy="150876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452360" y="3703320"/>
            <a:ext cx="50292" cy="1508760"/>
          </a:xfrm>
          <a:prstGeom prst="rect">
            <a:avLst/>
          </a:prstGeom>
          <a:solidFill>
            <a:srgbClr val="F4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0" y="4069080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B5D3C3"/>
                </a:solidFill>
                <a:latin typeface="Aptos"/>
              </a:rPr>
              <a:t>YEAR TREND + SEASON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4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45936"/>
            <a:ext cx="12191695" cy="73152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54864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19088"/>
            <a:ext cx="12191695" cy="36576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1089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AF6"/>
                </a:solidFill>
                <a:latin typeface="Aptos"/>
              </a:rPr>
              <a:t>KEY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80160"/>
            <a:ext cx="2560320" cy="141732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50292" cy="1417320"/>
          </a:xfrm>
          <a:prstGeom prst="rect">
            <a:avLst/>
          </a:prstGeom>
          <a:solidFill>
            <a:srgbClr val="30D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408176"/>
            <a:ext cx="22402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B5D3C3"/>
                </a:solidFill>
                <a:latin typeface="Aptos"/>
              </a:rPr>
              <a:t>TOP CROP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09928"/>
            <a:ext cx="2240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30D280"/>
                </a:solidFill>
                <a:latin typeface="Aptos"/>
              </a:rPr>
              <a:t>N/A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280160"/>
            <a:ext cx="2560320" cy="141732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83280" y="1280160"/>
            <a:ext cx="50292" cy="1417320"/>
          </a:xfrm>
          <a:prstGeom prst="rect">
            <a:avLst/>
          </a:prstGeom>
          <a:solidFill>
            <a:srgbClr val="48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47872" y="1408176"/>
            <a:ext cx="22402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B5D3C3"/>
                </a:solidFill>
                <a:latin typeface="Aptos"/>
              </a:rPr>
              <a:t>TOP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709928"/>
            <a:ext cx="2240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8CDE0"/>
                </a:solidFill>
                <a:latin typeface="Aptos"/>
              </a:rPr>
              <a:t>N/A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280160"/>
            <a:ext cx="2560320" cy="141732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1280160"/>
            <a:ext cx="50292" cy="1417320"/>
          </a:xfrm>
          <a:prstGeom prst="rect">
            <a:avLst/>
          </a:prstGeom>
          <a:solidFill>
            <a:srgbClr val="F4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91072" y="1408176"/>
            <a:ext cx="22402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B5D3C3"/>
                </a:solidFill>
                <a:latin typeface="Aptos"/>
              </a:rPr>
              <a:t>BEST SEASON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1709928"/>
            <a:ext cx="2240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BE4A"/>
                </a:solidFill>
                <a:latin typeface="Aptos"/>
              </a:rPr>
              <a:t>N/A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280160"/>
            <a:ext cx="2560320" cy="141732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69680" y="1280160"/>
            <a:ext cx="50292" cy="1417320"/>
          </a:xfrm>
          <a:prstGeom prst="rect">
            <a:avLst/>
          </a:prstGeom>
          <a:solidFill>
            <a:srgbClr val="9DE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34272" y="1408176"/>
            <a:ext cx="22402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B5D3C3"/>
                </a:solidFill>
                <a:latin typeface="Aptos"/>
              </a:rPr>
              <a:t>TOP IRRIGATION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1709928"/>
            <a:ext cx="2240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9DE04C"/>
                </a:solidFill>
                <a:latin typeface="Aptos"/>
              </a:rPr>
              <a:t>N/A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063240"/>
            <a:ext cx="5166360" cy="233172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063240"/>
            <a:ext cx="50292" cy="2331720"/>
          </a:xfrm>
          <a:prstGeom prst="rect">
            <a:avLst/>
          </a:prstGeom>
          <a:solidFill>
            <a:srgbClr val="30D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383280"/>
            <a:ext cx="34747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dirty="0">
                <a:solidFill>
                  <a:srgbClr val="B5D3C3"/>
                </a:solidFill>
                <a:latin typeface="Aptos"/>
              </a:rPr>
              <a:t>TOP CROP AVERAGE PROFIT / ACRE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76732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0D280"/>
                </a:solidFill>
                <a:latin typeface="Aptos"/>
              </a:rPr>
              <a:t>₹0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407408"/>
            <a:ext cx="4206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5FAF6"/>
                </a:solidFill>
                <a:latin typeface="Aptos"/>
              </a:rPr>
              <a:t>N/A ranks first by mean profit per acre</a:t>
            </a:r>
            <a:r>
              <a:rPr sz="1100" b="0" dirty="0">
                <a:solidFill>
                  <a:srgbClr val="F5FAF6"/>
                </a:solidFill>
                <a:latin typeface="Aptos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3063240"/>
            <a:ext cx="5349240" cy="233172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80760" y="3063240"/>
            <a:ext cx="50292" cy="2331720"/>
          </a:xfrm>
          <a:prstGeom prst="rect">
            <a:avLst/>
          </a:prstGeom>
          <a:solidFill>
            <a:srgbClr val="48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3383280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B5D3C3"/>
                </a:solidFill>
                <a:latin typeface="Aptos"/>
              </a:rPr>
              <a:t>CORRELATION SIGNALS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79476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5FAF6"/>
                </a:solidFill>
                <a:latin typeface="Aptos"/>
              </a:rPr>
              <a:t>Rainfall ↔ Yield: 0.00</a:t>
            </a:r>
            <a:br>
              <a:rPr sz="2000" dirty="0"/>
            </a:br>
            <a:r>
              <a:rPr sz="2000" dirty="0"/>
              <a:t>Fertilizer ↔ Profit: 0.00</a:t>
            </a:r>
            <a:br>
              <a:rPr sz="2000" dirty="0"/>
            </a:br>
            <a:r>
              <a:rPr sz="2000" dirty="0"/>
              <a:t>Market Price ↔ Profit: 0.00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0D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45936"/>
            <a:ext cx="12191695" cy="73152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54864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19088"/>
            <a:ext cx="12191695" cy="36576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1089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AF6"/>
                </a:solidFill>
                <a:latin typeface="Aptos"/>
              </a:rPr>
              <a:t>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074920" cy="173736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50292" cy="1737360"/>
          </a:xfrm>
          <a:prstGeom prst="rect">
            <a:avLst/>
          </a:prstGeom>
          <a:solidFill>
            <a:srgbClr val="30D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645920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30D280"/>
                </a:solidFill>
                <a:latin typeface="Aptos"/>
              </a:rPr>
              <a:t>FARM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4389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5FAF6"/>
                </a:solidFill>
                <a:latin typeface="Aptos"/>
              </a:rPr>
              <a:t>Choose stronger crop–state combinations using profitability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5074920" cy="173736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0292" cy="1737360"/>
          </a:xfrm>
          <a:prstGeom prst="rect">
            <a:avLst/>
          </a:prstGeom>
          <a:solidFill>
            <a:srgbClr val="48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8CDE0"/>
                </a:solidFill>
                <a:latin typeface="Aptos"/>
              </a:rPr>
              <a:t>RESOURCE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4389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5FAF6"/>
                </a:solidFill>
                <a:latin typeface="Aptos"/>
              </a:rPr>
              <a:t>Compare irrigation, fertilizer and soil patterns to identify efficient practices.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5074920" cy="173736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474720"/>
            <a:ext cx="50292" cy="1737360"/>
          </a:xfrm>
          <a:prstGeom prst="rect">
            <a:avLst/>
          </a:prstGeom>
          <a:solidFill>
            <a:srgbClr val="F4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4BE4A"/>
                </a:solidFill>
                <a:latin typeface="Aptos"/>
              </a:rPr>
              <a:t>AGRITECH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06240"/>
            <a:ext cx="4389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5FAF6"/>
                </a:solidFill>
                <a:latin typeface="Aptos"/>
              </a:rPr>
              <a:t>Support advisory services, product targeting and farmer segmentation.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474720"/>
            <a:ext cx="5074920" cy="173736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3474720"/>
            <a:ext cx="50292" cy="1737360"/>
          </a:xfrm>
          <a:prstGeom prst="rect">
            <a:avLst/>
          </a:prstGeom>
          <a:solidFill>
            <a:srgbClr val="9DE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703320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9DE04C"/>
                </a:solidFill>
                <a:latin typeface="Aptos"/>
              </a:rPr>
              <a:t>POLICY 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4389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5FAF6"/>
                </a:solidFill>
                <a:latin typeface="Aptos"/>
              </a:rPr>
              <a:t>Provide a scalable analytical layer for regional agricultural planning.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5486400"/>
            <a:ext cx="9144000" cy="50292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508760" y="5486400"/>
            <a:ext cx="50292" cy="502920"/>
          </a:xfrm>
          <a:prstGeom prst="rect">
            <a:avLst/>
          </a:prstGeom>
          <a:solidFill>
            <a:srgbClr val="30D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691640" y="5641848"/>
            <a:ext cx="8778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rgbClr val="F5FAF6"/>
                </a:solidFill>
                <a:latin typeface="Aptos"/>
              </a:rPr>
              <a:t>Scalable next: 10,000+ rows • real-time market prices • weather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8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45936"/>
            <a:ext cx="12191695" cy="73152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54864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19088"/>
            <a:ext cx="12191695" cy="36576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1089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AF6"/>
                </a:solidFill>
                <a:latin typeface="Aptos"/>
              </a:rPr>
              <a:t>RECOMMENDATIONS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10789920" cy="713232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50292" cy="713232"/>
          </a:xfrm>
          <a:prstGeom prst="rect">
            <a:avLst/>
          </a:prstGeom>
          <a:solidFill>
            <a:srgbClr val="30D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41732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D28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399032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F5FAF6"/>
                </a:solidFill>
                <a:latin typeface="Aptos"/>
              </a:rPr>
              <a:t>IRRIGATION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0127" y="1467554"/>
            <a:ext cx="77266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B5D3C3"/>
                </a:solidFill>
                <a:latin typeface="Aptos"/>
              </a:rPr>
              <a:t>Evaluate the highest-performing irrigation option by crop and soil before adoption.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48840"/>
            <a:ext cx="10789920" cy="713232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2148840"/>
            <a:ext cx="50292" cy="713232"/>
          </a:xfrm>
          <a:prstGeom prst="rect">
            <a:avLst/>
          </a:prstGeom>
          <a:solidFill>
            <a:srgbClr val="48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233172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8CDE0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313432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5FAF6"/>
                </a:solidFill>
                <a:latin typeface="Aptos"/>
              </a:rPr>
              <a:t>CROP + </a:t>
            </a:r>
            <a:r>
              <a:rPr sz="1200" b="1" dirty="0">
                <a:solidFill>
                  <a:srgbClr val="F5FAF6"/>
                </a:solidFill>
                <a:latin typeface="Aptos"/>
              </a:rPr>
              <a:t>STATE</a:t>
            </a:r>
            <a:endParaRPr sz="1100" b="1" dirty="0">
              <a:solidFill>
                <a:srgbClr val="F5FAF6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54680" y="2267712"/>
            <a:ext cx="77266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B5D3C3"/>
                </a:solidFill>
                <a:latin typeface="Aptos"/>
              </a:rPr>
              <a:t>Prioritize crop-state combinations with consistently high average profit per acre.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63240"/>
            <a:ext cx="10789920" cy="713232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063240"/>
            <a:ext cx="50292" cy="713232"/>
          </a:xfrm>
          <a:prstGeom prst="rect">
            <a:avLst/>
          </a:prstGeom>
          <a:solidFill>
            <a:srgbClr val="F4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324612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BE4A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227832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5FAF6"/>
                </a:solidFill>
                <a:latin typeface="Aptos"/>
              </a:rPr>
              <a:t>SEASON </a:t>
            </a:r>
            <a:r>
              <a:rPr sz="1200" b="1" dirty="0">
                <a:solidFill>
                  <a:srgbClr val="F5FAF6"/>
                </a:solidFill>
                <a:latin typeface="Aptos"/>
              </a:rPr>
              <a:t>PLANNING</a:t>
            </a:r>
            <a:endParaRPr sz="1100" b="1" dirty="0">
              <a:solidFill>
                <a:srgbClr val="F5FAF6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54680" y="3182112"/>
            <a:ext cx="77266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B5D3C3"/>
                </a:solidFill>
                <a:latin typeface="Aptos"/>
              </a:rPr>
              <a:t>Use the Rabi/Kharif/Zaid profitability ranking to guide seasonal planning.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77639"/>
            <a:ext cx="10789920" cy="713232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3977639"/>
            <a:ext cx="50292" cy="713232"/>
          </a:xfrm>
          <a:prstGeom prst="rect">
            <a:avLst/>
          </a:prstGeom>
          <a:solidFill>
            <a:srgbClr val="9DE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416052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DE04C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142231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5FAF6"/>
                </a:solidFill>
                <a:latin typeface="Aptos"/>
              </a:rPr>
              <a:t>INPUT </a:t>
            </a:r>
            <a:r>
              <a:rPr sz="1200" b="1" dirty="0">
                <a:solidFill>
                  <a:srgbClr val="F5FAF6"/>
                </a:solidFill>
                <a:latin typeface="Aptos"/>
              </a:rPr>
              <a:t>OPTIMIZATION</a:t>
            </a:r>
            <a:endParaRPr sz="1100" b="1" dirty="0">
              <a:solidFill>
                <a:srgbClr val="F5FAF6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30710" y="4177749"/>
            <a:ext cx="77266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B5D3C3"/>
                </a:solidFill>
                <a:latin typeface="Aptos"/>
              </a:rPr>
              <a:t>More fertilizer is not automatically better—balance input cost against yield and profit</a:t>
            </a:r>
            <a:r>
              <a:rPr sz="1019" b="0" dirty="0">
                <a:solidFill>
                  <a:srgbClr val="B5D3C3"/>
                </a:solidFill>
                <a:latin typeface="Aptos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892040"/>
            <a:ext cx="10789920" cy="713232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Rectangle 28"/>
          <p:cNvSpPr/>
          <p:nvPr/>
        </p:nvSpPr>
        <p:spPr>
          <a:xfrm>
            <a:off x="640080" y="4892040"/>
            <a:ext cx="50292" cy="713232"/>
          </a:xfrm>
          <a:prstGeom prst="rect">
            <a:avLst/>
          </a:prstGeom>
          <a:solidFill>
            <a:srgbClr val="30D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507492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D280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056631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5FAF6"/>
                </a:solidFill>
                <a:latin typeface="Aptos"/>
              </a:rPr>
              <a:t>SOIL </a:t>
            </a:r>
            <a:r>
              <a:rPr sz="1200" b="1" dirty="0">
                <a:solidFill>
                  <a:srgbClr val="F5FAF6"/>
                </a:solidFill>
                <a:latin typeface="Aptos"/>
              </a:rPr>
              <a:t>INTELLIGENCE</a:t>
            </a:r>
            <a:endParaRPr sz="1100" b="1" dirty="0">
              <a:solidFill>
                <a:srgbClr val="F5FAF6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423350" y="4983480"/>
            <a:ext cx="772667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dirty="0">
                <a:solidFill>
                  <a:srgbClr val="B5D3C3"/>
                </a:solidFill>
                <a:latin typeface="Aptos"/>
              </a:rPr>
              <a:t>Use Soil Type × Crop profitability to improve crop-selection recommendations.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4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45936"/>
            <a:ext cx="12191695" cy="73152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54864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19088"/>
            <a:ext cx="12191695" cy="36576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1089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AF6"/>
                </a:solidFill>
                <a:latin typeface="Aptos"/>
              </a:rPr>
              <a:t>CONCLUSION &amp; NEXT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80160"/>
            <a:ext cx="5120640" cy="443484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50292" cy="4434840"/>
          </a:xfrm>
          <a:prstGeom prst="rect">
            <a:avLst/>
          </a:prstGeom>
          <a:solidFill>
            <a:srgbClr val="30D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62763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B5D3C3"/>
                </a:solidFill>
                <a:latin typeface="Aptos"/>
              </a:rPr>
              <a:t>WHAT WAS DELIVRED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434840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F5FAF6"/>
                </a:solidFill>
                <a:latin typeface="Aptos"/>
              </a:defRPr>
            </a:pPr>
            <a:r>
              <a:rPr sz="1400" dirty="0"/>
              <a:t>• Interactive profitability dashboard answering crop, state, season and irrigation questions.</a:t>
            </a:r>
          </a:p>
          <a:p>
            <a:pPr>
              <a:spcAft>
                <a:spcPts val="800"/>
              </a:spcAft>
              <a:defRPr sz="1350">
                <a:solidFill>
                  <a:srgbClr val="F5FAF6"/>
                </a:solidFill>
                <a:latin typeface="Aptos"/>
              </a:defRPr>
            </a:pPr>
            <a:r>
              <a:rPr sz="1400" dirty="0"/>
              <a:t>• Power Query + DAX workflow for repeatable data preparation and business measures.</a:t>
            </a:r>
          </a:p>
          <a:p>
            <a:pPr>
              <a:spcAft>
                <a:spcPts val="800"/>
              </a:spcAft>
              <a:defRPr sz="1350">
                <a:solidFill>
                  <a:srgbClr val="F5FAF6"/>
                </a:solidFill>
                <a:latin typeface="Aptos"/>
              </a:defRPr>
            </a:pPr>
            <a:r>
              <a:rPr sz="1400" dirty="0"/>
              <a:t>• Visual storytelling through map, bar, line, donut, scatter and KPI cards.</a:t>
            </a:r>
          </a:p>
          <a:p>
            <a:pPr>
              <a:spcAft>
                <a:spcPts val="800"/>
              </a:spcAft>
              <a:defRPr sz="1350">
                <a:solidFill>
                  <a:srgbClr val="F5FAF6"/>
                </a:solidFill>
                <a:latin typeface="Aptos"/>
              </a:defRPr>
            </a:pPr>
            <a:r>
              <a:rPr sz="1400" dirty="0"/>
              <a:t>• Decision-oriented insights from 500 agricultural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846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900" b="1" dirty="0">
              <a:solidFill>
                <a:srgbClr val="B5D3C3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32688" y="5184648"/>
            <a:ext cx="4480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100" b="1" dirty="0">
              <a:solidFill>
                <a:srgbClr val="30D28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080760" y="1280160"/>
            <a:ext cx="5349240" cy="4434840"/>
          </a:xfrm>
          <a:prstGeom prst="roundRect">
            <a:avLst/>
          </a:prstGeom>
          <a:solidFill>
            <a:srgbClr val="135846"/>
          </a:solidFill>
          <a:ln>
            <a:solidFill>
              <a:srgbClr val="2A6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80760" y="1280160"/>
            <a:ext cx="50292" cy="4434840"/>
          </a:xfrm>
          <a:prstGeom prst="rect">
            <a:avLst/>
          </a:prstGeom>
          <a:solidFill>
            <a:srgbClr val="48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627632"/>
            <a:ext cx="21031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5D3C3"/>
                </a:solidFill>
                <a:latin typeface="Aptos"/>
              </a:rPr>
              <a:t>FUTURE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057400"/>
            <a:ext cx="41148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5FAF6"/>
                </a:solidFill>
                <a:latin typeface="Aptos"/>
              </a:rPr>
              <a:t>From reporting</a:t>
            </a:r>
            <a:br>
              <a:rPr sz="2000" dirty="0"/>
            </a:br>
            <a:r>
              <a:rPr sz="2000" dirty="0"/>
              <a:t>to predictive</a:t>
            </a:r>
            <a:br>
              <a:rPr sz="2000" dirty="0"/>
            </a:br>
            <a:r>
              <a:rPr sz="2000" dirty="0"/>
              <a:t>farm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59253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FAF6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882</Words>
  <Application>Microsoft Office PowerPoint</Application>
  <PresentationFormat>Widescreen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Selfish Girl</cp:lastModifiedBy>
  <cp:revision>9</cp:revision>
  <dcterms:created xsi:type="dcterms:W3CDTF">2013-01-27T09:14:16Z</dcterms:created>
  <dcterms:modified xsi:type="dcterms:W3CDTF">2026-09-06T18:25:25Z</dcterms:modified>
  <cp:category/>
</cp:coreProperties>
</file>