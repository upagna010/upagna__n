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C7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C7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C7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C7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183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11709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52069"/>
          </a:xfrm>
          <a:custGeom>
            <a:avLst/>
            <a:gdLst/>
            <a:ahLst/>
            <a:cxnLst/>
            <a:rect l="l" t="t" r="r" b="b"/>
            <a:pathLst>
              <a:path w="12192000" h="52069">
                <a:moveTo>
                  <a:pt x="12192000" y="0"/>
                </a:moveTo>
                <a:lnTo>
                  <a:pt x="0" y="0"/>
                </a:lnTo>
                <a:lnTo>
                  <a:pt x="0" y="51816"/>
                </a:lnTo>
                <a:lnTo>
                  <a:pt x="12192000" y="51816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404" y="340817"/>
            <a:ext cx="5975984" cy="4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C7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7412" y="1072718"/>
            <a:ext cx="6283960" cy="5454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400">
                <a:solidFill>
                  <a:srgbClr val="00AFEF"/>
                </a:solidFill>
              </a:rPr>
              <a:t>AI</a:t>
            </a:r>
            <a:r>
              <a:rPr dirty="0" sz="3400" spc="-5">
                <a:solidFill>
                  <a:srgbClr val="00AFEF"/>
                </a:solidFill>
              </a:rPr>
              <a:t> </a:t>
            </a:r>
            <a:r>
              <a:rPr dirty="0" sz="3400">
                <a:solidFill>
                  <a:srgbClr val="00AFEF"/>
                </a:solidFill>
              </a:rPr>
              <a:t>TOOLS</a:t>
            </a:r>
            <a:r>
              <a:rPr dirty="0" sz="3400" spc="-40">
                <a:solidFill>
                  <a:srgbClr val="00AFEF"/>
                </a:solidFill>
              </a:rPr>
              <a:t> </a:t>
            </a:r>
            <a:r>
              <a:rPr dirty="0" sz="3400">
                <a:solidFill>
                  <a:srgbClr val="F5F8FB"/>
                </a:solidFill>
              </a:rPr>
              <a:t>-</a:t>
            </a:r>
            <a:r>
              <a:rPr dirty="0" sz="3400" spc="-45">
                <a:solidFill>
                  <a:srgbClr val="F5F8FB"/>
                </a:solidFill>
              </a:rPr>
              <a:t> </a:t>
            </a:r>
            <a:r>
              <a:rPr dirty="0" sz="3400">
                <a:solidFill>
                  <a:srgbClr val="F5F8FB"/>
                </a:solidFill>
              </a:rPr>
              <a:t>ROI</a:t>
            </a:r>
            <a:r>
              <a:rPr dirty="0" sz="3400" spc="-55">
                <a:solidFill>
                  <a:srgbClr val="F5F8FB"/>
                </a:solidFill>
              </a:rPr>
              <a:t> </a:t>
            </a:r>
            <a:r>
              <a:rPr dirty="0" sz="3400" spc="-30">
                <a:solidFill>
                  <a:srgbClr val="F5F8FB"/>
                </a:solidFill>
              </a:rPr>
              <a:t>CALCULATOR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764844" y="2082749"/>
            <a:ext cx="651129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b="1">
                <a:solidFill>
                  <a:srgbClr val="00AF50"/>
                </a:solidFill>
                <a:latin typeface="Arial"/>
                <a:cs typeface="Arial"/>
              </a:rPr>
              <a:t>Startup</a:t>
            </a:r>
            <a:r>
              <a:rPr dirty="0" sz="2000" spc="-120" b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AF50"/>
                </a:solidFill>
                <a:latin typeface="Arial"/>
                <a:cs typeface="Arial"/>
              </a:rPr>
              <a:t>AI</a:t>
            </a:r>
            <a:r>
              <a:rPr dirty="0" sz="2000" spc="-30" b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AF50"/>
                </a:solidFill>
                <a:latin typeface="Arial"/>
                <a:cs typeface="Arial"/>
              </a:rPr>
              <a:t>Subscriptions</a:t>
            </a:r>
            <a:r>
              <a:rPr dirty="0" sz="2000" spc="-70" b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AF50"/>
                </a:solidFill>
                <a:latin typeface="Arial"/>
                <a:cs typeface="Arial"/>
              </a:rPr>
              <a:t>and</a:t>
            </a:r>
            <a:r>
              <a:rPr dirty="0" sz="2000" spc="-65" b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AF50"/>
                </a:solidFill>
                <a:latin typeface="Arial"/>
                <a:cs typeface="Arial"/>
              </a:rPr>
              <a:t>Productivity</a:t>
            </a:r>
            <a:r>
              <a:rPr dirty="0" sz="2000" spc="-90" b="1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AF50"/>
                </a:solidFill>
                <a:latin typeface="Arial"/>
                <a:cs typeface="Arial"/>
              </a:rPr>
              <a:t>Intelligence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7031" y="2764535"/>
            <a:ext cx="3982085" cy="1513205"/>
            <a:chOff x="637031" y="2764535"/>
            <a:chExt cx="3982085" cy="15132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031" y="2764535"/>
              <a:ext cx="3982085" cy="151307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7323" y="2790443"/>
              <a:ext cx="3886200" cy="1417320"/>
            </a:xfrm>
            <a:custGeom>
              <a:avLst/>
              <a:gdLst/>
              <a:ahLst/>
              <a:cxnLst/>
              <a:rect l="l" t="t" r="r" b="b"/>
              <a:pathLst>
                <a:path w="3886200" h="1417320">
                  <a:moveTo>
                    <a:pt x="3649979" y="0"/>
                  </a:moveTo>
                  <a:lnTo>
                    <a:pt x="236220" y="0"/>
                  </a:lnTo>
                  <a:lnTo>
                    <a:pt x="188615" y="4800"/>
                  </a:lnTo>
                  <a:lnTo>
                    <a:pt x="144275" y="18567"/>
                  </a:lnTo>
                  <a:lnTo>
                    <a:pt x="104149" y="40351"/>
                  </a:lnTo>
                  <a:lnTo>
                    <a:pt x="69189" y="69199"/>
                  </a:lnTo>
                  <a:lnTo>
                    <a:pt x="40344" y="104161"/>
                  </a:lnTo>
                  <a:lnTo>
                    <a:pt x="18564" y="144285"/>
                  </a:lnTo>
                  <a:lnTo>
                    <a:pt x="4799" y="188622"/>
                  </a:lnTo>
                  <a:lnTo>
                    <a:pt x="0" y="236219"/>
                  </a:lnTo>
                  <a:lnTo>
                    <a:pt x="0" y="1181099"/>
                  </a:lnTo>
                  <a:lnTo>
                    <a:pt x="4799" y="1228697"/>
                  </a:lnTo>
                  <a:lnTo>
                    <a:pt x="18564" y="1273034"/>
                  </a:lnTo>
                  <a:lnTo>
                    <a:pt x="40344" y="1313158"/>
                  </a:lnTo>
                  <a:lnTo>
                    <a:pt x="69189" y="1348120"/>
                  </a:lnTo>
                  <a:lnTo>
                    <a:pt x="104149" y="1376968"/>
                  </a:lnTo>
                  <a:lnTo>
                    <a:pt x="144275" y="1398752"/>
                  </a:lnTo>
                  <a:lnTo>
                    <a:pt x="188615" y="1412519"/>
                  </a:lnTo>
                  <a:lnTo>
                    <a:pt x="236220" y="1417319"/>
                  </a:lnTo>
                  <a:lnTo>
                    <a:pt x="3649979" y="1417319"/>
                  </a:lnTo>
                  <a:lnTo>
                    <a:pt x="3697577" y="1412519"/>
                  </a:lnTo>
                  <a:lnTo>
                    <a:pt x="3741914" y="1398752"/>
                  </a:lnTo>
                  <a:lnTo>
                    <a:pt x="3782038" y="1376968"/>
                  </a:lnTo>
                  <a:lnTo>
                    <a:pt x="3817000" y="1348120"/>
                  </a:lnTo>
                  <a:lnTo>
                    <a:pt x="3845848" y="1313158"/>
                  </a:lnTo>
                  <a:lnTo>
                    <a:pt x="3867632" y="1273034"/>
                  </a:lnTo>
                  <a:lnTo>
                    <a:pt x="3881399" y="1228697"/>
                  </a:lnTo>
                  <a:lnTo>
                    <a:pt x="3886200" y="1181099"/>
                  </a:lnTo>
                  <a:lnTo>
                    <a:pt x="3886200" y="236219"/>
                  </a:lnTo>
                  <a:lnTo>
                    <a:pt x="3881399" y="188622"/>
                  </a:lnTo>
                  <a:lnTo>
                    <a:pt x="3867632" y="144285"/>
                  </a:lnTo>
                  <a:lnTo>
                    <a:pt x="3845848" y="104161"/>
                  </a:lnTo>
                  <a:lnTo>
                    <a:pt x="3817000" y="69199"/>
                  </a:lnTo>
                  <a:lnTo>
                    <a:pt x="3782038" y="40351"/>
                  </a:lnTo>
                  <a:lnTo>
                    <a:pt x="3741914" y="18567"/>
                  </a:lnTo>
                  <a:lnTo>
                    <a:pt x="3697577" y="4800"/>
                  </a:lnTo>
                  <a:lnTo>
                    <a:pt x="364997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7323" y="2790443"/>
              <a:ext cx="3886200" cy="1417320"/>
            </a:xfrm>
            <a:custGeom>
              <a:avLst/>
              <a:gdLst/>
              <a:ahLst/>
              <a:cxnLst/>
              <a:rect l="l" t="t" r="r" b="b"/>
              <a:pathLst>
                <a:path w="3886200" h="1417320">
                  <a:moveTo>
                    <a:pt x="0" y="236219"/>
                  </a:moveTo>
                  <a:lnTo>
                    <a:pt x="4799" y="188622"/>
                  </a:lnTo>
                  <a:lnTo>
                    <a:pt x="18564" y="144285"/>
                  </a:lnTo>
                  <a:lnTo>
                    <a:pt x="40344" y="104161"/>
                  </a:lnTo>
                  <a:lnTo>
                    <a:pt x="69189" y="69199"/>
                  </a:lnTo>
                  <a:lnTo>
                    <a:pt x="104149" y="40351"/>
                  </a:lnTo>
                  <a:lnTo>
                    <a:pt x="144275" y="18567"/>
                  </a:lnTo>
                  <a:lnTo>
                    <a:pt x="188615" y="4800"/>
                  </a:lnTo>
                  <a:lnTo>
                    <a:pt x="236220" y="0"/>
                  </a:lnTo>
                  <a:lnTo>
                    <a:pt x="3649979" y="0"/>
                  </a:lnTo>
                  <a:lnTo>
                    <a:pt x="3697577" y="4800"/>
                  </a:lnTo>
                  <a:lnTo>
                    <a:pt x="3741914" y="18567"/>
                  </a:lnTo>
                  <a:lnTo>
                    <a:pt x="3782038" y="40351"/>
                  </a:lnTo>
                  <a:lnTo>
                    <a:pt x="3817000" y="69199"/>
                  </a:lnTo>
                  <a:lnTo>
                    <a:pt x="3845848" y="104161"/>
                  </a:lnTo>
                  <a:lnTo>
                    <a:pt x="3867632" y="144285"/>
                  </a:lnTo>
                  <a:lnTo>
                    <a:pt x="3881399" y="188622"/>
                  </a:lnTo>
                  <a:lnTo>
                    <a:pt x="3886200" y="236219"/>
                  </a:lnTo>
                  <a:lnTo>
                    <a:pt x="3886200" y="1181099"/>
                  </a:lnTo>
                  <a:lnTo>
                    <a:pt x="3881399" y="1228697"/>
                  </a:lnTo>
                  <a:lnTo>
                    <a:pt x="3867632" y="1273034"/>
                  </a:lnTo>
                  <a:lnTo>
                    <a:pt x="3845848" y="1313158"/>
                  </a:lnTo>
                  <a:lnTo>
                    <a:pt x="3817000" y="1348120"/>
                  </a:lnTo>
                  <a:lnTo>
                    <a:pt x="3782038" y="1376968"/>
                  </a:lnTo>
                  <a:lnTo>
                    <a:pt x="3741914" y="1398752"/>
                  </a:lnTo>
                  <a:lnTo>
                    <a:pt x="3697577" y="1412519"/>
                  </a:lnTo>
                  <a:lnTo>
                    <a:pt x="3649979" y="1417319"/>
                  </a:lnTo>
                  <a:lnTo>
                    <a:pt x="236220" y="1417319"/>
                  </a:lnTo>
                  <a:lnTo>
                    <a:pt x="188615" y="1412519"/>
                  </a:lnTo>
                  <a:lnTo>
                    <a:pt x="144275" y="1398752"/>
                  </a:lnTo>
                  <a:lnTo>
                    <a:pt x="104149" y="1376968"/>
                  </a:lnTo>
                  <a:lnTo>
                    <a:pt x="69189" y="1348120"/>
                  </a:lnTo>
                  <a:lnTo>
                    <a:pt x="40344" y="1313158"/>
                  </a:lnTo>
                  <a:lnTo>
                    <a:pt x="18564" y="1273034"/>
                  </a:lnTo>
                  <a:lnTo>
                    <a:pt x="4799" y="1228697"/>
                  </a:lnTo>
                  <a:lnTo>
                    <a:pt x="0" y="1181099"/>
                  </a:lnTo>
                  <a:lnTo>
                    <a:pt x="0" y="236219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93444" y="3094736"/>
            <a:ext cx="10058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solidFill>
                  <a:srgbClr val="00C7FF"/>
                </a:solidFill>
                <a:latin typeface="Arial"/>
                <a:cs typeface="Arial"/>
              </a:rPr>
              <a:t>REAL</a:t>
            </a:r>
            <a:r>
              <a:rPr dirty="0" sz="1000" spc="-3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C7FF"/>
                </a:solidFill>
                <a:latin typeface="Arial"/>
                <a:cs typeface="Arial"/>
              </a:rPr>
              <a:t>DATASET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444" y="3430270"/>
            <a:ext cx="2350135" cy="484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F5F8FB"/>
                </a:solidFill>
                <a:latin typeface="Arial"/>
                <a:cs typeface="Arial"/>
              </a:rPr>
              <a:t>296</a:t>
            </a:r>
            <a:r>
              <a:rPr dirty="0" sz="1500" spc="-2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5F8FB"/>
                </a:solidFill>
                <a:latin typeface="Arial"/>
                <a:cs typeface="Arial"/>
              </a:rPr>
              <a:t>rows</a:t>
            </a:r>
            <a:r>
              <a:rPr dirty="0" sz="1500" spc="38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5F8FB"/>
                </a:solidFill>
                <a:latin typeface="Arial"/>
                <a:cs typeface="Arial"/>
              </a:rPr>
              <a:t>•</a:t>
            </a:r>
            <a:r>
              <a:rPr dirty="0" sz="1500" spc="38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5F8FB"/>
                </a:solidFill>
                <a:latin typeface="Arial"/>
                <a:cs typeface="Arial"/>
              </a:rPr>
              <a:t>8</a:t>
            </a:r>
            <a:r>
              <a:rPr dirty="0" sz="1500" spc="-8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5F8FB"/>
                </a:solidFill>
                <a:latin typeface="Arial"/>
                <a:cs typeface="Arial"/>
              </a:rPr>
              <a:t>AI tools</a:t>
            </a:r>
            <a:r>
              <a:rPr dirty="0" sz="1500" spc="38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5F8FB"/>
                </a:solidFill>
                <a:latin typeface="Arial"/>
                <a:cs typeface="Arial"/>
              </a:rPr>
              <a:t>•</a:t>
            </a:r>
            <a:r>
              <a:rPr dirty="0" sz="1500" spc="38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500" spc="-50" b="1">
                <a:solidFill>
                  <a:srgbClr val="F5F8FB"/>
                </a:solidFill>
                <a:latin typeface="Arial"/>
                <a:cs typeface="Arial"/>
              </a:rPr>
              <a:t>5 </a:t>
            </a:r>
            <a:r>
              <a:rPr dirty="0" sz="1500" spc="-10" b="1">
                <a:solidFill>
                  <a:srgbClr val="F5F8FB"/>
                </a:solidFill>
                <a:latin typeface="Arial"/>
                <a:cs typeface="Arial"/>
              </a:rPr>
              <a:t>departments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844" y="4826365"/>
            <a:ext cx="3154045" cy="77914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2000" spc="-95" b="1">
                <a:solidFill>
                  <a:srgbClr val="00C7FF"/>
                </a:solidFill>
                <a:latin typeface="Times New Roman"/>
                <a:cs typeface="Times New Roman"/>
              </a:rPr>
              <a:t>TABLEAU</a:t>
            </a:r>
            <a:r>
              <a:rPr dirty="0" sz="2000" spc="-60" b="1">
                <a:solidFill>
                  <a:srgbClr val="00C7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C7FF"/>
                </a:solidFill>
                <a:latin typeface="Times New Roman"/>
                <a:cs typeface="Times New Roman"/>
              </a:rPr>
              <a:t>+</a:t>
            </a:r>
            <a:r>
              <a:rPr dirty="0" sz="2000" spc="25" b="1">
                <a:solidFill>
                  <a:srgbClr val="00C7FF"/>
                </a:solidFill>
                <a:latin typeface="Times New Roman"/>
                <a:cs typeface="Times New Roman"/>
              </a:rPr>
              <a:t> </a:t>
            </a:r>
            <a:r>
              <a:rPr dirty="0" sz="2000" spc="-20" b="1">
                <a:solidFill>
                  <a:srgbClr val="00C7FF"/>
                </a:solidFill>
                <a:latin typeface="Times New Roman"/>
                <a:cs typeface="Times New Roman"/>
              </a:rPr>
              <a:t>EXCEL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800">
                <a:solidFill>
                  <a:srgbClr val="AEBDD2"/>
                </a:solidFill>
                <a:latin typeface="Arial Black"/>
                <a:cs typeface="Arial Black"/>
              </a:rPr>
              <a:t>Presented</a:t>
            </a:r>
            <a:r>
              <a:rPr dirty="0" sz="1800" spc="-3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solidFill>
                  <a:srgbClr val="AEBDD2"/>
                </a:solidFill>
                <a:latin typeface="Arial Black"/>
                <a:cs typeface="Arial Black"/>
              </a:rPr>
              <a:t>by:</a:t>
            </a:r>
            <a:r>
              <a:rPr dirty="0" sz="1800" spc="-5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800" spc="-20">
                <a:solidFill>
                  <a:srgbClr val="AEBDD2"/>
                </a:solidFill>
                <a:latin typeface="Arial Black"/>
                <a:cs typeface="Arial Black"/>
              </a:rPr>
              <a:t>UPAGNA</a:t>
            </a:r>
            <a:r>
              <a:rPr dirty="0" sz="1800" spc="-10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800" spc="-50">
                <a:solidFill>
                  <a:srgbClr val="AEBDD2"/>
                </a:solidFill>
                <a:latin typeface="Arial Black"/>
                <a:cs typeface="Arial Black"/>
              </a:rPr>
              <a:t>N</a:t>
            </a:r>
            <a:endParaRPr sz="1800">
              <a:latin typeface="Arial Black"/>
              <a:cs typeface="Arial Black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823959" y="984542"/>
            <a:ext cx="251460" cy="251460"/>
            <a:chOff x="8823959" y="984542"/>
            <a:chExt cx="251460" cy="25146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3959" y="984542"/>
              <a:ext cx="251294" cy="25129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69679" y="1005840"/>
              <a:ext cx="164592" cy="164592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9738359" y="1642910"/>
            <a:ext cx="251460" cy="251460"/>
            <a:chOff x="9738359" y="1642910"/>
            <a:chExt cx="251460" cy="25146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8359" y="1642910"/>
              <a:ext cx="251294" cy="25129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4079" y="1664208"/>
              <a:ext cx="164592" cy="164591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823959" y="2301278"/>
            <a:ext cx="251460" cy="251460"/>
            <a:chOff x="8823959" y="2301278"/>
            <a:chExt cx="251460" cy="25146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3959" y="2301278"/>
              <a:ext cx="251294" cy="2512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69679" y="2322576"/>
              <a:ext cx="164592" cy="164591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9738359" y="2959646"/>
            <a:ext cx="251460" cy="251460"/>
            <a:chOff x="9738359" y="2959646"/>
            <a:chExt cx="251460" cy="25146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8359" y="2959646"/>
              <a:ext cx="251294" cy="25129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84079" y="2980943"/>
              <a:ext cx="164592" cy="164591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8823959" y="3618014"/>
            <a:ext cx="251460" cy="251460"/>
            <a:chOff x="8823959" y="3618014"/>
            <a:chExt cx="251460" cy="25146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3959" y="3618014"/>
              <a:ext cx="251294" cy="25129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69679" y="3639311"/>
              <a:ext cx="164592" cy="164592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9738359" y="4276381"/>
            <a:ext cx="251460" cy="251460"/>
            <a:chOff x="9738359" y="4276381"/>
            <a:chExt cx="251460" cy="25146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8359" y="4276381"/>
              <a:ext cx="251294" cy="25129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4079" y="4297679"/>
              <a:ext cx="164592" cy="16459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1142726" y="6514895"/>
            <a:ext cx="440055" cy="1549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01</a:t>
            </a:r>
            <a:r>
              <a:rPr dirty="0" sz="900" spc="24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/</a:t>
            </a:r>
            <a:r>
              <a:rPr dirty="0" sz="900" spc="24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AEBDD2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dirty="0" spc="-35"/>
              <a:t> </a:t>
            </a:r>
            <a:r>
              <a:rPr dirty="0"/>
              <a:t>Business</a:t>
            </a:r>
            <a:r>
              <a:rPr dirty="0" spc="-30"/>
              <a:t> </a:t>
            </a:r>
            <a:r>
              <a:rPr dirty="0" spc="-1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836" y="865758"/>
            <a:ext cx="469519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solidFill>
                  <a:srgbClr val="AEBDD2"/>
                </a:solidFill>
                <a:latin typeface="Calibri"/>
                <a:cs typeface="Calibri"/>
              </a:rPr>
              <a:t>AI</a:t>
            </a:r>
            <a:r>
              <a:rPr dirty="0" sz="1400" spc="-5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AEBDD2"/>
                </a:solidFill>
                <a:latin typeface="Calibri"/>
                <a:cs typeface="Calibri"/>
              </a:rPr>
              <a:t>adoption</a:t>
            </a:r>
            <a:r>
              <a:rPr dirty="0" sz="1400" spc="-2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AEBDD2"/>
                </a:solidFill>
                <a:latin typeface="Calibri"/>
                <a:cs typeface="Calibri"/>
              </a:rPr>
              <a:t>is</a:t>
            </a:r>
            <a:r>
              <a:rPr dirty="0" sz="1400" spc="-4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AEBDD2"/>
                </a:solidFill>
                <a:latin typeface="Calibri"/>
                <a:cs typeface="Calibri"/>
              </a:rPr>
              <a:t>growing</a:t>
            </a:r>
            <a:r>
              <a:rPr dirty="0" sz="1400" spc="-3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AEBDD2"/>
                </a:solidFill>
                <a:latin typeface="Calibri"/>
                <a:cs typeface="Calibri"/>
              </a:rPr>
              <a:t>—</a:t>
            </a:r>
            <a:r>
              <a:rPr dirty="0" sz="1400" spc="-4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AEBDD2"/>
                </a:solidFill>
                <a:latin typeface="Calibri"/>
                <a:cs typeface="Calibri"/>
              </a:rPr>
              <a:t>visibility</a:t>
            </a:r>
            <a:r>
              <a:rPr dirty="0" sz="1400" spc="3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AEBDD2"/>
                </a:solidFill>
                <a:latin typeface="Calibri"/>
                <a:cs typeface="Calibri"/>
              </a:rPr>
              <a:t>into</a:t>
            </a:r>
            <a:r>
              <a:rPr dirty="0" sz="1400" spc="-2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AEBDD2"/>
                </a:solidFill>
                <a:latin typeface="Calibri"/>
                <a:cs typeface="Calibri"/>
              </a:rPr>
              <a:t>value</a:t>
            </a:r>
            <a:r>
              <a:rPr dirty="0" sz="1400" spc="-2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AEBDD2"/>
                </a:solidFill>
                <a:latin typeface="Calibri"/>
                <a:cs typeface="Calibri"/>
              </a:rPr>
              <a:t>must</a:t>
            </a:r>
            <a:r>
              <a:rPr dirty="0" sz="1400" spc="-2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AEBDD2"/>
                </a:solidFill>
                <a:latin typeface="Calibri"/>
                <a:cs typeface="Calibri"/>
              </a:rPr>
              <a:t>grow</a:t>
            </a:r>
            <a:r>
              <a:rPr dirty="0" sz="1400" spc="-6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AEBDD2"/>
                </a:solidFill>
                <a:latin typeface="Calibri"/>
                <a:cs typeface="Calibri"/>
              </a:rPr>
              <a:t>with</a:t>
            </a:r>
            <a:r>
              <a:rPr dirty="0" sz="1400" spc="-4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AEBDD2"/>
                </a:solidFill>
                <a:latin typeface="Calibri"/>
                <a:cs typeface="Calibri"/>
              </a:rPr>
              <a:t>it.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2751" y="1392999"/>
            <a:ext cx="10840085" cy="1147445"/>
            <a:chOff x="682751" y="1392999"/>
            <a:chExt cx="10840085" cy="11474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751" y="1392999"/>
              <a:ext cx="10840085" cy="114738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3043" y="1418843"/>
              <a:ext cx="10744200" cy="1051560"/>
            </a:xfrm>
            <a:custGeom>
              <a:avLst/>
              <a:gdLst/>
              <a:ahLst/>
              <a:cxnLst/>
              <a:rect l="l" t="t" r="r" b="b"/>
              <a:pathLst>
                <a:path w="10744200" h="1051560">
                  <a:moveTo>
                    <a:pt x="10568940" y="0"/>
                  </a:moveTo>
                  <a:lnTo>
                    <a:pt x="175259" y="0"/>
                  </a:lnTo>
                  <a:lnTo>
                    <a:pt x="128671" y="6261"/>
                  </a:lnTo>
                  <a:lnTo>
                    <a:pt x="86805" y="23932"/>
                  </a:lnTo>
                  <a:lnTo>
                    <a:pt x="51334" y="51339"/>
                  </a:lnTo>
                  <a:lnTo>
                    <a:pt x="23929" y="86811"/>
                  </a:lnTo>
                  <a:lnTo>
                    <a:pt x="6260" y="128675"/>
                  </a:lnTo>
                  <a:lnTo>
                    <a:pt x="0" y="175259"/>
                  </a:lnTo>
                  <a:lnTo>
                    <a:pt x="0" y="876300"/>
                  </a:lnTo>
                  <a:lnTo>
                    <a:pt x="6260" y="922884"/>
                  </a:lnTo>
                  <a:lnTo>
                    <a:pt x="23929" y="964748"/>
                  </a:lnTo>
                  <a:lnTo>
                    <a:pt x="51334" y="1000220"/>
                  </a:lnTo>
                  <a:lnTo>
                    <a:pt x="86805" y="1027627"/>
                  </a:lnTo>
                  <a:lnTo>
                    <a:pt x="128671" y="1045298"/>
                  </a:lnTo>
                  <a:lnTo>
                    <a:pt x="175259" y="1051559"/>
                  </a:lnTo>
                  <a:lnTo>
                    <a:pt x="10568940" y="1051559"/>
                  </a:lnTo>
                  <a:lnTo>
                    <a:pt x="10615524" y="1045298"/>
                  </a:lnTo>
                  <a:lnTo>
                    <a:pt x="10657388" y="1027627"/>
                  </a:lnTo>
                  <a:lnTo>
                    <a:pt x="10692860" y="1000220"/>
                  </a:lnTo>
                  <a:lnTo>
                    <a:pt x="10720267" y="964748"/>
                  </a:lnTo>
                  <a:lnTo>
                    <a:pt x="10737938" y="922884"/>
                  </a:lnTo>
                  <a:lnTo>
                    <a:pt x="10744200" y="876300"/>
                  </a:lnTo>
                  <a:lnTo>
                    <a:pt x="10744200" y="175259"/>
                  </a:lnTo>
                  <a:lnTo>
                    <a:pt x="10737938" y="128675"/>
                  </a:lnTo>
                  <a:lnTo>
                    <a:pt x="10720267" y="86811"/>
                  </a:lnTo>
                  <a:lnTo>
                    <a:pt x="10692860" y="51339"/>
                  </a:lnTo>
                  <a:lnTo>
                    <a:pt x="10657388" y="23932"/>
                  </a:lnTo>
                  <a:lnTo>
                    <a:pt x="10615524" y="6261"/>
                  </a:lnTo>
                  <a:lnTo>
                    <a:pt x="1056894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3043" y="1418843"/>
              <a:ext cx="10744200" cy="1051560"/>
            </a:xfrm>
            <a:custGeom>
              <a:avLst/>
              <a:gdLst/>
              <a:ahLst/>
              <a:cxnLst/>
              <a:rect l="l" t="t" r="r" b="b"/>
              <a:pathLst>
                <a:path w="10744200" h="1051560">
                  <a:moveTo>
                    <a:pt x="0" y="175259"/>
                  </a:moveTo>
                  <a:lnTo>
                    <a:pt x="6260" y="128675"/>
                  </a:lnTo>
                  <a:lnTo>
                    <a:pt x="23929" y="86811"/>
                  </a:lnTo>
                  <a:lnTo>
                    <a:pt x="51334" y="51339"/>
                  </a:lnTo>
                  <a:lnTo>
                    <a:pt x="86805" y="23932"/>
                  </a:lnTo>
                  <a:lnTo>
                    <a:pt x="128671" y="6261"/>
                  </a:lnTo>
                  <a:lnTo>
                    <a:pt x="175259" y="0"/>
                  </a:lnTo>
                  <a:lnTo>
                    <a:pt x="10568940" y="0"/>
                  </a:lnTo>
                  <a:lnTo>
                    <a:pt x="10615524" y="6261"/>
                  </a:lnTo>
                  <a:lnTo>
                    <a:pt x="10657388" y="23932"/>
                  </a:lnTo>
                  <a:lnTo>
                    <a:pt x="10692860" y="51339"/>
                  </a:lnTo>
                  <a:lnTo>
                    <a:pt x="10720267" y="86811"/>
                  </a:lnTo>
                  <a:lnTo>
                    <a:pt x="10737938" y="128675"/>
                  </a:lnTo>
                  <a:lnTo>
                    <a:pt x="10744200" y="175259"/>
                  </a:lnTo>
                  <a:lnTo>
                    <a:pt x="10744200" y="876300"/>
                  </a:lnTo>
                  <a:lnTo>
                    <a:pt x="10737938" y="922884"/>
                  </a:lnTo>
                  <a:lnTo>
                    <a:pt x="10720267" y="964748"/>
                  </a:lnTo>
                  <a:lnTo>
                    <a:pt x="10692860" y="1000220"/>
                  </a:lnTo>
                  <a:lnTo>
                    <a:pt x="10657388" y="1027627"/>
                  </a:lnTo>
                  <a:lnTo>
                    <a:pt x="10615524" y="1045298"/>
                  </a:lnTo>
                  <a:lnTo>
                    <a:pt x="10568940" y="1051559"/>
                  </a:lnTo>
                  <a:lnTo>
                    <a:pt x="175259" y="1051559"/>
                  </a:lnTo>
                  <a:lnTo>
                    <a:pt x="128671" y="1045298"/>
                  </a:lnTo>
                  <a:lnTo>
                    <a:pt x="86805" y="1027627"/>
                  </a:lnTo>
                  <a:lnTo>
                    <a:pt x="51334" y="1000220"/>
                  </a:lnTo>
                  <a:lnTo>
                    <a:pt x="23929" y="964748"/>
                  </a:lnTo>
                  <a:lnTo>
                    <a:pt x="6260" y="922884"/>
                  </a:lnTo>
                  <a:lnTo>
                    <a:pt x="0" y="876300"/>
                  </a:lnTo>
                  <a:lnTo>
                    <a:pt x="0" y="175259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39164" y="1673732"/>
            <a:ext cx="30607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25" b="1">
                <a:solidFill>
                  <a:srgbClr val="00C7FF"/>
                </a:solidFill>
                <a:latin typeface="Arial"/>
                <a:cs typeface="Arial"/>
              </a:rPr>
              <a:t>01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9194" y="1600581"/>
            <a:ext cx="229235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>
                <a:solidFill>
                  <a:srgbClr val="F5F8FB"/>
                </a:solidFill>
                <a:latin typeface="Arial Black"/>
                <a:cs typeface="Arial Black"/>
              </a:rPr>
              <a:t>Multiple</a:t>
            </a:r>
            <a:r>
              <a:rPr dirty="0" sz="2000" spc="-30">
                <a:solidFill>
                  <a:srgbClr val="F5F8FB"/>
                </a:solidFill>
                <a:latin typeface="Arial Black"/>
                <a:cs typeface="Arial Black"/>
              </a:rPr>
              <a:t> </a:t>
            </a:r>
            <a:r>
              <a:rPr dirty="0" sz="2000">
                <a:solidFill>
                  <a:srgbClr val="F5F8FB"/>
                </a:solidFill>
                <a:latin typeface="Arial Black"/>
                <a:cs typeface="Arial Black"/>
              </a:rPr>
              <a:t>AI</a:t>
            </a:r>
            <a:r>
              <a:rPr dirty="0" sz="2000" spc="-50">
                <a:solidFill>
                  <a:srgbClr val="F5F8FB"/>
                </a:solidFill>
                <a:latin typeface="Arial Black"/>
                <a:cs typeface="Arial Black"/>
              </a:rPr>
              <a:t> </a:t>
            </a:r>
            <a:r>
              <a:rPr dirty="0" sz="2000" spc="-20">
                <a:solidFill>
                  <a:srgbClr val="F5F8FB"/>
                </a:solidFill>
                <a:latin typeface="Arial Black"/>
                <a:cs typeface="Arial Black"/>
              </a:rPr>
              <a:t>tools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0153" y="1600580"/>
            <a:ext cx="5753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Recurring</a:t>
            </a:r>
            <a:r>
              <a:rPr dirty="0" sz="1800" spc="-6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subscriptions</a:t>
            </a:r>
            <a:r>
              <a:rPr dirty="0" sz="1800" spc="-4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can</a:t>
            </a:r>
            <a:r>
              <a:rPr dirty="0" sz="1800" spc="-5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spread</a:t>
            </a:r>
            <a:r>
              <a:rPr dirty="0" sz="1800" spc="-8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AEBDD2"/>
                </a:solidFill>
                <a:latin typeface="Calibri"/>
                <a:cs typeface="Calibri"/>
              </a:rPr>
              <a:t>investment</a:t>
            </a:r>
            <a:r>
              <a:rPr dirty="0" sz="1800" spc="-5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across</a:t>
            </a:r>
            <a:r>
              <a:rPr dirty="0" sz="1800" spc="-4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AEBDD2"/>
                </a:solidFill>
                <a:latin typeface="Calibri"/>
                <a:cs typeface="Calibri"/>
              </a:rPr>
              <a:t>teams.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2751" y="2810319"/>
            <a:ext cx="10840085" cy="1147445"/>
            <a:chOff x="682751" y="2810319"/>
            <a:chExt cx="10840085" cy="114744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751" y="2810319"/>
              <a:ext cx="10840085" cy="114738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33043" y="2836164"/>
              <a:ext cx="10744200" cy="1051560"/>
            </a:xfrm>
            <a:custGeom>
              <a:avLst/>
              <a:gdLst/>
              <a:ahLst/>
              <a:cxnLst/>
              <a:rect l="l" t="t" r="r" b="b"/>
              <a:pathLst>
                <a:path w="10744200" h="1051560">
                  <a:moveTo>
                    <a:pt x="10568940" y="0"/>
                  </a:moveTo>
                  <a:lnTo>
                    <a:pt x="175259" y="0"/>
                  </a:lnTo>
                  <a:lnTo>
                    <a:pt x="128671" y="6261"/>
                  </a:lnTo>
                  <a:lnTo>
                    <a:pt x="86805" y="23932"/>
                  </a:lnTo>
                  <a:lnTo>
                    <a:pt x="51334" y="51339"/>
                  </a:lnTo>
                  <a:lnTo>
                    <a:pt x="23929" y="86811"/>
                  </a:lnTo>
                  <a:lnTo>
                    <a:pt x="6260" y="128675"/>
                  </a:lnTo>
                  <a:lnTo>
                    <a:pt x="0" y="175260"/>
                  </a:lnTo>
                  <a:lnTo>
                    <a:pt x="0" y="876300"/>
                  </a:lnTo>
                  <a:lnTo>
                    <a:pt x="6260" y="922884"/>
                  </a:lnTo>
                  <a:lnTo>
                    <a:pt x="23929" y="964748"/>
                  </a:lnTo>
                  <a:lnTo>
                    <a:pt x="51334" y="1000220"/>
                  </a:lnTo>
                  <a:lnTo>
                    <a:pt x="86805" y="1027627"/>
                  </a:lnTo>
                  <a:lnTo>
                    <a:pt x="128671" y="1045298"/>
                  </a:lnTo>
                  <a:lnTo>
                    <a:pt x="175259" y="1051560"/>
                  </a:lnTo>
                  <a:lnTo>
                    <a:pt x="10568940" y="1051560"/>
                  </a:lnTo>
                  <a:lnTo>
                    <a:pt x="10615524" y="1045298"/>
                  </a:lnTo>
                  <a:lnTo>
                    <a:pt x="10657388" y="1027627"/>
                  </a:lnTo>
                  <a:lnTo>
                    <a:pt x="10692860" y="1000220"/>
                  </a:lnTo>
                  <a:lnTo>
                    <a:pt x="10720267" y="964748"/>
                  </a:lnTo>
                  <a:lnTo>
                    <a:pt x="10737938" y="922884"/>
                  </a:lnTo>
                  <a:lnTo>
                    <a:pt x="10744200" y="876300"/>
                  </a:lnTo>
                  <a:lnTo>
                    <a:pt x="10744200" y="175260"/>
                  </a:lnTo>
                  <a:lnTo>
                    <a:pt x="10737938" y="128675"/>
                  </a:lnTo>
                  <a:lnTo>
                    <a:pt x="10720267" y="86811"/>
                  </a:lnTo>
                  <a:lnTo>
                    <a:pt x="10692860" y="51339"/>
                  </a:lnTo>
                  <a:lnTo>
                    <a:pt x="10657388" y="23932"/>
                  </a:lnTo>
                  <a:lnTo>
                    <a:pt x="10615524" y="6261"/>
                  </a:lnTo>
                  <a:lnTo>
                    <a:pt x="1056894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33043" y="2836164"/>
              <a:ext cx="10744200" cy="1051560"/>
            </a:xfrm>
            <a:custGeom>
              <a:avLst/>
              <a:gdLst/>
              <a:ahLst/>
              <a:cxnLst/>
              <a:rect l="l" t="t" r="r" b="b"/>
              <a:pathLst>
                <a:path w="10744200" h="1051560">
                  <a:moveTo>
                    <a:pt x="0" y="175260"/>
                  </a:moveTo>
                  <a:lnTo>
                    <a:pt x="6260" y="128675"/>
                  </a:lnTo>
                  <a:lnTo>
                    <a:pt x="23929" y="86811"/>
                  </a:lnTo>
                  <a:lnTo>
                    <a:pt x="51334" y="51339"/>
                  </a:lnTo>
                  <a:lnTo>
                    <a:pt x="86805" y="23932"/>
                  </a:lnTo>
                  <a:lnTo>
                    <a:pt x="128671" y="6261"/>
                  </a:lnTo>
                  <a:lnTo>
                    <a:pt x="175259" y="0"/>
                  </a:lnTo>
                  <a:lnTo>
                    <a:pt x="10568940" y="0"/>
                  </a:lnTo>
                  <a:lnTo>
                    <a:pt x="10615524" y="6261"/>
                  </a:lnTo>
                  <a:lnTo>
                    <a:pt x="10657388" y="23932"/>
                  </a:lnTo>
                  <a:lnTo>
                    <a:pt x="10692860" y="51339"/>
                  </a:lnTo>
                  <a:lnTo>
                    <a:pt x="10720267" y="86811"/>
                  </a:lnTo>
                  <a:lnTo>
                    <a:pt x="10737938" y="128675"/>
                  </a:lnTo>
                  <a:lnTo>
                    <a:pt x="10744200" y="175260"/>
                  </a:lnTo>
                  <a:lnTo>
                    <a:pt x="10744200" y="876300"/>
                  </a:lnTo>
                  <a:lnTo>
                    <a:pt x="10737938" y="922884"/>
                  </a:lnTo>
                  <a:lnTo>
                    <a:pt x="10720267" y="964748"/>
                  </a:lnTo>
                  <a:lnTo>
                    <a:pt x="10692860" y="1000220"/>
                  </a:lnTo>
                  <a:lnTo>
                    <a:pt x="10657388" y="1027627"/>
                  </a:lnTo>
                  <a:lnTo>
                    <a:pt x="10615524" y="1045298"/>
                  </a:lnTo>
                  <a:lnTo>
                    <a:pt x="10568940" y="1051560"/>
                  </a:lnTo>
                  <a:lnTo>
                    <a:pt x="175259" y="1051560"/>
                  </a:lnTo>
                  <a:lnTo>
                    <a:pt x="128671" y="1045298"/>
                  </a:lnTo>
                  <a:lnTo>
                    <a:pt x="86805" y="1027627"/>
                  </a:lnTo>
                  <a:lnTo>
                    <a:pt x="51334" y="1000220"/>
                  </a:lnTo>
                  <a:lnTo>
                    <a:pt x="23929" y="964748"/>
                  </a:lnTo>
                  <a:lnTo>
                    <a:pt x="6260" y="922884"/>
                  </a:lnTo>
                  <a:lnTo>
                    <a:pt x="0" y="876300"/>
                  </a:lnTo>
                  <a:lnTo>
                    <a:pt x="0" y="17526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039164" y="3091687"/>
            <a:ext cx="30607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25" b="1">
                <a:solidFill>
                  <a:srgbClr val="00C7FF"/>
                </a:solidFill>
                <a:latin typeface="Arial"/>
                <a:cs typeface="Arial"/>
              </a:rPr>
              <a:t>02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9194" y="3018536"/>
            <a:ext cx="174307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>
                <a:solidFill>
                  <a:srgbClr val="F5F8FB"/>
                </a:solidFill>
                <a:latin typeface="Arial Black"/>
                <a:cs typeface="Arial Black"/>
              </a:rPr>
              <a:t>Cost</a:t>
            </a:r>
            <a:r>
              <a:rPr dirty="0" sz="2000" spc="-25">
                <a:solidFill>
                  <a:srgbClr val="F5F8FB"/>
                </a:solidFill>
                <a:latin typeface="Arial Black"/>
                <a:cs typeface="Arial Black"/>
              </a:rPr>
              <a:t> </a:t>
            </a:r>
            <a:r>
              <a:rPr dirty="0" sz="2000">
                <a:solidFill>
                  <a:srgbClr val="F5F8FB"/>
                </a:solidFill>
                <a:latin typeface="Arial Black"/>
                <a:cs typeface="Arial Black"/>
              </a:rPr>
              <a:t>≠</a:t>
            </a:r>
            <a:r>
              <a:rPr dirty="0" sz="2000" spc="-25">
                <a:solidFill>
                  <a:srgbClr val="F5F8FB"/>
                </a:solidFill>
                <a:latin typeface="Arial Black"/>
                <a:cs typeface="Arial Black"/>
              </a:rPr>
              <a:t> </a:t>
            </a:r>
            <a:r>
              <a:rPr dirty="0" sz="2000" spc="-20">
                <a:solidFill>
                  <a:srgbClr val="F5F8FB"/>
                </a:solidFill>
                <a:latin typeface="Arial Black"/>
                <a:cs typeface="Arial Black"/>
              </a:rPr>
              <a:t>value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65828" y="3018535"/>
            <a:ext cx="6435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A</a:t>
            </a:r>
            <a:r>
              <a:rPr dirty="0" sz="1800" spc="-2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higher</a:t>
            </a:r>
            <a:r>
              <a:rPr dirty="0" sz="1800" spc="-5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AEBDD2"/>
                </a:solidFill>
                <a:latin typeface="Calibri"/>
                <a:cs typeface="Calibri"/>
              </a:rPr>
              <a:t>subscription</a:t>
            </a:r>
            <a:r>
              <a:rPr dirty="0" sz="1800" spc="-6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cost</a:t>
            </a:r>
            <a:r>
              <a:rPr dirty="0" sz="1800" spc="-3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does</a:t>
            </a:r>
            <a:r>
              <a:rPr dirty="0" sz="1800" spc="-3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not</a:t>
            </a:r>
            <a:r>
              <a:rPr dirty="0" sz="1800" spc="-3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automatically</a:t>
            </a:r>
            <a:r>
              <a:rPr dirty="0" sz="1800" spc="-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create</a:t>
            </a:r>
            <a:r>
              <a:rPr dirty="0" sz="1800" spc="-3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higher</a:t>
            </a:r>
            <a:r>
              <a:rPr dirty="0" sz="1800" spc="-5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AEBDD2"/>
                </a:solidFill>
                <a:latin typeface="Calibri"/>
                <a:cs typeface="Calibri"/>
              </a:rPr>
              <a:t>ROI.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2751" y="4227639"/>
            <a:ext cx="10840085" cy="1147445"/>
            <a:chOff x="682751" y="4227639"/>
            <a:chExt cx="10840085" cy="114744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751" y="4227639"/>
              <a:ext cx="10840085" cy="114738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33043" y="4253484"/>
              <a:ext cx="10744200" cy="1051560"/>
            </a:xfrm>
            <a:custGeom>
              <a:avLst/>
              <a:gdLst/>
              <a:ahLst/>
              <a:cxnLst/>
              <a:rect l="l" t="t" r="r" b="b"/>
              <a:pathLst>
                <a:path w="10744200" h="1051560">
                  <a:moveTo>
                    <a:pt x="10568940" y="0"/>
                  </a:moveTo>
                  <a:lnTo>
                    <a:pt x="175259" y="0"/>
                  </a:lnTo>
                  <a:lnTo>
                    <a:pt x="128671" y="6261"/>
                  </a:lnTo>
                  <a:lnTo>
                    <a:pt x="86805" y="23932"/>
                  </a:lnTo>
                  <a:lnTo>
                    <a:pt x="51334" y="51339"/>
                  </a:lnTo>
                  <a:lnTo>
                    <a:pt x="23929" y="86811"/>
                  </a:lnTo>
                  <a:lnTo>
                    <a:pt x="6260" y="128675"/>
                  </a:lnTo>
                  <a:lnTo>
                    <a:pt x="0" y="175260"/>
                  </a:lnTo>
                  <a:lnTo>
                    <a:pt x="0" y="876300"/>
                  </a:lnTo>
                  <a:lnTo>
                    <a:pt x="6260" y="922884"/>
                  </a:lnTo>
                  <a:lnTo>
                    <a:pt x="23929" y="964748"/>
                  </a:lnTo>
                  <a:lnTo>
                    <a:pt x="51334" y="1000220"/>
                  </a:lnTo>
                  <a:lnTo>
                    <a:pt x="86805" y="1027627"/>
                  </a:lnTo>
                  <a:lnTo>
                    <a:pt x="128671" y="1045298"/>
                  </a:lnTo>
                  <a:lnTo>
                    <a:pt x="175259" y="1051560"/>
                  </a:lnTo>
                  <a:lnTo>
                    <a:pt x="10568940" y="1051560"/>
                  </a:lnTo>
                  <a:lnTo>
                    <a:pt x="10615524" y="1045298"/>
                  </a:lnTo>
                  <a:lnTo>
                    <a:pt x="10657388" y="1027627"/>
                  </a:lnTo>
                  <a:lnTo>
                    <a:pt x="10692860" y="1000220"/>
                  </a:lnTo>
                  <a:lnTo>
                    <a:pt x="10720267" y="964748"/>
                  </a:lnTo>
                  <a:lnTo>
                    <a:pt x="10737938" y="922884"/>
                  </a:lnTo>
                  <a:lnTo>
                    <a:pt x="10744200" y="876300"/>
                  </a:lnTo>
                  <a:lnTo>
                    <a:pt x="10744200" y="175260"/>
                  </a:lnTo>
                  <a:lnTo>
                    <a:pt x="10737938" y="128675"/>
                  </a:lnTo>
                  <a:lnTo>
                    <a:pt x="10720267" y="86811"/>
                  </a:lnTo>
                  <a:lnTo>
                    <a:pt x="10692860" y="51339"/>
                  </a:lnTo>
                  <a:lnTo>
                    <a:pt x="10657388" y="23932"/>
                  </a:lnTo>
                  <a:lnTo>
                    <a:pt x="10615524" y="6261"/>
                  </a:lnTo>
                  <a:lnTo>
                    <a:pt x="1056894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33043" y="4253484"/>
              <a:ext cx="10744200" cy="1051560"/>
            </a:xfrm>
            <a:custGeom>
              <a:avLst/>
              <a:gdLst/>
              <a:ahLst/>
              <a:cxnLst/>
              <a:rect l="l" t="t" r="r" b="b"/>
              <a:pathLst>
                <a:path w="10744200" h="1051560">
                  <a:moveTo>
                    <a:pt x="0" y="175260"/>
                  </a:moveTo>
                  <a:lnTo>
                    <a:pt x="6260" y="128675"/>
                  </a:lnTo>
                  <a:lnTo>
                    <a:pt x="23929" y="86811"/>
                  </a:lnTo>
                  <a:lnTo>
                    <a:pt x="51334" y="51339"/>
                  </a:lnTo>
                  <a:lnTo>
                    <a:pt x="86805" y="23932"/>
                  </a:lnTo>
                  <a:lnTo>
                    <a:pt x="128671" y="6261"/>
                  </a:lnTo>
                  <a:lnTo>
                    <a:pt x="175259" y="0"/>
                  </a:lnTo>
                  <a:lnTo>
                    <a:pt x="10568940" y="0"/>
                  </a:lnTo>
                  <a:lnTo>
                    <a:pt x="10615524" y="6261"/>
                  </a:lnTo>
                  <a:lnTo>
                    <a:pt x="10657388" y="23932"/>
                  </a:lnTo>
                  <a:lnTo>
                    <a:pt x="10692860" y="51339"/>
                  </a:lnTo>
                  <a:lnTo>
                    <a:pt x="10720267" y="86811"/>
                  </a:lnTo>
                  <a:lnTo>
                    <a:pt x="10737938" y="128675"/>
                  </a:lnTo>
                  <a:lnTo>
                    <a:pt x="10744200" y="175260"/>
                  </a:lnTo>
                  <a:lnTo>
                    <a:pt x="10744200" y="876300"/>
                  </a:lnTo>
                  <a:lnTo>
                    <a:pt x="10737938" y="922884"/>
                  </a:lnTo>
                  <a:lnTo>
                    <a:pt x="10720267" y="964748"/>
                  </a:lnTo>
                  <a:lnTo>
                    <a:pt x="10692860" y="1000220"/>
                  </a:lnTo>
                  <a:lnTo>
                    <a:pt x="10657388" y="1027627"/>
                  </a:lnTo>
                  <a:lnTo>
                    <a:pt x="10615524" y="1045298"/>
                  </a:lnTo>
                  <a:lnTo>
                    <a:pt x="10568940" y="1051560"/>
                  </a:lnTo>
                  <a:lnTo>
                    <a:pt x="175259" y="1051560"/>
                  </a:lnTo>
                  <a:lnTo>
                    <a:pt x="128671" y="1045298"/>
                  </a:lnTo>
                  <a:lnTo>
                    <a:pt x="86805" y="1027627"/>
                  </a:lnTo>
                  <a:lnTo>
                    <a:pt x="51334" y="1000220"/>
                  </a:lnTo>
                  <a:lnTo>
                    <a:pt x="23929" y="964748"/>
                  </a:lnTo>
                  <a:lnTo>
                    <a:pt x="6260" y="922884"/>
                  </a:lnTo>
                  <a:lnTo>
                    <a:pt x="0" y="876300"/>
                  </a:lnTo>
                  <a:lnTo>
                    <a:pt x="0" y="17526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039164" y="4509338"/>
            <a:ext cx="30607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25" b="1">
                <a:solidFill>
                  <a:srgbClr val="00C7FF"/>
                </a:solidFill>
                <a:latin typeface="Arial"/>
                <a:cs typeface="Arial"/>
              </a:rPr>
              <a:t>03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79194" y="4436490"/>
            <a:ext cx="181673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>
                <a:solidFill>
                  <a:srgbClr val="F5F8FB"/>
                </a:solidFill>
                <a:latin typeface="Arial Black"/>
                <a:cs typeface="Arial Black"/>
              </a:rPr>
              <a:t>Decision</a:t>
            </a:r>
            <a:r>
              <a:rPr dirty="0" sz="2000" spc="-70">
                <a:solidFill>
                  <a:srgbClr val="F5F8FB"/>
                </a:solidFill>
                <a:latin typeface="Arial Black"/>
                <a:cs typeface="Arial Black"/>
              </a:rPr>
              <a:t> </a:t>
            </a:r>
            <a:r>
              <a:rPr dirty="0" sz="2000" spc="-25">
                <a:solidFill>
                  <a:srgbClr val="F5F8FB"/>
                </a:solidFill>
                <a:latin typeface="Arial Black"/>
                <a:cs typeface="Arial Black"/>
              </a:rPr>
              <a:t>gap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65828" y="4445634"/>
            <a:ext cx="64846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EBDD2"/>
                </a:solidFill>
                <a:latin typeface="Arial"/>
                <a:cs typeface="Arial"/>
              </a:rPr>
              <a:t>Leaders</a:t>
            </a:r>
            <a:r>
              <a:rPr dirty="0" sz="1800" spc="-6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EBDD2"/>
                </a:solidFill>
                <a:latin typeface="Arial"/>
                <a:cs typeface="Arial"/>
              </a:rPr>
              <a:t>need</a:t>
            </a:r>
            <a:r>
              <a:rPr dirty="0" sz="1800" spc="-3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EBDD2"/>
                </a:solidFill>
                <a:latin typeface="Arial"/>
                <a:cs typeface="Arial"/>
              </a:rPr>
              <a:t>one</a:t>
            </a:r>
            <a:r>
              <a:rPr dirty="0" sz="1800" spc="-2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EBDD2"/>
                </a:solidFill>
                <a:latin typeface="Arial"/>
                <a:cs typeface="Arial"/>
              </a:rPr>
              <a:t>view of</a:t>
            </a:r>
            <a:r>
              <a:rPr dirty="0" sz="1800" spc="-3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EBDD2"/>
                </a:solidFill>
                <a:latin typeface="Arial"/>
                <a:cs typeface="Arial"/>
              </a:rPr>
              <a:t>cost,</a:t>
            </a:r>
            <a:r>
              <a:rPr dirty="0" sz="1800" spc="-3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EBDD2"/>
                </a:solidFill>
                <a:latin typeface="Arial"/>
                <a:cs typeface="Arial"/>
              </a:rPr>
              <a:t>value,</a:t>
            </a:r>
            <a:r>
              <a:rPr dirty="0" sz="1800" spc="-1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EBDD2"/>
                </a:solidFill>
                <a:latin typeface="Arial"/>
                <a:cs typeface="Arial"/>
              </a:rPr>
              <a:t>productivity</a:t>
            </a:r>
            <a:r>
              <a:rPr dirty="0" sz="1800" spc="-3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EBDD2"/>
                </a:solidFill>
                <a:latin typeface="Arial"/>
                <a:cs typeface="Arial"/>
              </a:rPr>
              <a:t>and</a:t>
            </a:r>
            <a:r>
              <a:rPr dirty="0" sz="1800" spc="-2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AEBDD2"/>
                </a:solidFill>
                <a:latin typeface="Arial"/>
                <a:cs typeface="Arial"/>
              </a:rPr>
              <a:t>ROI.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2751" y="5690615"/>
            <a:ext cx="10840085" cy="535305"/>
            <a:chOff x="682751" y="5690615"/>
            <a:chExt cx="10840085" cy="53530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751" y="5690615"/>
              <a:ext cx="10840085" cy="53475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33043" y="5716523"/>
              <a:ext cx="10744200" cy="439420"/>
            </a:xfrm>
            <a:custGeom>
              <a:avLst/>
              <a:gdLst/>
              <a:ahLst/>
              <a:cxnLst/>
              <a:rect l="l" t="t" r="r" b="b"/>
              <a:pathLst>
                <a:path w="10744200" h="439420">
                  <a:moveTo>
                    <a:pt x="10671048" y="0"/>
                  </a:moveTo>
                  <a:lnTo>
                    <a:pt x="73151" y="0"/>
                  </a:lnTo>
                  <a:lnTo>
                    <a:pt x="44678" y="5748"/>
                  </a:lnTo>
                  <a:lnTo>
                    <a:pt x="21426" y="21426"/>
                  </a:lnTo>
                  <a:lnTo>
                    <a:pt x="5748" y="44678"/>
                  </a:lnTo>
                  <a:lnTo>
                    <a:pt x="0" y="73151"/>
                  </a:lnTo>
                  <a:lnTo>
                    <a:pt x="0" y="365759"/>
                  </a:lnTo>
                  <a:lnTo>
                    <a:pt x="5748" y="394233"/>
                  </a:lnTo>
                  <a:lnTo>
                    <a:pt x="21426" y="417485"/>
                  </a:lnTo>
                  <a:lnTo>
                    <a:pt x="44678" y="433163"/>
                  </a:lnTo>
                  <a:lnTo>
                    <a:pt x="73151" y="438911"/>
                  </a:lnTo>
                  <a:lnTo>
                    <a:pt x="10671048" y="438911"/>
                  </a:lnTo>
                  <a:lnTo>
                    <a:pt x="10699515" y="433163"/>
                  </a:lnTo>
                  <a:lnTo>
                    <a:pt x="10722768" y="417485"/>
                  </a:lnTo>
                  <a:lnTo>
                    <a:pt x="10738449" y="394233"/>
                  </a:lnTo>
                  <a:lnTo>
                    <a:pt x="10744200" y="365759"/>
                  </a:lnTo>
                  <a:lnTo>
                    <a:pt x="10744200" y="73151"/>
                  </a:lnTo>
                  <a:lnTo>
                    <a:pt x="10738449" y="44678"/>
                  </a:lnTo>
                  <a:lnTo>
                    <a:pt x="10722768" y="21426"/>
                  </a:lnTo>
                  <a:lnTo>
                    <a:pt x="10699515" y="5748"/>
                  </a:lnTo>
                  <a:lnTo>
                    <a:pt x="10671048" y="0"/>
                  </a:lnTo>
                  <a:close/>
                </a:path>
              </a:pathLst>
            </a:custGeom>
            <a:solidFill>
              <a:srgbClr val="0C2F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33043" y="5716523"/>
              <a:ext cx="10744200" cy="439420"/>
            </a:xfrm>
            <a:custGeom>
              <a:avLst/>
              <a:gdLst/>
              <a:ahLst/>
              <a:cxnLst/>
              <a:rect l="l" t="t" r="r" b="b"/>
              <a:pathLst>
                <a:path w="10744200" h="439420">
                  <a:moveTo>
                    <a:pt x="0" y="73151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1" y="0"/>
                  </a:lnTo>
                  <a:lnTo>
                    <a:pt x="10671048" y="0"/>
                  </a:lnTo>
                  <a:lnTo>
                    <a:pt x="10699515" y="5748"/>
                  </a:lnTo>
                  <a:lnTo>
                    <a:pt x="10722768" y="21426"/>
                  </a:lnTo>
                  <a:lnTo>
                    <a:pt x="10738449" y="44678"/>
                  </a:lnTo>
                  <a:lnTo>
                    <a:pt x="10744200" y="73151"/>
                  </a:lnTo>
                  <a:lnTo>
                    <a:pt x="10744200" y="365759"/>
                  </a:lnTo>
                  <a:lnTo>
                    <a:pt x="10738449" y="394233"/>
                  </a:lnTo>
                  <a:lnTo>
                    <a:pt x="10722768" y="417485"/>
                  </a:lnTo>
                  <a:lnTo>
                    <a:pt x="10699515" y="433163"/>
                  </a:lnTo>
                  <a:lnTo>
                    <a:pt x="10671048" y="438911"/>
                  </a:lnTo>
                  <a:lnTo>
                    <a:pt x="73151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9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039164" y="5839155"/>
            <a:ext cx="898969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KEY</a:t>
            </a:r>
            <a:r>
              <a:rPr dirty="0" sz="1400" spc="-7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QUESTION</a:t>
            </a:r>
            <a:r>
              <a:rPr dirty="0" sz="1400" spc="31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→</a:t>
            </a:r>
            <a:r>
              <a:rPr dirty="0" sz="1400" spc="29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0C7FF"/>
                </a:solidFill>
                <a:latin typeface="Arial"/>
                <a:cs typeface="Arial"/>
              </a:rPr>
              <a:t>Which</a:t>
            </a:r>
            <a:r>
              <a:rPr dirty="0" sz="1400" spc="-8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AI</a:t>
            </a:r>
            <a:r>
              <a:rPr dirty="0" sz="1400" spc="-2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tools</a:t>
            </a:r>
            <a:r>
              <a:rPr dirty="0" sz="1400" spc="-2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generate</a:t>
            </a:r>
            <a:r>
              <a:rPr dirty="0" sz="1400" spc="-2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the</a:t>
            </a:r>
            <a:r>
              <a:rPr dirty="0" sz="1400" spc="-4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strongest</a:t>
            </a:r>
            <a:r>
              <a:rPr dirty="0" sz="1400" spc="-1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return,</a:t>
            </a:r>
            <a:r>
              <a:rPr dirty="0" sz="1400" spc="-4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and</a:t>
            </a:r>
            <a:r>
              <a:rPr dirty="0" sz="1400" spc="-3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where</a:t>
            </a:r>
            <a:r>
              <a:rPr dirty="0" sz="1400" spc="-4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should</a:t>
            </a:r>
            <a:r>
              <a:rPr dirty="0" sz="1400" spc="-3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future</a:t>
            </a:r>
            <a:r>
              <a:rPr dirty="0" sz="1400" spc="-2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investment</a:t>
            </a:r>
            <a:r>
              <a:rPr dirty="0" sz="1400" spc="1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00C7FF"/>
                </a:solidFill>
                <a:latin typeface="Arial"/>
                <a:cs typeface="Arial"/>
              </a:rPr>
              <a:t>go?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142726" y="6514895"/>
            <a:ext cx="440055" cy="1549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02</a:t>
            </a:r>
            <a:r>
              <a:rPr dirty="0" sz="900" spc="24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/</a:t>
            </a:r>
            <a:r>
              <a:rPr dirty="0" sz="900" spc="24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AEBDD2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Real</a:t>
            </a:r>
            <a:r>
              <a:rPr dirty="0" spc="-30"/>
              <a:t> </a:t>
            </a:r>
            <a:r>
              <a:rPr dirty="0"/>
              <a:t>Dataset</a:t>
            </a:r>
            <a:r>
              <a:rPr dirty="0" spc="-20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836" y="871855"/>
            <a:ext cx="318833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AEBDD2"/>
                </a:solidFill>
                <a:latin typeface="Microsoft Sans Serif"/>
                <a:cs typeface="Microsoft Sans Serif"/>
              </a:rPr>
              <a:t>AI</a:t>
            </a:r>
            <a:r>
              <a:rPr dirty="0" sz="1100" spc="-10">
                <a:solidFill>
                  <a:srgbClr val="AEBDD2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AEBDD2"/>
                </a:solidFill>
                <a:latin typeface="Microsoft Sans Serif"/>
                <a:cs typeface="Microsoft Sans Serif"/>
              </a:rPr>
              <a:t>Tools</a:t>
            </a:r>
            <a:r>
              <a:rPr dirty="0" sz="1100" spc="-15">
                <a:solidFill>
                  <a:srgbClr val="AEBDD2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AEBDD2"/>
                </a:solidFill>
                <a:latin typeface="Microsoft Sans Serif"/>
                <a:cs typeface="Microsoft Sans Serif"/>
              </a:rPr>
              <a:t>ROI</a:t>
            </a:r>
            <a:r>
              <a:rPr dirty="0" sz="1100" spc="-35">
                <a:solidFill>
                  <a:srgbClr val="AEBDD2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AEBDD2"/>
                </a:solidFill>
                <a:latin typeface="Microsoft Sans Serif"/>
                <a:cs typeface="Microsoft Sans Serif"/>
              </a:rPr>
              <a:t>Calculator</a:t>
            </a:r>
            <a:r>
              <a:rPr dirty="0" sz="1100" spc="-20">
                <a:solidFill>
                  <a:srgbClr val="AEBDD2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AEBDD2"/>
                </a:solidFill>
                <a:latin typeface="Microsoft Sans Serif"/>
                <a:cs typeface="Microsoft Sans Serif"/>
              </a:rPr>
              <a:t>•</a:t>
            </a:r>
            <a:r>
              <a:rPr dirty="0" sz="1100" spc="-20">
                <a:solidFill>
                  <a:srgbClr val="AEBDD2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AEBDD2"/>
                </a:solidFill>
                <a:latin typeface="Microsoft Sans Serif"/>
                <a:cs typeface="Microsoft Sans Serif"/>
              </a:rPr>
              <a:t>workbook-driven</a:t>
            </a:r>
            <a:r>
              <a:rPr dirty="0" sz="1100" spc="-50">
                <a:solidFill>
                  <a:srgbClr val="AEBDD2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AEBDD2"/>
                </a:solidFill>
                <a:latin typeface="Microsoft Sans Serif"/>
                <a:cs typeface="Microsoft Sans Serif"/>
              </a:rPr>
              <a:t>analysis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7031" y="1301496"/>
            <a:ext cx="2564765" cy="1330325"/>
            <a:chOff x="637031" y="1301496"/>
            <a:chExt cx="2564765" cy="13303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031" y="1301496"/>
              <a:ext cx="2564765" cy="13301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7323" y="1327404"/>
              <a:ext cx="2468880" cy="1234440"/>
            </a:xfrm>
            <a:custGeom>
              <a:avLst/>
              <a:gdLst/>
              <a:ahLst/>
              <a:cxnLst/>
              <a:rect l="l" t="t" r="r" b="b"/>
              <a:pathLst>
                <a:path w="2468880" h="1234439">
                  <a:moveTo>
                    <a:pt x="2263140" y="0"/>
                  </a:moveTo>
                  <a:lnTo>
                    <a:pt x="205739" y="0"/>
                  </a:lnTo>
                  <a:lnTo>
                    <a:pt x="158565" y="5431"/>
                  </a:lnTo>
                  <a:lnTo>
                    <a:pt x="115260" y="20905"/>
                  </a:lnTo>
                  <a:lnTo>
                    <a:pt x="77060" y="45186"/>
                  </a:lnTo>
                  <a:lnTo>
                    <a:pt x="45198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3" y="1075886"/>
                  </a:lnTo>
                  <a:lnTo>
                    <a:pt x="20911" y="1119195"/>
                  </a:lnTo>
                  <a:lnTo>
                    <a:pt x="45198" y="1157395"/>
                  </a:lnTo>
                  <a:lnTo>
                    <a:pt x="77060" y="1189253"/>
                  </a:lnTo>
                  <a:lnTo>
                    <a:pt x="115260" y="1213534"/>
                  </a:lnTo>
                  <a:lnTo>
                    <a:pt x="158565" y="1229008"/>
                  </a:lnTo>
                  <a:lnTo>
                    <a:pt x="205739" y="1234440"/>
                  </a:lnTo>
                  <a:lnTo>
                    <a:pt x="2263140" y="1234440"/>
                  </a:lnTo>
                  <a:lnTo>
                    <a:pt x="2310326" y="1229008"/>
                  </a:lnTo>
                  <a:lnTo>
                    <a:pt x="2353635" y="1213534"/>
                  </a:lnTo>
                  <a:lnTo>
                    <a:pt x="2391835" y="1189253"/>
                  </a:lnTo>
                  <a:lnTo>
                    <a:pt x="2423693" y="1157395"/>
                  </a:lnTo>
                  <a:lnTo>
                    <a:pt x="2447974" y="1119195"/>
                  </a:lnTo>
                  <a:lnTo>
                    <a:pt x="2463448" y="1075886"/>
                  </a:lnTo>
                  <a:lnTo>
                    <a:pt x="2468880" y="1028700"/>
                  </a:lnTo>
                  <a:lnTo>
                    <a:pt x="2468880" y="205740"/>
                  </a:lnTo>
                  <a:lnTo>
                    <a:pt x="2463448" y="158553"/>
                  </a:lnTo>
                  <a:lnTo>
                    <a:pt x="2447974" y="115244"/>
                  </a:lnTo>
                  <a:lnTo>
                    <a:pt x="2423693" y="77044"/>
                  </a:lnTo>
                  <a:lnTo>
                    <a:pt x="2391835" y="45186"/>
                  </a:lnTo>
                  <a:lnTo>
                    <a:pt x="2353635" y="20905"/>
                  </a:lnTo>
                  <a:lnTo>
                    <a:pt x="2310326" y="5431"/>
                  </a:lnTo>
                  <a:lnTo>
                    <a:pt x="226314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7323" y="1327404"/>
              <a:ext cx="2468880" cy="1234440"/>
            </a:xfrm>
            <a:custGeom>
              <a:avLst/>
              <a:gdLst/>
              <a:ahLst/>
              <a:cxnLst/>
              <a:rect l="l" t="t" r="r" b="b"/>
              <a:pathLst>
                <a:path w="2468880" h="1234439">
                  <a:moveTo>
                    <a:pt x="0" y="205740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8" y="77044"/>
                  </a:lnTo>
                  <a:lnTo>
                    <a:pt x="77060" y="45186"/>
                  </a:lnTo>
                  <a:lnTo>
                    <a:pt x="115260" y="20905"/>
                  </a:lnTo>
                  <a:lnTo>
                    <a:pt x="158565" y="5431"/>
                  </a:lnTo>
                  <a:lnTo>
                    <a:pt x="205739" y="0"/>
                  </a:lnTo>
                  <a:lnTo>
                    <a:pt x="2263140" y="0"/>
                  </a:lnTo>
                  <a:lnTo>
                    <a:pt x="2310326" y="5431"/>
                  </a:lnTo>
                  <a:lnTo>
                    <a:pt x="2353635" y="20905"/>
                  </a:lnTo>
                  <a:lnTo>
                    <a:pt x="2391835" y="45186"/>
                  </a:lnTo>
                  <a:lnTo>
                    <a:pt x="2423693" y="77044"/>
                  </a:lnTo>
                  <a:lnTo>
                    <a:pt x="2447974" y="115244"/>
                  </a:lnTo>
                  <a:lnTo>
                    <a:pt x="2463448" y="158553"/>
                  </a:lnTo>
                  <a:lnTo>
                    <a:pt x="2468880" y="205740"/>
                  </a:lnTo>
                  <a:lnTo>
                    <a:pt x="2468880" y="1028700"/>
                  </a:lnTo>
                  <a:lnTo>
                    <a:pt x="2463448" y="1075886"/>
                  </a:lnTo>
                  <a:lnTo>
                    <a:pt x="2447974" y="1119195"/>
                  </a:lnTo>
                  <a:lnTo>
                    <a:pt x="2423693" y="1157395"/>
                  </a:lnTo>
                  <a:lnTo>
                    <a:pt x="2391835" y="1189253"/>
                  </a:lnTo>
                  <a:lnTo>
                    <a:pt x="2353635" y="1213534"/>
                  </a:lnTo>
                  <a:lnTo>
                    <a:pt x="2310326" y="1229008"/>
                  </a:lnTo>
                  <a:lnTo>
                    <a:pt x="2263140" y="1234440"/>
                  </a:lnTo>
                  <a:lnTo>
                    <a:pt x="205739" y="1234440"/>
                  </a:lnTo>
                  <a:lnTo>
                    <a:pt x="158565" y="1229008"/>
                  </a:lnTo>
                  <a:lnTo>
                    <a:pt x="115260" y="1213534"/>
                  </a:lnTo>
                  <a:lnTo>
                    <a:pt x="77060" y="1189253"/>
                  </a:lnTo>
                  <a:lnTo>
                    <a:pt x="45198" y="1157395"/>
                  </a:lnTo>
                  <a:lnTo>
                    <a:pt x="20911" y="1119195"/>
                  </a:lnTo>
                  <a:lnTo>
                    <a:pt x="5433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29436" y="1533525"/>
            <a:ext cx="537845" cy="724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00C7FF"/>
                </a:solidFill>
                <a:latin typeface="Arial"/>
                <a:cs typeface="Arial"/>
              </a:rPr>
              <a:t>295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100" spc="-20">
                <a:solidFill>
                  <a:srgbClr val="AEBDD2"/>
                </a:solidFill>
                <a:latin typeface="Arial Black"/>
                <a:cs typeface="Arial Black"/>
              </a:rPr>
              <a:t>Rows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34511" y="1301496"/>
            <a:ext cx="2564765" cy="1330325"/>
            <a:chOff x="3334511" y="1301496"/>
            <a:chExt cx="2564765" cy="13303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4511" y="1301496"/>
              <a:ext cx="2564765" cy="133019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384803" y="1327404"/>
              <a:ext cx="2468880" cy="1234440"/>
            </a:xfrm>
            <a:custGeom>
              <a:avLst/>
              <a:gdLst/>
              <a:ahLst/>
              <a:cxnLst/>
              <a:rect l="l" t="t" r="r" b="b"/>
              <a:pathLst>
                <a:path w="2468879" h="1234439">
                  <a:moveTo>
                    <a:pt x="2263140" y="0"/>
                  </a:moveTo>
                  <a:lnTo>
                    <a:pt x="205740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40" y="1234440"/>
                  </a:lnTo>
                  <a:lnTo>
                    <a:pt x="2263140" y="1234440"/>
                  </a:lnTo>
                  <a:lnTo>
                    <a:pt x="2310326" y="1229008"/>
                  </a:lnTo>
                  <a:lnTo>
                    <a:pt x="2353635" y="1213534"/>
                  </a:lnTo>
                  <a:lnTo>
                    <a:pt x="2391835" y="1189253"/>
                  </a:lnTo>
                  <a:lnTo>
                    <a:pt x="2423693" y="1157395"/>
                  </a:lnTo>
                  <a:lnTo>
                    <a:pt x="2447974" y="1119195"/>
                  </a:lnTo>
                  <a:lnTo>
                    <a:pt x="2463448" y="1075886"/>
                  </a:lnTo>
                  <a:lnTo>
                    <a:pt x="2468880" y="1028700"/>
                  </a:lnTo>
                  <a:lnTo>
                    <a:pt x="2468880" y="205740"/>
                  </a:lnTo>
                  <a:lnTo>
                    <a:pt x="2463448" y="158553"/>
                  </a:lnTo>
                  <a:lnTo>
                    <a:pt x="2447974" y="115244"/>
                  </a:lnTo>
                  <a:lnTo>
                    <a:pt x="2423693" y="77044"/>
                  </a:lnTo>
                  <a:lnTo>
                    <a:pt x="2391835" y="45186"/>
                  </a:lnTo>
                  <a:lnTo>
                    <a:pt x="2353635" y="20905"/>
                  </a:lnTo>
                  <a:lnTo>
                    <a:pt x="2310326" y="5431"/>
                  </a:lnTo>
                  <a:lnTo>
                    <a:pt x="226314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84803" y="1327404"/>
              <a:ext cx="2468880" cy="1234440"/>
            </a:xfrm>
            <a:custGeom>
              <a:avLst/>
              <a:gdLst/>
              <a:ahLst/>
              <a:cxnLst/>
              <a:rect l="l" t="t" r="r" b="b"/>
              <a:pathLst>
                <a:path w="2468879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40" y="0"/>
                  </a:lnTo>
                  <a:lnTo>
                    <a:pt x="2263140" y="0"/>
                  </a:lnTo>
                  <a:lnTo>
                    <a:pt x="2310326" y="5431"/>
                  </a:lnTo>
                  <a:lnTo>
                    <a:pt x="2353635" y="20905"/>
                  </a:lnTo>
                  <a:lnTo>
                    <a:pt x="2391835" y="45186"/>
                  </a:lnTo>
                  <a:lnTo>
                    <a:pt x="2423693" y="77044"/>
                  </a:lnTo>
                  <a:lnTo>
                    <a:pt x="2447974" y="115244"/>
                  </a:lnTo>
                  <a:lnTo>
                    <a:pt x="2463448" y="158553"/>
                  </a:lnTo>
                  <a:lnTo>
                    <a:pt x="2468880" y="205740"/>
                  </a:lnTo>
                  <a:lnTo>
                    <a:pt x="2468880" y="1028700"/>
                  </a:lnTo>
                  <a:lnTo>
                    <a:pt x="2463448" y="1075886"/>
                  </a:lnTo>
                  <a:lnTo>
                    <a:pt x="2447974" y="1119195"/>
                  </a:lnTo>
                  <a:lnTo>
                    <a:pt x="2423693" y="1157395"/>
                  </a:lnTo>
                  <a:lnTo>
                    <a:pt x="2391835" y="1189253"/>
                  </a:lnTo>
                  <a:lnTo>
                    <a:pt x="2353635" y="1213534"/>
                  </a:lnTo>
                  <a:lnTo>
                    <a:pt x="2310326" y="1229008"/>
                  </a:lnTo>
                  <a:lnTo>
                    <a:pt x="2263140" y="1234440"/>
                  </a:lnTo>
                  <a:lnTo>
                    <a:pt x="205740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3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627501" y="1533525"/>
            <a:ext cx="653415" cy="724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00C7FF"/>
                </a:solidFill>
                <a:latin typeface="Arial"/>
                <a:cs typeface="Arial"/>
              </a:rPr>
              <a:t>8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100">
                <a:solidFill>
                  <a:srgbClr val="AEBDD2"/>
                </a:solidFill>
                <a:latin typeface="Arial Black"/>
                <a:cs typeface="Arial Black"/>
              </a:rPr>
              <a:t>AI</a:t>
            </a:r>
            <a:r>
              <a:rPr dirty="0" sz="1100" spc="-2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AEBDD2"/>
                </a:solidFill>
                <a:latin typeface="Arial Black"/>
                <a:cs typeface="Arial Black"/>
              </a:rPr>
              <a:t>Tools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31991" y="1301496"/>
            <a:ext cx="2564765" cy="1330325"/>
            <a:chOff x="6031991" y="1301496"/>
            <a:chExt cx="2564765" cy="13303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1991" y="1301496"/>
              <a:ext cx="2564765" cy="133019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082283" y="1327404"/>
              <a:ext cx="2468880" cy="1234440"/>
            </a:xfrm>
            <a:custGeom>
              <a:avLst/>
              <a:gdLst/>
              <a:ahLst/>
              <a:cxnLst/>
              <a:rect l="l" t="t" r="r" b="b"/>
              <a:pathLst>
                <a:path w="2468879" h="1234439">
                  <a:moveTo>
                    <a:pt x="2263140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40"/>
                  </a:lnTo>
                  <a:lnTo>
                    <a:pt x="2263140" y="1234440"/>
                  </a:lnTo>
                  <a:lnTo>
                    <a:pt x="2310326" y="1229008"/>
                  </a:lnTo>
                  <a:lnTo>
                    <a:pt x="2353635" y="1213534"/>
                  </a:lnTo>
                  <a:lnTo>
                    <a:pt x="2391835" y="1189253"/>
                  </a:lnTo>
                  <a:lnTo>
                    <a:pt x="2423693" y="1157395"/>
                  </a:lnTo>
                  <a:lnTo>
                    <a:pt x="2447974" y="1119195"/>
                  </a:lnTo>
                  <a:lnTo>
                    <a:pt x="2463448" y="1075886"/>
                  </a:lnTo>
                  <a:lnTo>
                    <a:pt x="2468880" y="1028700"/>
                  </a:lnTo>
                  <a:lnTo>
                    <a:pt x="2468880" y="205740"/>
                  </a:lnTo>
                  <a:lnTo>
                    <a:pt x="2463448" y="158553"/>
                  </a:lnTo>
                  <a:lnTo>
                    <a:pt x="2447974" y="115244"/>
                  </a:lnTo>
                  <a:lnTo>
                    <a:pt x="2423693" y="77044"/>
                  </a:lnTo>
                  <a:lnTo>
                    <a:pt x="2391835" y="45186"/>
                  </a:lnTo>
                  <a:lnTo>
                    <a:pt x="2353635" y="20905"/>
                  </a:lnTo>
                  <a:lnTo>
                    <a:pt x="2310326" y="5431"/>
                  </a:lnTo>
                  <a:lnTo>
                    <a:pt x="226314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082283" y="1327404"/>
              <a:ext cx="2468880" cy="1234440"/>
            </a:xfrm>
            <a:custGeom>
              <a:avLst/>
              <a:gdLst/>
              <a:ahLst/>
              <a:cxnLst/>
              <a:rect l="l" t="t" r="r" b="b"/>
              <a:pathLst>
                <a:path w="2468879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2263140" y="0"/>
                  </a:lnTo>
                  <a:lnTo>
                    <a:pt x="2310326" y="5431"/>
                  </a:lnTo>
                  <a:lnTo>
                    <a:pt x="2353635" y="20905"/>
                  </a:lnTo>
                  <a:lnTo>
                    <a:pt x="2391835" y="45186"/>
                  </a:lnTo>
                  <a:lnTo>
                    <a:pt x="2423693" y="77044"/>
                  </a:lnTo>
                  <a:lnTo>
                    <a:pt x="2447974" y="115244"/>
                  </a:lnTo>
                  <a:lnTo>
                    <a:pt x="2463448" y="158553"/>
                  </a:lnTo>
                  <a:lnTo>
                    <a:pt x="2468880" y="205740"/>
                  </a:lnTo>
                  <a:lnTo>
                    <a:pt x="2468880" y="1028700"/>
                  </a:lnTo>
                  <a:lnTo>
                    <a:pt x="2463448" y="1075886"/>
                  </a:lnTo>
                  <a:lnTo>
                    <a:pt x="2447974" y="1119195"/>
                  </a:lnTo>
                  <a:lnTo>
                    <a:pt x="2423693" y="1157395"/>
                  </a:lnTo>
                  <a:lnTo>
                    <a:pt x="2391835" y="1189253"/>
                  </a:lnTo>
                  <a:lnTo>
                    <a:pt x="2353635" y="1213534"/>
                  </a:lnTo>
                  <a:lnTo>
                    <a:pt x="2310326" y="1229008"/>
                  </a:lnTo>
                  <a:lnTo>
                    <a:pt x="2263140" y="1234440"/>
                  </a:lnTo>
                  <a:lnTo>
                    <a:pt x="205739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3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325615" y="1533525"/>
            <a:ext cx="1016000" cy="724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00C7FF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100" spc="-10">
                <a:solidFill>
                  <a:srgbClr val="AEBDD2"/>
                </a:solidFill>
                <a:latin typeface="Arial Black"/>
                <a:cs typeface="Arial Black"/>
              </a:rPr>
              <a:t>Departments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29471" y="1301496"/>
            <a:ext cx="2564765" cy="1330325"/>
            <a:chOff x="8729471" y="1301496"/>
            <a:chExt cx="2564765" cy="133032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29471" y="1301496"/>
              <a:ext cx="2564764" cy="133019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779763" y="1327404"/>
              <a:ext cx="2468880" cy="1234440"/>
            </a:xfrm>
            <a:custGeom>
              <a:avLst/>
              <a:gdLst/>
              <a:ahLst/>
              <a:cxnLst/>
              <a:rect l="l" t="t" r="r" b="b"/>
              <a:pathLst>
                <a:path w="2468879" h="1234439">
                  <a:moveTo>
                    <a:pt x="226313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40"/>
                  </a:lnTo>
                  <a:lnTo>
                    <a:pt x="2263139" y="1234440"/>
                  </a:lnTo>
                  <a:lnTo>
                    <a:pt x="2310326" y="1229008"/>
                  </a:lnTo>
                  <a:lnTo>
                    <a:pt x="2353635" y="1213534"/>
                  </a:lnTo>
                  <a:lnTo>
                    <a:pt x="2391835" y="1189253"/>
                  </a:lnTo>
                  <a:lnTo>
                    <a:pt x="2423693" y="1157395"/>
                  </a:lnTo>
                  <a:lnTo>
                    <a:pt x="2447974" y="1119195"/>
                  </a:lnTo>
                  <a:lnTo>
                    <a:pt x="2463448" y="1075886"/>
                  </a:lnTo>
                  <a:lnTo>
                    <a:pt x="2468879" y="1028700"/>
                  </a:lnTo>
                  <a:lnTo>
                    <a:pt x="2468879" y="205740"/>
                  </a:lnTo>
                  <a:lnTo>
                    <a:pt x="2463448" y="158553"/>
                  </a:lnTo>
                  <a:lnTo>
                    <a:pt x="2447974" y="115244"/>
                  </a:lnTo>
                  <a:lnTo>
                    <a:pt x="2423693" y="77044"/>
                  </a:lnTo>
                  <a:lnTo>
                    <a:pt x="2391835" y="45186"/>
                  </a:lnTo>
                  <a:lnTo>
                    <a:pt x="2353635" y="20905"/>
                  </a:lnTo>
                  <a:lnTo>
                    <a:pt x="2310326" y="5431"/>
                  </a:lnTo>
                  <a:lnTo>
                    <a:pt x="226313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779763" y="1327404"/>
              <a:ext cx="2468880" cy="1234440"/>
            </a:xfrm>
            <a:custGeom>
              <a:avLst/>
              <a:gdLst/>
              <a:ahLst/>
              <a:cxnLst/>
              <a:rect l="l" t="t" r="r" b="b"/>
              <a:pathLst>
                <a:path w="2468879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2263139" y="0"/>
                  </a:lnTo>
                  <a:lnTo>
                    <a:pt x="2310326" y="5431"/>
                  </a:lnTo>
                  <a:lnTo>
                    <a:pt x="2353635" y="20905"/>
                  </a:lnTo>
                  <a:lnTo>
                    <a:pt x="2391835" y="45186"/>
                  </a:lnTo>
                  <a:lnTo>
                    <a:pt x="2423693" y="77044"/>
                  </a:lnTo>
                  <a:lnTo>
                    <a:pt x="2447974" y="115244"/>
                  </a:lnTo>
                  <a:lnTo>
                    <a:pt x="2463448" y="158553"/>
                  </a:lnTo>
                  <a:lnTo>
                    <a:pt x="2468879" y="205740"/>
                  </a:lnTo>
                  <a:lnTo>
                    <a:pt x="2468879" y="1028700"/>
                  </a:lnTo>
                  <a:lnTo>
                    <a:pt x="2463448" y="1075886"/>
                  </a:lnTo>
                  <a:lnTo>
                    <a:pt x="2447974" y="1119195"/>
                  </a:lnTo>
                  <a:lnTo>
                    <a:pt x="2423693" y="1157395"/>
                  </a:lnTo>
                  <a:lnTo>
                    <a:pt x="2391835" y="1189253"/>
                  </a:lnTo>
                  <a:lnTo>
                    <a:pt x="2353635" y="1213534"/>
                  </a:lnTo>
                  <a:lnTo>
                    <a:pt x="2310326" y="1229008"/>
                  </a:lnTo>
                  <a:lnTo>
                    <a:pt x="2263139" y="1234440"/>
                  </a:lnTo>
                  <a:lnTo>
                    <a:pt x="205739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023731" y="1533525"/>
            <a:ext cx="930275" cy="724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41DC95"/>
                </a:solidFill>
                <a:latin typeface="Arial"/>
                <a:cs typeface="Arial"/>
              </a:rPr>
              <a:t>$306K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100">
                <a:solidFill>
                  <a:srgbClr val="AEBDD2"/>
                </a:solidFill>
                <a:latin typeface="Arial Black"/>
                <a:cs typeface="Arial Black"/>
              </a:rPr>
              <a:t>Total</a:t>
            </a:r>
            <a:r>
              <a:rPr dirty="0" sz="1100" spc="-50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100" spc="-20">
                <a:solidFill>
                  <a:srgbClr val="AEBDD2"/>
                </a:solidFill>
                <a:latin typeface="Arial Black"/>
                <a:cs typeface="Arial Black"/>
              </a:rPr>
              <a:t>Cost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7031" y="2901632"/>
            <a:ext cx="5307965" cy="2747645"/>
            <a:chOff x="637031" y="2901632"/>
            <a:chExt cx="5307965" cy="274764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031" y="2901632"/>
              <a:ext cx="5307965" cy="27476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87323" y="2927604"/>
              <a:ext cx="5212080" cy="2651760"/>
            </a:xfrm>
            <a:custGeom>
              <a:avLst/>
              <a:gdLst/>
              <a:ahLst/>
              <a:cxnLst/>
              <a:rect l="l" t="t" r="r" b="b"/>
              <a:pathLst>
                <a:path w="5212080" h="2651760">
                  <a:moveTo>
                    <a:pt x="4770120" y="0"/>
                  </a:moveTo>
                  <a:lnTo>
                    <a:pt x="441972" y="0"/>
                  </a:lnTo>
                  <a:lnTo>
                    <a:pt x="393815" y="2593"/>
                  </a:lnTo>
                  <a:lnTo>
                    <a:pt x="347159" y="10193"/>
                  </a:lnTo>
                  <a:lnTo>
                    <a:pt x="302275" y="22530"/>
                  </a:lnTo>
                  <a:lnTo>
                    <a:pt x="259432" y="39335"/>
                  </a:lnTo>
                  <a:lnTo>
                    <a:pt x="218900" y="60339"/>
                  </a:lnTo>
                  <a:lnTo>
                    <a:pt x="180949" y="85270"/>
                  </a:lnTo>
                  <a:lnTo>
                    <a:pt x="145848" y="113861"/>
                  </a:lnTo>
                  <a:lnTo>
                    <a:pt x="113867" y="145841"/>
                  </a:lnTo>
                  <a:lnTo>
                    <a:pt x="85275" y="180941"/>
                  </a:lnTo>
                  <a:lnTo>
                    <a:pt x="60342" y="218891"/>
                  </a:lnTo>
                  <a:lnTo>
                    <a:pt x="39338" y="259422"/>
                  </a:lnTo>
                  <a:lnTo>
                    <a:pt x="22532" y="302264"/>
                  </a:lnTo>
                  <a:lnTo>
                    <a:pt x="10194" y="347147"/>
                  </a:lnTo>
                  <a:lnTo>
                    <a:pt x="2593" y="393802"/>
                  </a:lnTo>
                  <a:lnTo>
                    <a:pt x="0" y="441960"/>
                  </a:lnTo>
                  <a:lnTo>
                    <a:pt x="0" y="2209800"/>
                  </a:lnTo>
                  <a:lnTo>
                    <a:pt x="2593" y="2257957"/>
                  </a:lnTo>
                  <a:lnTo>
                    <a:pt x="10194" y="2304612"/>
                  </a:lnTo>
                  <a:lnTo>
                    <a:pt x="22532" y="2349495"/>
                  </a:lnTo>
                  <a:lnTo>
                    <a:pt x="39338" y="2392337"/>
                  </a:lnTo>
                  <a:lnTo>
                    <a:pt x="60342" y="2432868"/>
                  </a:lnTo>
                  <a:lnTo>
                    <a:pt x="85275" y="2470818"/>
                  </a:lnTo>
                  <a:lnTo>
                    <a:pt x="113867" y="2505918"/>
                  </a:lnTo>
                  <a:lnTo>
                    <a:pt x="145848" y="2537898"/>
                  </a:lnTo>
                  <a:lnTo>
                    <a:pt x="180949" y="2566489"/>
                  </a:lnTo>
                  <a:lnTo>
                    <a:pt x="218900" y="2591420"/>
                  </a:lnTo>
                  <a:lnTo>
                    <a:pt x="259432" y="2612424"/>
                  </a:lnTo>
                  <a:lnTo>
                    <a:pt x="302275" y="2629229"/>
                  </a:lnTo>
                  <a:lnTo>
                    <a:pt x="347159" y="2641566"/>
                  </a:lnTo>
                  <a:lnTo>
                    <a:pt x="393815" y="2649166"/>
                  </a:lnTo>
                  <a:lnTo>
                    <a:pt x="441972" y="2651760"/>
                  </a:lnTo>
                  <a:lnTo>
                    <a:pt x="4770120" y="2651760"/>
                  </a:lnTo>
                  <a:lnTo>
                    <a:pt x="4818277" y="2649166"/>
                  </a:lnTo>
                  <a:lnTo>
                    <a:pt x="4864932" y="2641566"/>
                  </a:lnTo>
                  <a:lnTo>
                    <a:pt x="4909815" y="2629229"/>
                  </a:lnTo>
                  <a:lnTo>
                    <a:pt x="4952657" y="2612424"/>
                  </a:lnTo>
                  <a:lnTo>
                    <a:pt x="4993188" y="2591420"/>
                  </a:lnTo>
                  <a:lnTo>
                    <a:pt x="5031138" y="2566489"/>
                  </a:lnTo>
                  <a:lnTo>
                    <a:pt x="5066238" y="2537898"/>
                  </a:lnTo>
                  <a:lnTo>
                    <a:pt x="5098218" y="2505918"/>
                  </a:lnTo>
                  <a:lnTo>
                    <a:pt x="5126809" y="2470818"/>
                  </a:lnTo>
                  <a:lnTo>
                    <a:pt x="5151740" y="2432868"/>
                  </a:lnTo>
                  <a:lnTo>
                    <a:pt x="5172744" y="2392337"/>
                  </a:lnTo>
                  <a:lnTo>
                    <a:pt x="5189549" y="2349495"/>
                  </a:lnTo>
                  <a:lnTo>
                    <a:pt x="5201886" y="2304612"/>
                  </a:lnTo>
                  <a:lnTo>
                    <a:pt x="5209486" y="2257957"/>
                  </a:lnTo>
                  <a:lnTo>
                    <a:pt x="5212080" y="2209800"/>
                  </a:lnTo>
                  <a:lnTo>
                    <a:pt x="5212080" y="441960"/>
                  </a:lnTo>
                  <a:lnTo>
                    <a:pt x="5209486" y="393802"/>
                  </a:lnTo>
                  <a:lnTo>
                    <a:pt x="5201886" y="347147"/>
                  </a:lnTo>
                  <a:lnTo>
                    <a:pt x="5189549" y="302264"/>
                  </a:lnTo>
                  <a:lnTo>
                    <a:pt x="5172744" y="259422"/>
                  </a:lnTo>
                  <a:lnTo>
                    <a:pt x="5151740" y="218891"/>
                  </a:lnTo>
                  <a:lnTo>
                    <a:pt x="5126809" y="180941"/>
                  </a:lnTo>
                  <a:lnTo>
                    <a:pt x="5098218" y="145841"/>
                  </a:lnTo>
                  <a:lnTo>
                    <a:pt x="5066238" y="113861"/>
                  </a:lnTo>
                  <a:lnTo>
                    <a:pt x="5031138" y="85270"/>
                  </a:lnTo>
                  <a:lnTo>
                    <a:pt x="4993188" y="60339"/>
                  </a:lnTo>
                  <a:lnTo>
                    <a:pt x="4952657" y="39335"/>
                  </a:lnTo>
                  <a:lnTo>
                    <a:pt x="4909815" y="22530"/>
                  </a:lnTo>
                  <a:lnTo>
                    <a:pt x="4864932" y="10193"/>
                  </a:lnTo>
                  <a:lnTo>
                    <a:pt x="4818277" y="2593"/>
                  </a:lnTo>
                  <a:lnTo>
                    <a:pt x="477012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87323" y="2927604"/>
              <a:ext cx="5212080" cy="2651760"/>
            </a:xfrm>
            <a:custGeom>
              <a:avLst/>
              <a:gdLst/>
              <a:ahLst/>
              <a:cxnLst/>
              <a:rect l="l" t="t" r="r" b="b"/>
              <a:pathLst>
                <a:path w="5212080" h="2651760">
                  <a:moveTo>
                    <a:pt x="0" y="441960"/>
                  </a:moveTo>
                  <a:lnTo>
                    <a:pt x="2593" y="393802"/>
                  </a:lnTo>
                  <a:lnTo>
                    <a:pt x="10194" y="347147"/>
                  </a:lnTo>
                  <a:lnTo>
                    <a:pt x="22532" y="302264"/>
                  </a:lnTo>
                  <a:lnTo>
                    <a:pt x="39338" y="259422"/>
                  </a:lnTo>
                  <a:lnTo>
                    <a:pt x="60342" y="218891"/>
                  </a:lnTo>
                  <a:lnTo>
                    <a:pt x="85275" y="180941"/>
                  </a:lnTo>
                  <a:lnTo>
                    <a:pt x="113867" y="145841"/>
                  </a:lnTo>
                  <a:lnTo>
                    <a:pt x="145848" y="113861"/>
                  </a:lnTo>
                  <a:lnTo>
                    <a:pt x="180949" y="85270"/>
                  </a:lnTo>
                  <a:lnTo>
                    <a:pt x="218900" y="60339"/>
                  </a:lnTo>
                  <a:lnTo>
                    <a:pt x="259432" y="39335"/>
                  </a:lnTo>
                  <a:lnTo>
                    <a:pt x="302275" y="22530"/>
                  </a:lnTo>
                  <a:lnTo>
                    <a:pt x="347159" y="10193"/>
                  </a:lnTo>
                  <a:lnTo>
                    <a:pt x="393815" y="2593"/>
                  </a:lnTo>
                  <a:lnTo>
                    <a:pt x="441972" y="0"/>
                  </a:lnTo>
                  <a:lnTo>
                    <a:pt x="4770120" y="0"/>
                  </a:lnTo>
                  <a:lnTo>
                    <a:pt x="4818277" y="2593"/>
                  </a:lnTo>
                  <a:lnTo>
                    <a:pt x="4864932" y="10193"/>
                  </a:lnTo>
                  <a:lnTo>
                    <a:pt x="4909815" y="22530"/>
                  </a:lnTo>
                  <a:lnTo>
                    <a:pt x="4952657" y="39335"/>
                  </a:lnTo>
                  <a:lnTo>
                    <a:pt x="4993188" y="60339"/>
                  </a:lnTo>
                  <a:lnTo>
                    <a:pt x="5031138" y="85270"/>
                  </a:lnTo>
                  <a:lnTo>
                    <a:pt x="5066238" y="113861"/>
                  </a:lnTo>
                  <a:lnTo>
                    <a:pt x="5098218" y="145841"/>
                  </a:lnTo>
                  <a:lnTo>
                    <a:pt x="5126809" y="180941"/>
                  </a:lnTo>
                  <a:lnTo>
                    <a:pt x="5151740" y="218891"/>
                  </a:lnTo>
                  <a:lnTo>
                    <a:pt x="5172744" y="259422"/>
                  </a:lnTo>
                  <a:lnTo>
                    <a:pt x="5189549" y="302264"/>
                  </a:lnTo>
                  <a:lnTo>
                    <a:pt x="5201886" y="347147"/>
                  </a:lnTo>
                  <a:lnTo>
                    <a:pt x="5209486" y="393802"/>
                  </a:lnTo>
                  <a:lnTo>
                    <a:pt x="5212080" y="441960"/>
                  </a:lnTo>
                  <a:lnTo>
                    <a:pt x="5212080" y="2209800"/>
                  </a:lnTo>
                  <a:lnTo>
                    <a:pt x="5209486" y="2257957"/>
                  </a:lnTo>
                  <a:lnTo>
                    <a:pt x="5201886" y="2304612"/>
                  </a:lnTo>
                  <a:lnTo>
                    <a:pt x="5189549" y="2349495"/>
                  </a:lnTo>
                  <a:lnTo>
                    <a:pt x="5172744" y="2392337"/>
                  </a:lnTo>
                  <a:lnTo>
                    <a:pt x="5151740" y="2432868"/>
                  </a:lnTo>
                  <a:lnTo>
                    <a:pt x="5126809" y="2470818"/>
                  </a:lnTo>
                  <a:lnTo>
                    <a:pt x="5098218" y="2505918"/>
                  </a:lnTo>
                  <a:lnTo>
                    <a:pt x="5066238" y="2537898"/>
                  </a:lnTo>
                  <a:lnTo>
                    <a:pt x="5031138" y="2566489"/>
                  </a:lnTo>
                  <a:lnTo>
                    <a:pt x="4993188" y="2591420"/>
                  </a:lnTo>
                  <a:lnTo>
                    <a:pt x="4952657" y="2612424"/>
                  </a:lnTo>
                  <a:lnTo>
                    <a:pt x="4909815" y="2629229"/>
                  </a:lnTo>
                  <a:lnTo>
                    <a:pt x="4864932" y="2641566"/>
                  </a:lnTo>
                  <a:lnTo>
                    <a:pt x="4818277" y="2649166"/>
                  </a:lnTo>
                  <a:lnTo>
                    <a:pt x="4770120" y="2651760"/>
                  </a:lnTo>
                  <a:lnTo>
                    <a:pt x="441972" y="2651760"/>
                  </a:lnTo>
                  <a:lnTo>
                    <a:pt x="393815" y="2649166"/>
                  </a:lnTo>
                  <a:lnTo>
                    <a:pt x="347159" y="2641566"/>
                  </a:lnTo>
                  <a:lnTo>
                    <a:pt x="302275" y="2629229"/>
                  </a:lnTo>
                  <a:lnTo>
                    <a:pt x="259432" y="2612424"/>
                  </a:lnTo>
                  <a:lnTo>
                    <a:pt x="218900" y="2591420"/>
                  </a:lnTo>
                  <a:lnTo>
                    <a:pt x="180949" y="2566489"/>
                  </a:lnTo>
                  <a:lnTo>
                    <a:pt x="145848" y="2537898"/>
                  </a:lnTo>
                  <a:lnTo>
                    <a:pt x="113867" y="2505918"/>
                  </a:lnTo>
                  <a:lnTo>
                    <a:pt x="85275" y="2470818"/>
                  </a:lnTo>
                  <a:lnTo>
                    <a:pt x="60342" y="2432868"/>
                  </a:lnTo>
                  <a:lnTo>
                    <a:pt x="39338" y="2392337"/>
                  </a:lnTo>
                  <a:lnTo>
                    <a:pt x="22532" y="2349495"/>
                  </a:lnTo>
                  <a:lnTo>
                    <a:pt x="10194" y="2304612"/>
                  </a:lnTo>
                  <a:lnTo>
                    <a:pt x="2593" y="2257957"/>
                  </a:lnTo>
                  <a:lnTo>
                    <a:pt x="0" y="2209800"/>
                  </a:lnTo>
                  <a:lnTo>
                    <a:pt x="0" y="44196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039164" y="3225800"/>
            <a:ext cx="1643380" cy="626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00C7FF"/>
                </a:solidFill>
                <a:latin typeface="Arial Black"/>
                <a:cs typeface="Arial Black"/>
              </a:rPr>
              <a:t>Core</a:t>
            </a:r>
            <a:r>
              <a:rPr dirty="0" sz="1400" spc="-5">
                <a:solidFill>
                  <a:srgbClr val="00C7FF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0C7FF"/>
                </a:solidFill>
                <a:latin typeface="Arial Black"/>
                <a:cs typeface="Arial Black"/>
              </a:rPr>
              <a:t>dimensions</a:t>
            </a:r>
            <a:endParaRPr sz="1400">
              <a:latin typeface="Arial Black"/>
              <a:cs typeface="Arial Black"/>
            </a:endParaRPr>
          </a:p>
          <a:p>
            <a:pPr marL="107314" indent="-94615">
              <a:lnSpc>
                <a:spcPct val="100000"/>
              </a:lnSpc>
              <a:spcBef>
                <a:spcPts val="1620"/>
              </a:spcBef>
              <a:buChar char="•"/>
              <a:tabLst>
                <a:tab pos="107314" algn="l"/>
              </a:tabLst>
            </a:pPr>
            <a:r>
              <a:rPr dirty="0" sz="1200" spc="-30">
                <a:solidFill>
                  <a:srgbClr val="F5F8FB"/>
                </a:solidFill>
                <a:latin typeface="Microsoft Sans Serif"/>
                <a:cs typeface="Microsoft Sans Serif"/>
              </a:rPr>
              <a:t>Tool</a:t>
            </a:r>
            <a:r>
              <a:rPr dirty="0" sz="1200" spc="-5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F5F8FB"/>
                </a:solidFill>
                <a:latin typeface="Microsoft Sans Serif"/>
                <a:cs typeface="Microsoft Sans Serif"/>
              </a:rPr>
              <a:t>Name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9164" y="3990797"/>
            <a:ext cx="9182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0489" indent="-97790">
              <a:lnSpc>
                <a:spcPct val="100000"/>
              </a:lnSpc>
              <a:spcBef>
                <a:spcPts val="100"/>
              </a:spcBef>
              <a:buChar char="•"/>
              <a:tabLst>
                <a:tab pos="110489" algn="l"/>
              </a:tabLst>
            </a:pPr>
            <a:r>
              <a:rPr dirty="0" sz="1200" spc="-10">
                <a:solidFill>
                  <a:srgbClr val="F5F8FB"/>
                </a:solidFill>
                <a:latin typeface="Microsoft Sans Serif"/>
                <a:cs typeface="Microsoft Sans Serif"/>
              </a:rPr>
              <a:t>Department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39164" y="4338954"/>
            <a:ext cx="1295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695" indent="-86995">
              <a:lnSpc>
                <a:spcPct val="100000"/>
              </a:lnSpc>
              <a:spcBef>
                <a:spcPts val="100"/>
              </a:spcBef>
              <a:buSzPct val="91666"/>
              <a:buChar char="•"/>
              <a:tabLst>
                <a:tab pos="99695" algn="l"/>
              </a:tabLst>
            </a:pPr>
            <a:r>
              <a:rPr dirty="0" sz="1200">
                <a:solidFill>
                  <a:srgbClr val="F5F8FB"/>
                </a:solidFill>
                <a:latin typeface="Microsoft Sans Serif"/>
                <a:cs typeface="Microsoft Sans Serif"/>
              </a:rPr>
              <a:t>Cost</a:t>
            </a:r>
            <a:r>
              <a:rPr dirty="0" sz="1200" spc="-1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F5F8FB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1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F5F8FB"/>
                </a:solidFill>
                <a:latin typeface="Microsoft Sans Serif"/>
                <a:cs typeface="Microsoft Sans Serif"/>
              </a:rPr>
              <a:t>Investment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39164" y="4686122"/>
            <a:ext cx="9023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0489" indent="-97790">
              <a:lnSpc>
                <a:spcPct val="100000"/>
              </a:lnSpc>
              <a:spcBef>
                <a:spcPts val="100"/>
              </a:spcBef>
              <a:buChar char="•"/>
              <a:tabLst>
                <a:tab pos="110489" algn="l"/>
              </a:tabLst>
            </a:pPr>
            <a:r>
              <a:rPr dirty="0" sz="1200">
                <a:solidFill>
                  <a:srgbClr val="F5F8FB"/>
                </a:solidFill>
                <a:latin typeface="Microsoft Sans Serif"/>
                <a:cs typeface="Microsoft Sans Serif"/>
              </a:rPr>
              <a:t>ROI</a:t>
            </a:r>
            <a:r>
              <a:rPr dirty="0" sz="1200" spc="1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F5F8FB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1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F5F8FB"/>
                </a:solidFill>
                <a:latin typeface="Microsoft Sans Serif"/>
                <a:cs typeface="Microsoft Sans Serif"/>
              </a:rPr>
              <a:t>Value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39164" y="5034153"/>
            <a:ext cx="14357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695" indent="-86995">
              <a:lnSpc>
                <a:spcPct val="100000"/>
              </a:lnSpc>
              <a:spcBef>
                <a:spcPts val="100"/>
              </a:spcBef>
              <a:buSzPct val="91666"/>
              <a:buChar char="•"/>
              <a:tabLst>
                <a:tab pos="99695" algn="l"/>
              </a:tabLst>
            </a:pPr>
            <a:r>
              <a:rPr dirty="0" sz="1200">
                <a:solidFill>
                  <a:srgbClr val="F5F8FB"/>
                </a:solidFill>
                <a:latin typeface="Microsoft Sans Serif"/>
                <a:cs typeface="Microsoft Sans Serif"/>
              </a:rPr>
              <a:t>Productivity</a:t>
            </a:r>
            <a:r>
              <a:rPr dirty="0" sz="1200" spc="-6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F5F8FB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-1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F5F8FB"/>
                </a:solidFill>
                <a:latin typeface="Microsoft Sans Serif"/>
                <a:cs typeface="Microsoft Sans Serif"/>
              </a:rPr>
              <a:t>Hours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123432" y="2901632"/>
            <a:ext cx="5170805" cy="2747645"/>
            <a:chOff x="6123432" y="2901632"/>
            <a:chExt cx="5170805" cy="2747645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3432" y="2901632"/>
              <a:ext cx="5170677" cy="274764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173724" y="2927604"/>
              <a:ext cx="5074920" cy="2651760"/>
            </a:xfrm>
            <a:custGeom>
              <a:avLst/>
              <a:gdLst/>
              <a:ahLst/>
              <a:cxnLst/>
              <a:rect l="l" t="t" r="r" b="b"/>
              <a:pathLst>
                <a:path w="5074920" h="2651760">
                  <a:moveTo>
                    <a:pt x="4632959" y="0"/>
                  </a:moveTo>
                  <a:lnTo>
                    <a:pt x="441959" y="0"/>
                  </a:lnTo>
                  <a:lnTo>
                    <a:pt x="393802" y="2593"/>
                  </a:lnTo>
                  <a:lnTo>
                    <a:pt x="347147" y="10193"/>
                  </a:lnTo>
                  <a:lnTo>
                    <a:pt x="302264" y="22530"/>
                  </a:lnTo>
                  <a:lnTo>
                    <a:pt x="259422" y="39335"/>
                  </a:lnTo>
                  <a:lnTo>
                    <a:pt x="218891" y="60339"/>
                  </a:lnTo>
                  <a:lnTo>
                    <a:pt x="180941" y="85270"/>
                  </a:lnTo>
                  <a:lnTo>
                    <a:pt x="145841" y="113861"/>
                  </a:lnTo>
                  <a:lnTo>
                    <a:pt x="113861" y="145841"/>
                  </a:lnTo>
                  <a:lnTo>
                    <a:pt x="85270" y="180941"/>
                  </a:lnTo>
                  <a:lnTo>
                    <a:pt x="60339" y="218891"/>
                  </a:lnTo>
                  <a:lnTo>
                    <a:pt x="39335" y="259422"/>
                  </a:lnTo>
                  <a:lnTo>
                    <a:pt x="22530" y="302264"/>
                  </a:lnTo>
                  <a:lnTo>
                    <a:pt x="10193" y="347147"/>
                  </a:lnTo>
                  <a:lnTo>
                    <a:pt x="2593" y="393802"/>
                  </a:lnTo>
                  <a:lnTo>
                    <a:pt x="0" y="441960"/>
                  </a:lnTo>
                  <a:lnTo>
                    <a:pt x="0" y="2209800"/>
                  </a:lnTo>
                  <a:lnTo>
                    <a:pt x="2593" y="2257957"/>
                  </a:lnTo>
                  <a:lnTo>
                    <a:pt x="10193" y="2304612"/>
                  </a:lnTo>
                  <a:lnTo>
                    <a:pt x="22530" y="2349495"/>
                  </a:lnTo>
                  <a:lnTo>
                    <a:pt x="39335" y="2392337"/>
                  </a:lnTo>
                  <a:lnTo>
                    <a:pt x="60339" y="2432868"/>
                  </a:lnTo>
                  <a:lnTo>
                    <a:pt x="85270" y="2470818"/>
                  </a:lnTo>
                  <a:lnTo>
                    <a:pt x="113861" y="2505918"/>
                  </a:lnTo>
                  <a:lnTo>
                    <a:pt x="145841" y="2537898"/>
                  </a:lnTo>
                  <a:lnTo>
                    <a:pt x="180941" y="2566489"/>
                  </a:lnTo>
                  <a:lnTo>
                    <a:pt x="218891" y="2591420"/>
                  </a:lnTo>
                  <a:lnTo>
                    <a:pt x="259422" y="2612424"/>
                  </a:lnTo>
                  <a:lnTo>
                    <a:pt x="302264" y="2629229"/>
                  </a:lnTo>
                  <a:lnTo>
                    <a:pt x="347147" y="2641566"/>
                  </a:lnTo>
                  <a:lnTo>
                    <a:pt x="393802" y="2649166"/>
                  </a:lnTo>
                  <a:lnTo>
                    <a:pt x="441959" y="2651760"/>
                  </a:lnTo>
                  <a:lnTo>
                    <a:pt x="4632959" y="2651760"/>
                  </a:lnTo>
                  <a:lnTo>
                    <a:pt x="4681117" y="2649166"/>
                  </a:lnTo>
                  <a:lnTo>
                    <a:pt x="4727772" y="2641566"/>
                  </a:lnTo>
                  <a:lnTo>
                    <a:pt x="4772655" y="2629229"/>
                  </a:lnTo>
                  <a:lnTo>
                    <a:pt x="4815497" y="2612424"/>
                  </a:lnTo>
                  <a:lnTo>
                    <a:pt x="4856028" y="2591420"/>
                  </a:lnTo>
                  <a:lnTo>
                    <a:pt x="4893978" y="2566489"/>
                  </a:lnTo>
                  <a:lnTo>
                    <a:pt x="4929078" y="2537898"/>
                  </a:lnTo>
                  <a:lnTo>
                    <a:pt x="4961058" y="2505918"/>
                  </a:lnTo>
                  <a:lnTo>
                    <a:pt x="4989649" y="2470818"/>
                  </a:lnTo>
                  <a:lnTo>
                    <a:pt x="5014580" y="2432868"/>
                  </a:lnTo>
                  <a:lnTo>
                    <a:pt x="5035584" y="2392337"/>
                  </a:lnTo>
                  <a:lnTo>
                    <a:pt x="5052389" y="2349495"/>
                  </a:lnTo>
                  <a:lnTo>
                    <a:pt x="5064726" y="2304612"/>
                  </a:lnTo>
                  <a:lnTo>
                    <a:pt x="5072326" y="2257957"/>
                  </a:lnTo>
                  <a:lnTo>
                    <a:pt x="5074920" y="2209800"/>
                  </a:lnTo>
                  <a:lnTo>
                    <a:pt x="5074920" y="441960"/>
                  </a:lnTo>
                  <a:lnTo>
                    <a:pt x="5072326" y="393802"/>
                  </a:lnTo>
                  <a:lnTo>
                    <a:pt x="5064726" y="347147"/>
                  </a:lnTo>
                  <a:lnTo>
                    <a:pt x="5052389" y="302264"/>
                  </a:lnTo>
                  <a:lnTo>
                    <a:pt x="5035584" y="259422"/>
                  </a:lnTo>
                  <a:lnTo>
                    <a:pt x="5014580" y="218891"/>
                  </a:lnTo>
                  <a:lnTo>
                    <a:pt x="4989649" y="180941"/>
                  </a:lnTo>
                  <a:lnTo>
                    <a:pt x="4961058" y="145841"/>
                  </a:lnTo>
                  <a:lnTo>
                    <a:pt x="4929078" y="113861"/>
                  </a:lnTo>
                  <a:lnTo>
                    <a:pt x="4893978" y="85270"/>
                  </a:lnTo>
                  <a:lnTo>
                    <a:pt x="4856028" y="60339"/>
                  </a:lnTo>
                  <a:lnTo>
                    <a:pt x="4815497" y="39335"/>
                  </a:lnTo>
                  <a:lnTo>
                    <a:pt x="4772655" y="22530"/>
                  </a:lnTo>
                  <a:lnTo>
                    <a:pt x="4727772" y="10193"/>
                  </a:lnTo>
                  <a:lnTo>
                    <a:pt x="4681117" y="2593"/>
                  </a:lnTo>
                  <a:lnTo>
                    <a:pt x="463295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173724" y="2927604"/>
              <a:ext cx="5074920" cy="2651760"/>
            </a:xfrm>
            <a:custGeom>
              <a:avLst/>
              <a:gdLst/>
              <a:ahLst/>
              <a:cxnLst/>
              <a:rect l="l" t="t" r="r" b="b"/>
              <a:pathLst>
                <a:path w="5074920" h="2651760">
                  <a:moveTo>
                    <a:pt x="0" y="441960"/>
                  </a:moveTo>
                  <a:lnTo>
                    <a:pt x="2593" y="393802"/>
                  </a:lnTo>
                  <a:lnTo>
                    <a:pt x="10193" y="347147"/>
                  </a:lnTo>
                  <a:lnTo>
                    <a:pt x="22530" y="302264"/>
                  </a:lnTo>
                  <a:lnTo>
                    <a:pt x="39335" y="259422"/>
                  </a:lnTo>
                  <a:lnTo>
                    <a:pt x="60339" y="218891"/>
                  </a:lnTo>
                  <a:lnTo>
                    <a:pt x="85270" y="180941"/>
                  </a:lnTo>
                  <a:lnTo>
                    <a:pt x="113861" y="145841"/>
                  </a:lnTo>
                  <a:lnTo>
                    <a:pt x="145841" y="113861"/>
                  </a:lnTo>
                  <a:lnTo>
                    <a:pt x="180941" y="85270"/>
                  </a:lnTo>
                  <a:lnTo>
                    <a:pt x="218891" y="60339"/>
                  </a:lnTo>
                  <a:lnTo>
                    <a:pt x="259422" y="39335"/>
                  </a:lnTo>
                  <a:lnTo>
                    <a:pt x="302264" y="22530"/>
                  </a:lnTo>
                  <a:lnTo>
                    <a:pt x="347147" y="10193"/>
                  </a:lnTo>
                  <a:lnTo>
                    <a:pt x="393802" y="2593"/>
                  </a:lnTo>
                  <a:lnTo>
                    <a:pt x="441959" y="0"/>
                  </a:lnTo>
                  <a:lnTo>
                    <a:pt x="4632959" y="0"/>
                  </a:lnTo>
                  <a:lnTo>
                    <a:pt x="4681117" y="2593"/>
                  </a:lnTo>
                  <a:lnTo>
                    <a:pt x="4727772" y="10193"/>
                  </a:lnTo>
                  <a:lnTo>
                    <a:pt x="4772655" y="22530"/>
                  </a:lnTo>
                  <a:lnTo>
                    <a:pt x="4815497" y="39335"/>
                  </a:lnTo>
                  <a:lnTo>
                    <a:pt x="4856028" y="60339"/>
                  </a:lnTo>
                  <a:lnTo>
                    <a:pt x="4893978" y="85270"/>
                  </a:lnTo>
                  <a:lnTo>
                    <a:pt x="4929078" y="113861"/>
                  </a:lnTo>
                  <a:lnTo>
                    <a:pt x="4961058" y="145841"/>
                  </a:lnTo>
                  <a:lnTo>
                    <a:pt x="4989649" y="180941"/>
                  </a:lnTo>
                  <a:lnTo>
                    <a:pt x="5014580" y="218891"/>
                  </a:lnTo>
                  <a:lnTo>
                    <a:pt x="5035584" y="259422"/>
                  </a:lnTo>
                  <a:lnTo>
                    <a:pt x="5052389" y="302264"/>
                  </a:lnTo>
                  <a:lnTo>
                    <a:pt x="5064726" y="347147"/>
                  </a:lnTo>
                  <a:lnTo>
                    <a:pt x="5072326" y="393802"/>
                  </a:lnTo>
                  <a:lnTo>
                    <a:pt x="5074920" y="441960"/>
                  </a:lnTo>
                  <a:lnTo>
                    <a:pt x="5074920" y="2209800"/>
                  </a:lnTo>
                  <a:lnTo>
                    <a:pt x="5072326" y="2257957"/>
                  </a:lnTo>
                  <a:lnTo>
                    <a:pt x="5064726" y="2304612"/>
                  </a:lnTo>
                  <a:lnTo>
                    <a:pt x="5052389" y="2349495"/>
                  </a:lnTo>
                  <a:lnTo>
                    <a:pt x="5035584" y="2392337"/>
                  </a:lnTo>
                  <a:lnTo>
                    <a:pt x="5014580" y="2432868"/>
                  </a:lnTo>
                  <a:lnTo>
                    <a:pt x="4989649" y="2470818"/>
                  </a:lnTo>
                  <a:lnTo>
                    <a:pt x="4961058" y="2505918"/>
                  </a:lnTo>
                  <a:lnTo>
                    <a:pt x="4929078" y="2537898"/>
                  </a:lnTo>
                  <a:lnTo>
                    <a:pt x="4893978" y="2566489"/>
                  </a:lnTo>
                  <a:lnTo>
                    <a:pt x="4856028" y="2591420"/>
                  </a:lnTo>
                  <a:lnTo>
                    <a:pt x="4815497" y="2612424"/>
                  </a:lnTo>
                  <a:lnTo>
                    <a:pt x="4772655" y="2629229"/>
                  </a:lnTo>
                  <a:lnTo>
                    <a:pt x="4727772" y="2641566"/>
                  </a:lnTo>
                  <a:lnTo>
                    <a:pt x="4681117" y="2649166"/>
                  </a:lnTo>
                  <a:lnTo>
                    <a:pt x="4632959" y="2651760"/>
                  </a:lnTo>
                  <a:lnTo>
                    <a:pt x="441959" y="2651760"/>
                  </a:lnTo>
                  <a:lnTo>
                    <a:pt x="393802" y="2649166"/>
                  </a:lnTo>
                  <a:lnTo>
                    <a:pt x="347147" y="2641566"/>
                  </a:lnTo>
                  <a:lnTo>
                    <a:pt x="302264" y="2629229"/>
                  </a:lnTo>
                  <a:lnTo>
                    <a:pt x="259422" y="2612424"/>
                  </a:lnTo>
                  <a:lnTo>
                    <a:pt x="218891" y="2591420"/>
                  </a:lnTo>
                  <a:lnTo>
                    <a:pt x="180941" y="2566489"/>
                  </a:lnTo>
                  <a:lnTo>
                    <a:pt x="145841" y="2537898"/>
                  </a:lnTo>
                  <a:lnTo>
                    <a:pt x="113861" y="2505918"/>
                  </a:lnTo>
                  <a:lnTo>
                    <a:pt x="85270" y="2470818"/>
                  </a:lnTo>
                  <a:lnTo>
                    <a:pt x="60339" y="2432868"/>
                  </a:lnTo>
                  <a:lnTo>
                    <a:pt x="39335" y="2392337"/>
                  </a:lnTo>
                  <a:lnTo>
                    <a:pt x="22530" y="2349495"/>
                  </a:lnTo>
                  <a:lnTo>
                    <a:pt x="10193" y="2304612"/>
                  </a:lnTo>
                  <a:lnTo>
                    <a:pt x="2593" y="2257957"/>
                  </a:lnTo>
                  <a:lnTo>
                    <a:pt x="0" y="2209800"/>
                  </a:lnTo>
                  <a:lnTo>
                    <a:pt x="0" y="44196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526783" y="3228543"/>
            <a:ext cx="1775460" cy="2565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500" b="1">
                <a:solidFill>
                  <a:srgbClr val="00C7FF"/>
                </a:solidFill>
                <a:latin typeface="Arial"/>
                <a:cs typeface="Arial"/>
              </a:rPr>
              <a:t>Headline</a:t>
            </a:r>
            <a:r>
              <a:rPr dirty="0" sz="1500" spc="-5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0C7FF"/>
                </a:solidFill>
                <a:latin typeface="Arial"/>
                <a:cs typeface="Arial"/>
              </a:rPr>
              <a:t>outcomes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142726" y="6514895"/>
            <a:ext cx="440055" cy="1549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03</a:t>
            </a:r>
            <a:r>
              <a:rPr dirty="0" sz="900" spc="24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/</a:t>
            </a:r>
            <a:r>
              <a:rPr dirty="0" sz="900" spc="24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AEBDD2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493379" y="3762502"/>
            <a:ext cx="6921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AEBDD2"/>
                </a:solidFill>
                <a:latin typeface="Arial"/>
                <a:cs typeface="Arial"/>
              </a:rPr>
              <a:t>Total</a:t>
            </a:r>
            <a:r>
              <a:rPr dirty="0" sz="1200" spc="-3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AEBDD2"/>
                </a:solidFill>
                <a:latin typeface="Arial"/>
                <a:cs typeface="Arial"/>
              </a:rPr>
              <a:t>ROI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26783" y="3682949"/>
            <a:ext cx="908685" cy="1047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0" b="1">
                <a:solidFill>
                  <a:srgbClr val="F5F8FB"/>
                </a:solidFill>
                <a:latin typeface="Arial"/>
                <a:cs typeface="Arial"/>
              </a:rPr>
              <a:t>$1.2M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dirty="0" sz="2500" spc="-20" b="1">
                <a:solidFill>
                  <a:srgbClr val="F5F8FB"/>
                </a:solidFill>
                <a:latin typeface="Arial"/>
                <a:cs typeface="Arial"/>
              </a:rPr>
              <a:t>100K</a:t>
            </a:r>
            <a:endParaRPr sz="25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93379" y="4402963"/>
            <a:ext cx="9531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AEBDD2"/>
                </a:solidFill>
                <a:latin typeface="Arial"/>
                <a:cs typeface="Arial"/>
              </a:rPr>
              <a:t>Hours</a:t>
            </a:r>
            <a:r>
              <a:rPr dirty="0" sz="1200" spc="-5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EBDD2"/>
                </a:solidFill>
                <a:latin typeface="Arial"/>
                <a:cs typeface="Arial"/>
              </a:rPr>
              <a:t>Saved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26783" y="5015865"/>
            <a:ext cx="19304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AEBDD2"/>
                </a:solidFill>
                <a:latin typeface="Microsoft Sans Serif"/>
                <a:cs typeface="Microsoft Sans Serif"/>
              </a:rPr>
              <a:t>Source:</a:t>
            </a:r>
            <a:r>
              <a:rPr dirty="0" sz="1000" spc="-25">
                <a:solidFill>
                  <a:srgbClr val="AEBDD2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AEBDD2"/>
                </a:solidFill>
                <a:latin typeface="Microsoft Sans Serif"/>
                <a:cs typeface="Microsoft Sans Serif"/>
              </a:rPr>
              <a:t>uploaded</a:t>
            </a:r>
            <a:r>
              <a:rPr dirty="0" sz="1000" spc="-40">
                <a:solidFill>
                  <a:srgbClr val="AEBDD2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AEBDD2"/>
                </a:solidFill>
                <a:latin typeface="Microsoft Sans Serif"/>
                <a:cs typeface="Microsoft Sans Serif"/>
              </a:rPr>
              <a:t>Excel</a:t>
            </a:r>
            <a:r>
              <a:rPr dirty="0" sz="1000" spc="-35">
                <a:solidFill>
                  <a:srgbClr val="AEBDD2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AEBDD2"/>
                </a:solidFill>
                <a:latin typeface="Microsoft Sans Serif"/>
                <a:cs typeface="Microsoft Sans Serif"/>
              </a:rPr>
              <a:t>workbook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AI</a:t>
            </a:r>
            <a:r>
              <a:rPr dirty="0" spc="-65"/>
              <a:t> </a:t>
            </a:r>
            <a:r>
              <a:rPr dirty="0" spc="-20"/>
              <a:t>Tools</a:t>
            </a:r>
            <a:r>
              <a:rPr dirty="0" spc="-95"/>
              <a:t> </a:t>
            </a:r>
            <a:r>
              <a:rPr dirty="0"/>
              <a:t>ROI</a:t>
            </a:r>
            <a:r>
              <a:rPr dirty="0" spc="-195"/>
              <a:t> </a:t>
            </a:r>
            <a:r>
              <a:rPr dirty="0"/>
              <a:t>Analytics</a:t>
            </a:r>
            <a:r>
              <a:rPr dirty="0" spc="-110"/>
              <a:t> </a:t>
            </a:r>
            <a:r>
              <a:rPr dirty="0" spc="-1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836" y="871855"/>
            <a:ext cx="404114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From</a:t>
            </a:r>
            <a:r>
              <a:rPr dirty="0" sz="1400" spc="-1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source</a:t>
            </a:r>
            <a:r>
              <a:rPr dirty="0" sz="1400" spc="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data</a:t>
            </a:r>
            <a:r>
              <a:rPr dirty="0" sz="1400" spc="-2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to</a:t>
            </a:r>
            <a:r>
              <a:rPr dirty="0" sz="1400" spc="-2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AEBDD2"/>
                </a:solidFill>
                <a:latin typeface="Arial"/>
                <a:cs typeface="Arial"/>
              </a:rPr>
              <a:t>decision-</a:t>
            </a: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ready</a:t>
            </a:r>
            <a:r>
              <a:rPr dirty="0" sz="1400" spc="2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AEBDD2"/>
                </a:solidFill>
                <a:latin typeface="Arial"/>
                <a:cs typeface="Arial"/>
              </a:rPr>
              <a:t>intelligence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2711" y="2215895"/>
            <a:ext cx="1650364" cy="1330325"/>
            <a:chOff x="362711" y="2215895"/>
            <a:chExt cx="1650364" cy="13303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711" y="2215895"/>
              <a:ext cx="1650364" cy="13301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3003" y="2241803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80" h="1234439">
                  <a:moveTo>
                    <a:pt x="1348739" y="0"/>
                  </a:moveTo>
                  <a:lnTo>
                    <a:pt x="205739" y="0"/>
                  </a:lnTo>
                  <a:lnTo>
                    <a:pt x="158565" y="5431"/>
                  </a:lnTo>
                  <a:lnTo>
                    <a:pt x="115260" y="20905"/>
                  </a:lnTo>
                  <a:lnTo>
                    <a:pt x="77060" y="45186"/>
                  </a:lnTo>
                  <a:lnTo>
                    <a:pt x="45198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3" y="1075886"/>
                  </a:lnTo>
                  <a:lnTo>
                    <a:pt x="20911" y="1119195"/>
                  </a:lnTo>
                  <a:lnTo>
                    <a:pt x="45198" y="1157395"/>
                  </a:lnTo>
                  <a:lnTo>
                    <a:pt x="77060" y="1189253"/>
                  </a:lnTo>
                  <a:lnTo>
                    <a:pt x="115260" y="1213534"/>
                  </a:lnTo>
                  <a:lnTo>
                    <a:pt x="158565" y="1229008"/>
                  </a:lnTo>
                  <a:lnTo>
                    <a:pt x="205739" y="1234440"/>
                  </a:lnTo>
                  <a:lnTo>
                    <a:pt x="1348739" y="1234440"/>
                  </a:lnTo>
                  <a:lnTo>
                    <a:pt x="1395926" y="1229008"/>
                  </a:lnTo>
                  <a:lnTo>
                    <a:pt x="1439235" y="1213534"/>
                  </a:lnTo>
                  <a:lnTo>
                    <a:pt x="1477435" y="1189253"/>
                  </a:lnTo>
                  <a:lnTo>
                    <a:pt x="1509293" y="1157395"/>
                  </a:lnTo>
                  <a:lnTo>
                    <a:pt x="1533574" y="1119195"/>
                  </a:lnTo>
                  <a:lnTo>
                    <a:pt x="1549048" y="1075886"/>
                  </a:lnTo>
                  <a:lnTo>
                    <a:pt x="1554479" y="1028700"/>
                  </a:lnTo>
                  <a:lnTo>
                    <a:pt x="1554479" y="205740"/>
                  </a:lnTo>
                  <a:lnTo>
                    <a:pt x="1549048" y="158553"/>
                  </a:lnTo>
                  <a:lnTo>
                    <a:pt x="1533574" y="115244"/>
                  </a:lnTo>
                  <a:lnTo>
                    <a:pt x="1509293" y="77044"/>
                  </a:lnTo>
                  <a:lnTo>
                    <a:pt x="1477435" y="45186"/>
                  </a:lnTo>
                  <a:lnTo>
                    <a:pt x="1439235" y="20905"/>
                  </a:lnTo>
                  <a:lnTo>
                    <a:pt x="1395926" y="5431"/>
                  </a:lnTo>
                  <a:lnTo>
                    <a:pt x="134873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3003" y="2241803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80" h="1234439">
                  <a:moveTo>
                    <a:pt x="0" y="205740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8" y="77044"/>
                  </a:lnTo>
                  <a:lnTo>
                    <a:pt x="77060" y="45186"/>
                  </a:lnTo>
                  <a:lnTo>
                    <a:pt x="115260" y="20905"/>
                  </a:lnTo>
                  <a:lnTo>
                    <a:pt x="158565" y="5431"/>
                  </a:lnTo>
                  <a:lnTo>
                    <a:pt x="205739" y="0"/>
                  </a:lnTo>
                  <a:lnTo>
                    <a:pt x="1348739" y="0"/>
                  </a:lnTo>
                  <a:lnTo>
                    <a:pt x="1395926" y="5431"/>
                  </a:lnTo>
                  <a:lnTo>
                    <a:pt x="1439235" y="20905"/>
                  </a:lnTo>
                  <a:lnTo>
                    <a:pt x="1477435" y="45186"/>
                  </a:lnTo>
                  <a:lnTo>
                    <a:pt x="1509293" y="77044"/>
                  </a:lnTo>
                  <a:lnTo>
                    <a:pt x="1533574" y="115244"/>
                  </a:lnTo>
                  <a:lnTo>
                    <a:pt x="1549048" y="158553"/>
                  </a:lnTo>
                  <a:lnTo>
                    <a:pt x="1554479" y="205740"/>
                  </a:lnTo>
                  <a:lnTo>
                    <a:pt x="1554479" y="1028700"/>
                  </a:lnTo>
                  <a:lnTo>
                    <a:pt x="1549048" y="1075886"/>
                  </a:lnTo>
                  <a:lnTo>
                    <a:pt x="1533574" y="1119195"/>
                  </a:lnTo>
                  <a:lnTo>
                    <a:pt x="1509293" y="1157395"/>
                  </a:lnTo>
                  <a:lnTo>
                    <a:pt x="1477435" y="1189253"/>
                  </a:lnTo>
                  <a:lnTo>
                    <a:pt x="1439235" y="1213534"/>
                  </a:lnTo>
                  <a:lnTo>
                    <a:pt x="1395926" y="1229008"/>
                  </a:lnTo>
                  <a:lnTo>
                    <a:pt x="1348739" y="1234440"/>
                  </a:lnTo>
                  <a:lnTo>
                    <a:pt x="205739" y="1234440"/>
                  </a:lnTo>
                  <a:lnTo>
                    <a:pt x="158565" y="1229008"/>
                  </a:lnTo>
                  <a:lnTo>
                    <a:pt x="115260" y="1213534"/>
                  </a:lnTo>
                  <a:lnTo>
                    <a:pt x="77060" y="1189253"/>
                  </a:lnTo>
                  <a:lnTo>
                    <a:pt x="45198" y="1157395"/>
                  </a:lnTo>
                  <a:lnTo>
                    <a:pt x="20911" y="1119195"/>
                  </a:lnTo>
                  <a:lnTo>
                    <a:pt x="5433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91006" y="2539746"/>
            <a:ext cx="3949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C7FF"/>
                </a:solidFill>
                <a:latin typeface="Calibri"/>
                <a:cs typeface="Calibri"/>
              </a:rPr>
              <a:t>EXCEL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5078" y="2895727"/>
            <a:ext cx="10071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5F8FB"/>
                </a:solidFill>
                <a:latin typeface="Microsoft Sans Serif"/>
                <a:cs typeface="Microsoft Sans Serif"/>
              </a:rPr>
              <a:t>AI</a:t>
            </a:r>
            <a:r>
              <a:rPr dirty="0" sz="1050" spc="-35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F5F8FB"/>
                </a:solidFill>
                <a:latin typeface="Microsoft Sans Serif"/>
                <a:cs typeface="Microsoft Sans Serif"/>
              </a:rPr>
              <a:t>Tools</a:t>
            </a:r>
            <a:r>
              <a:rPr dirty="0" sz="1050" spc="-5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F5F8FB"/>
                </a:solidFill>
                <a:latin typeface="Microsoft Sans Serif"/>
                <a:cs typeface="Microsoft Sans Serif"/>
              </a:rPr>
              <a:t>Dataset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4479" y="2606497"/>
            <a:ext cx="2546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00C7FF"/>
                </a:solidFill>
                <a:latin typeface="Arial"/>
                <a:cs typeface="Arial"/>
              </a:rPr>
              <a:t>→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01239" y="2215895"/>
            <a:ext cx="1650364" cy="1330325"/>
            <a:chOff x="2301239" y="2215895"/>
            <a:chExt cx="1650364" cy="13303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1239" y="2215895"/>
              <a:ext cx="1650364" cy="13301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51531" y="2241803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79" h="1234439">
                  <a:moveTo>
                    <a:pt x="1348740" y="0"/>
                  </a:moveTo>
                  <a:lnTo>
                    <a:pt x="205740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40" y="1234440"/>
                  </a:lnTo>
                  <a:lnTo>
                    <a:pt x="1348740" y="1234440"/>
                  </a:lnTo>
                  <a:lnTo>
                    <a:pt x="1395926" y="1229008"/>
                  </a:lnTo>
                  <a:lnTo>
                    <a:pt x="1439235" y="1213534"/>
                  </a:lnTo>
                  <a:lnTo>
                    <a:pt x="1477435" y="1189253"/>
                  </a:lnTo>
                  <a:lnTo>
                    <a:pt x="1509293" y="1157395"/>
                  </a:lnTo>
                  <a:lnTo>
                    <a:pt x="1533574" y="1119195"/>
                  </a:lnTo>
                  <a:lnTo>
                    <a:pt x="1549048" y="1075886"/>
                  </a:lnTo>
                  <a:lnTo>
                    <a:pt x="1554480" y="1028700"/>
                  </a:lnTo>
                  <a:lnTo>
                    <a:pt x="1554480" y="205740"/>
                  </a:lnTo>
                  <a:lnTo>
                    <a:pt x="1549048" y="158553"/>
                  </a:lnTo>
                  <a:lnTo>
                    <a:pt x="1533574" y="115244"/>
                  </a:lnTo>
                  <a:lnTo>
                    <a:pt x="1509293" y="77044"/>
                  </a:lnTo>
                  <a:lnTo>
                    <a:pt x="1477435" y="45186"/>
                  </a:lnTo>
                  <a:lnTo>
                    <a:pt x="1439235" y="20905"/>
                  </a:lnTo>
                  <a:lnTo>
                    <a:pt x="1395926" y="5431"/>
                  </a:lnTo>
                  <a:lnTo>
                    <a:pt x="134874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51531" y="2241803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79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40" y="0"/>
                  </a:lnTo>
                  <a:lnTo>
                    <a:pt x="1348740" y="0"/>
                  </a:lnTo>
                  <a:lnTo>
                    <a:pt x="1395926" y="5431"/>
                  </a:lnTo>
                  <a:lnTo>
                    <a:pt x="1439235" y="20905"/>
                  </a:lnTo>
                  <a:lnTo>
                    <a:pt x="1477435" y="45186"/>
                  </a:lnTo>
                  <a:lnTo>
                    <a:pt x="1509293" y="77044"/>
                  </a:lnTo>
                  <a:lnTo>
                    <a:pt x="1533574" y="115244"/>
                  </a:lnTo>
                  <a:lnTo>
                    <a:pt x="1549048" y="158553"/>
                  </a:lnTo>
                  <a:lnTo>
                    <a:pt x="1554480" y="205740"/>
                  </a:lnTo>
                  <a:lnTo>
                    <a:pt x="1554480" y="1028700"/>
                  </a:lnTo>
                  <a:lnTo>
                    <a:pt x="1549048" y="1075886"/>
                  </a:lnTo>
                  <a:lnTo>
                    <a:pt x="1533574" y="1119195"/>
                  </a:lnTo>
                  <a:lnTo>
                    <a:pt x="1509293" y="1157395"/>
                  </a:lnTo>
                  <a:lnTo>
                    <a:pt x="1477435" y="1189253"/>
                  </a:lnTo>
                  <a:lnTo>
                    <a:pt x="1439235" y="1213534"/>
                  </a:lnTo>
                  <a:lnTo>
                    <a:pt x="1395926" y="1229008"/>
                  </a:lnTo>
                  <a:lnTo>
                    <a:pt x="1348740" y="1234440"/>
                  </a:lnTo>
                  <a:lnTo>
                    <a:pt x="205740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911601" y="2539746"/>
            <a:ext cx="4311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C7FF"/>
                </a:solidFill>
                <a:latin typeface="Calibri"/>
                <a:cs typeface="Calibri"/>
              </a:rPr>
              <a:t>CLEAN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5570" y="2939287"/>
            <a:ext cx="9461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9090" marR="5080" indent="-32639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F5F8FB"/>
                </a:solidFill>
                <a:latin typeface="Microsoft Sans Serif"/>
                <a:cs typeface="Microsoft Sans Serif"/>
              </a:rPr>
              <a:t>Data</a:t>
            </a:r>
            <a:r>
              <a:rPr dirty="0" sz="1000" spc="-1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5F8FB"/>
                </a:solidFill>
                <a:latin typeface="Microsoft Sans Serif"/>
                <a:cs typeface="Microsoft Sans Serif"/>
              </a:rPr>
              <a:t>Cleaning</a:t>
            </a:r>
            <a:r>
              <a:rPr dirty="0" sz="1000" spc="-35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F5F8FB"/>
                </a:solidFill>
                <a:latin typeface="Microsoft Sans Serif"/>
                <a:cs typeface="Microsoft Sans Serif"/>
              </a:rPr>
              <a:t>&amp; </a:t>
            </a:r>
            <a:r>
              <a:rPr dirty="0" sz="1000" spc="-20">
                <a:solidFill>
                  <a:srgbClr val="F5F8FB"/>
                </a:solidFill>
                <a:latin typeface="Microsoft Sans Serif"/>
                <a:cs typeface="Microsoft Sans Serif"/>
              </a:rPr>
              <a:t>Prep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93260" y="2606497"/>
            <a:ext cx="2546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00C7FF"/>
                </a:solidFill>
                <a:latin typeface="Arial"/>
                <a:cs typeface="Arial"/>
              </a:rPr>
              <a:t>→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39767" y="2215895"/>
            <a:ext cx="1650364" cy="1330325"/>
            <a:chOff x="4239767" y="2215895"/>
            <a:chExt cx="1650364" cy="133032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9767" y="2215895"/>
              <a:ext cx="1650364" cy="13301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290059" y="2241803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79" h="1234439">
                  <a:moveTo>
                    <a:pt x="134873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40"/>
                  </a:lnTo>
                  <a:lnTo>
                    <a:pt x="1348739" y="1234440"/>
                  </a:lnTo>
                  <a:lnTo>
                    <a:pt x="1395926" y="1229008"/>
                  </a:lnTo>
                  <a:lnTo>
                    <a:pt x="1439235" y="1213534"/>
                  </a:lnTo>
                  <a:lnTo>
                    <a:pt x="1477435" y="1189253"/>
                  </a:lnTo>
                  <a:lnTo>
                    <a:pt x="1509293" y="1157395"/>
                  </a:lnTo>
                  <a:lnTo>
                    <a:pt x="1533574" y="1119195"/>
                  </a:lnTo>
                  <a:lnTo>
                    <a:pt x="1549048" y="1075886"/>
                  </a:lnTo>
                  <a:lnTo>
                    <a:pt x="1554479" y="1028700"/>
                  </a:lnTo>
                  <a:lnTo>
                    <a:pt x="1554479" y="205740"/>
                  </a:lnTo>
                  <a:lnTo>
                    <a:pt x="1549048" y="158553"/>
                  </a:lnTo>
                  <a:lnTo>
                    <a:pt x="1533574" y="115244"/>
                  </a:lnTo>
                  <a:lnTo>
                    <a:pt x="1509293" y="77044"/>
                  </a:lnTo>
                  <a:lnTo>
                    <a:pt x="1477435" y="45186"/>
                  </a:lnTo>
                  <a:lnTo>
                    <a:pt x="1439235" y="20905"/>
                  </a:lnTo>
                  <a:lnTo>
                    <a:pt x="1395926" y="5431"/>
                  </a:lnTo>
                  <a:lnTo>
                    <a:pt x="134873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290059" y="2241803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79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1348739" y="0"/>
                  </a:lnTo>
                  <a:lnTo>
                    <a:pt x="1395926" y="5431"/>
                  </a:lnTo>
                  <a:lnTo>
                    <a:pt x="1439235" y="20905"/>
                  </a:lnTo>
                  <a:lnTo>
                    <a:pt x="1477435" y="45186"/>
                  </a:lnTo>
                  <a:lnTo>
                    <a:pt x="1509293" y="77044"/>
                  </a:lnTo>
                  <a:lnTo>
                    <a:pt x="1533574" y="115244"/>
                  </a:lnTo>
                  <a:lnTo>
                    <a:pt x="1549048" y="158553"/>
                  </a:lnTo>
                  <a:lnTo>
                    <a:pt x="1554479" y="205740"/>
                  </a:lnTo>
                  <a:lnTo>
                    <a:pt x="1554479" y="1028700"/>
                  </a:lnTo>
                  <a:lnTo>
                    <a:pt x="1549048" y="1075886"/>
                  </a:lnTo>
                  <a:lnTo>
                    <a:pt x="1533574" y="1119195"/>
                  </a:lnTo>
                  <a:lnTo>
                    <a:pt x="1509293" y="1157395"/>
                  </a:lnTo>
                  <a:lnTo>
                    <a:pt x="1477435" y="1189253"/>
                  </a:lnTo>
                  <a:lnTo>
                    <a:pt x="1439235" y="1213534"/>
                  </a:lnTo>
                  <a:lnTo>
                    <a:pt x="1395926" y="1229008"/>
                  </a:lnTo>
                  <a:lnTo>
                    <a:pt x="1348739" y="1234440"/>
                  </a:lnTo>
                  <a:lnTo>
                    <a:pt x="205739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899405" y="2539746"/>
            <a:ext cx="3378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00C7FF"/>
                </a:solidFill>
                <a:latin typeface="Calibri"/>
                <a:cs typeface="Calibri"/>
              </a:rPr>
              <a:t>CALC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15358" y="2939287"/>
            <a:ext cx="110363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F5F8FB"/>
                </a:solidFill>
                <a:latin typeface="Microsoft Sans Serif"/>
                <a:cs typeface="Microsoft Sans Serif"/>
              </a:rPr>
              <a:t>ROI</a:t>
            </a:r>
            <a:r>
              <a:rPr dirty="0" sz="1000" spc="-3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5F8FB"/>
                </a:solidFill>
                <a:latin typeface="Microsoft Sans Serif"/>
                <a:cs typeface="Microsoft Sans Serif"/>
              </a:rPr>
              <a:t>+</a:t>
            </a:r>
            <a:r>
              <a:rPr dirty="0" sz="1000" spc="-5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5F8FB"/>
                </a:solidFill>
                <a:latin typeface="Microsoft Sans Serif"/>
                <a:cs typeface="Microsoft Sans Serif"/>
              </a:rPr>
              <a:t>Cost</a:t>
            </a:r>
            <a:r>
              <a:rPr dirty="0" sz="1000" spc="1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F5F8FB"/>
                </a:solidFill>
                <a:latin typeface="Microsoft Sans Serif"/>
                <a:cs typeface="Microsoft Sans Serif"/>
              </a:rPr>
              <a:t>Metrics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32423" y="2606497"/>
            <a:ext cx="2546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00C7FF"/>
                </a:solidFill>
                <a:latin typeface="Arial"/>
                <a:cs typeface="Arial"/>
              </a:rPr>
              <a:t>→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178296" y="2215895"/>
            <a:ext cx="1650364" cy="1330325"/>
            <a:chOff x="6178296" y="2215895"/>
            <a:chExt cx="1650364" cy="133032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8296" y="2215895"/>
              <a:ext cx="1650365" cy="133019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228588" y="2241803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79" h="1234439">
                  <a:moveTo>
                    <a:pt x="134873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40"/>
                  </a:lnTo>
                  <a:lnTo>
                    <a:pt x="1348739" y="1234440"/>
                  </a:lnTo>
                  <a:lnTo>
                    <a:pt x="1395926" y="1229008"/>
                  </a:lnTo>
                  <a:lnTo>
                    <a:pt x="1439235" y="1213534"/>
                  </a:lnTo>
                  <a:lnTo>
                    <a:pt x="1477435" y="1189253"/>
                  </a:lnTo>
                  <a:lnTo>
                    <a:pt x="1509293" y="1157395"/>
                  </a:lnTo>
                  <a:lnTo>
                    <a:pt x="1533574" y="1119195"/>
                  </a:lnTo>
                  <a:lnTo>
                    <a:pt x="1549048" y="1075886"/>
                  </a:lnTo>
                  <a:lnTo>
                    <a:pt x="1554480" y="1028700"/>
                  </a:lnTo>
                  <a:lnTo>
                    <a:pt x="1554480" y="205740"/>
                  </a:lnTo>
                  <a:lnTo>
                    <a:pt x="1549048" y="158553"/>
                  </a:lnTo>
                  <a:lnTo>
                    <a:pt x="1533574" y="115244"/>
                  </a:lnTo>
                  <a:lnTo>
                    <a:pt x="1509293" y="77044"/>
                  </a:lnTo>
                  <a:lnTo>
                    <a:pt x="1477435" y="45186"/>
                  </a:lnTo>
                  <a:lnTo>
                    <a:pt x="1439235" y="20905"/>
                  </a:lnTo>
                  <a:lnTo>
                    <a:pt x="1395926" y="5431"/>
                  </a:lnTo>
                  <a:lnTo>
                    <a:pt x="134873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228588" y="2241803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79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1348739" y="0"/>
                  </a:lnTo>
                  <a:lnTo>
                    <a:pt x="1395926" y="5431"/>
                  </a:lnTo>
                  <a:lnTo>
                    <a:pt x="1439235" y="20905"/>
                  </a:lnTo>
                  <a:lnTo>
                    <a:pt x="1477435" y="45186"/>
                  </a:lnTo>
                  <a:lnTo>
                    <a:pt x="1509293" y="77044"/>
                  </a:lnTo>
                  <a:lnTo>
                    <a:pt x="1533574" y="115244"/>
                  </a:lnTo>
                  <a:lnTo>
                    <a:pt x="1549048" y="158553"/>
                  </a:lnTo>
                  <a:lnTo>
                    <a:pt x="1554480" y="205740"/>
                  </a:lnTo>
                  <a:lnTo>
                    <a:pt x="1554480" y="1028700"/>
                  </a:lnTo>
                  <a:lnTo>
                    <a:pt x="1549048" y="1075886"/>
                  </a:lnTo>
                  <a:lnTo>
                    <a:pt x="1533574" y="1119195"/>
                  </a:lnTo>
                  <a:lnTo>
                    <a:pt x="1509293" y="1157395"/>
                  </a:lnTo>
                  <a:lnTo>
                    <a:pt x="1477435" y="1189253"/>
                  </a:lnTo>
                  <a:lnTo>
                    <a:pt x="1439235" y="1213534"/>
                  </a:lnTo>
                  <a:lnTo>
                    <a:pt x="1395926" y="1229008"/>
                  </a:lnTo>
                  <a:lnTo>
                    <a:pt x="1348739" y="1234440"/>
                  </a:lnTo>
                  <a:lnTo>
                    <a:pt x="205739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765417" y="2539746"/>
            <a:ext cx="588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C7FF"/>
                </a:solidFill>
                <a:latin typeface="Calibri"/>
                <a:cs typeface="Calibri"/>
              </a:rPr>
              <a:t>TABLEAU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85584" y="2939287"/>
            <a:ext cx="8382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7015" marR="5080" indent="-23495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F5F8FB"/>
                </a:solidFill>
                <a:latin typeface="Microsoft Sans Serif"/>
                <a:cs typeface="Microsoft Sans Serif"/>
              </a:rPr>
              <a:t>Data</a:t>
            </a:r>
            <a:r>
              <a:rPr dirty="0" sz="1000" spc="-2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5F8FB"/>
                </a:solidFill>
                <a:latin typeface="Microsoft Sans Serif"/>
                <a:cs typeface="Microsoft Sans Serif"/>
              </a:rPr>
              <a:t>Source</a:t>
            </a:r>
            <a:r>
              <a:rPr dirty="0" sz="1000" spc="-2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F5F8FB"/>
                </a:solidFill>
                <a:latin typeface="Microsoft Sans Serif"/>
                <a:cs typeface="Microsoft Sans Serif"/>
              </a:rPr>
              <a:t>+ </a:t>
            </a:r>
            <a:r>
              <a:rPr dirty="0" sz="1000" spc="-10">
                <a:solidFill>
                  <a:srgbClr val="F5F8FB"/>
                </a:solidFill>
                <a:latin typeface="Microsoft Sans Serif"/>
                <a:cs typeface="Microsoft Sans Serif"/>
              </a:rPr>
              <a:t>Model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71206" y="2606497"/>
            <a:ext cx="2546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00C7FF"/>
                </a:solidFill>
                <a:latin typeface="Arial"/>
                <a:cs typeface="Arial"/>
              </a:rPr>
              <a:t>→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116823" y="2215895"/>
            <a:ext cx="1650364" cy="1330325"/>
            <a:chOff x="8116823" y="2215895"/>
            <a:chExt cx="1650364" cy="1330325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16823" y="2215895"/>
              <a:ext cx="1650364" cy="133019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167115" y="2241803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79" h="1234439">
                  <a:moveTo>
                    <a:pt x="134873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40"/>
                  </a:lnTo>
                  <a:lnTo>
                    <a:pt x="1348739" y="1234440"/>
                  </a:lnTo>
                  <a:lnTo>
                    <a:pt x="1395926" y="1229008"/>
                  </a:lnTo>
                  <a:lnTo>
                    <a:pt x="1439235" y="1213534"/>
                  </a:lnTo>
                  <a:lnTo>
                    <a:pt x="1477435" y="1189253"/>
                  </a:lnTo>
                  <a:lnTo>
                    <a:pt x="1509293" y="1157395"/>
                  </a:lnTo>
                  <a:lnTo>
                    <a:pt x="1533574" y="1119195"/>
                  </a:lnTo>
                  <a:lnTo>
                    <a:pt x="1549048" y="1075886"/>
                  </a:lnTo>
                  <a:lnTo>
                    <a:pt x="1554479" y="1028700"/>
                  </a:lnTo>
                  <a:lnTo>
                    <a:pt x="1554479" y="205740"/>
                  </a:lnTo>
                  <a:lnTo>
                    <a:pt x="1549048" y="158553"/>
                  </a:lnTo>
                  <a:lnTo>
                    <a:pt x="1533574" y="115244"/>
                  </a:lnTo>
                  <a:lnTo>
                    <a:pt x="1509293" y="77044"/>
                  </a:lnTo>
                  <a:lnTo>
                    <a:pt x="1477435" y="45186"/>
                  </a:lnTo>
                  <a:lnTo>
                    <a:pt x="1439235" y="20905"/>
                  </a:lnTo>
                  <a:lnTo>
                    <a:pt x="1395926" y="5431"/>
                  </a:lnTo>
                  <a:lnTo>
                    <a:pt x="134873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167115" y="2241803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79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1348739" y="0"/>
                  </a:lnTo>
                  <a:lnTo>
                    <a:pt x="1395926" y="5431"/>
                  </a:lnTo>
                  <a:lnTo>
                    <a:pt x="1439235" y="20905"/>
                  </a:lnTo>
                  <a:lnTo>
                    <a:pt x="1477435" y="45186"/>
                  </a:lnTo>
                  <a:lnTo>
                    <a:pt x="1509293" y="77044"/>
                  </a:lnTo>
                  <a:lnTo>
                    <a:pt x="1533574" y="115244"/>
                  </a:lnTo>
                  <a:lnTo>
                    <a:pt x="1549048" y="158553"/>
                  </a:lnTo>
                  <a:lnTo>
                    <a:pt x="1554479" y="205740"/>
                  </a:lnTo>
                  <a:lnTo>
                    <a:pt x="1554479" y="1028700"/>
                  </a:lnTo>
                  <a:lnTo>
                    <a:pt x="1549048" y="1075886"/>
                  </a:lnTo>
                  <a:lnTo>
                    <a:pt x="1533574" y="1119195"/>
                  </a:lnTo>
                  <a:lnTo>
                    <a:pt x="1509293" y="1157395"/>
                  </a:lnTo>
                  <a:lnTo>
                    <a:pt x="1477435" y="1189253"/>
                  </a:lnTo>
                  <a:lnTo>
                    <a:pt x="1439235" y="1213534"/>
                  </a:lnTo>
                  <a:lnTo>
                    <a:pt x="1395926" y="1229008"/>
                  </a:lnTo>
                  <a:lnTo>
                    <a:pt x="1348739" y="1234440"/>
                  </a:lnTo>
                  <a:lnTo>
                    <a:pt x="205739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8524493" y="2539746"/>
            <a:ext cx="840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C7FF"/>
                </a:solidFill>
                <a:latin typeface="Calibri"/>
                <a:cs typeface="Calibri"/>
              </a:rPr>
              <a:t>DASHBOARD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39733" y="2939287"/>
            <a:ext cx="81153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F5F8FB"/>
                </a:solidFill>
                <a:latin typeface="Microsoft Sans Serif"/>
                <a:cs typeface="Microsoft Sans Serif"/>
              </a:rPr>
              <a:t>KPIs</a:t>
            </a:r>
            <a:r>
              <a:rPr dirty="0" sz="1000" spc="-25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5F8FB"/>
                </a:solidFill>
                <a:latin typeface="Microsoft Sans Serif"/>
                <a:cs typeface="Microsoft Sans Serif"/>
              </a:rPr>
              <a:t>+</a:t>
            </a:r>
            <a:r>
              <a:rPr dirty="0" sz="1000" spc="2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F5F8FB"/>
                </a:solidFill>
                <a:latin typeface="Microsoft Sans Serif"/>
                <a:cs typeface="Microsoft Sans Serif"/>
              </a:rPr>
              <a:t>Charts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810368" y="2606497"/>
            <a:ext cx="2546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00C7FF"/>
                </a:solidFill>
                <a:latin typeface="Arial"/>
                <a:cs typeface="Arial"/>
              </a:rPr>
              <a:t>→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055352" y="2215895"/>
            <a:ext cx="1650364" cy="1330325"/>
            <a:chOff x="10055352" y="2215895"/>
            <a:chExt cx="1650364" cy="1330325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5352" y="2215895"/>
              <a:ext cx="1650365" cy="133019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0105644" y="2241803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79" h="1234439">
                  <a:moveTo>
                    <a:pt x="134873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40"/>
                  </a:lnTo>
                  <a:lnTo>
                    <a:pt x="1348739" y="1234440"/>
                  </a:lnTo>
                  <a:lnTo>
                    <a:pt x="1395926" y="1229008"/>
                  </a:lnTo>
                  <a:lnTo>
                    <a:pt x="1439235" y="1213534"/>
                  </a:lnTo>
                  <a:lnTo>
                    <a:pt x="1477435" y="1189253"/>
                  </a:lnTo>
                  <a:lnTo>
                    <a:pt x="1509293" y="1157395"/>
                  </a:lnTo>
                  <a:lnTo>
                    <a:pt x="1533574" y="1119195"/>
                  </a:lnTo>
                  <a:lnTo>
                    <a:pt x="1549048" y="1075886"/>
                  </a:lnTo>
                  <a:lnTo>
                    <a:pt x="1554479" y="1028700"/>
                  </a:lnTo>
                  <a:lnTo>
                    <a:pt x="1554479" y="205740"/>
                  </a:lnTo>
                  <a:lnTo>
                    <a:pt x="1549048" y="158553"/>
                  </a:lnTo>
                  <a:lnTo>
                    <a:pt x="1533574" y="115244"/>
                  </a:lnTo>
                  <a:lnTo>
                    <a:pt x="1509293" y="77044"/>
                  </a:lnTo>
                  <a:lnTo>
                    <a:pt x="1477435" y="45186"/>
                  </a:lnTo>
                  <a:lnTo>
                    <a:pt x="1439235" y="20905"/>
                  </a:lnTo>
                  <a:lnTo>
                    <a:pt x="1395926" y="5431"/>
                  </a:lnTo>
                  <a:lnTo>
                    <a:pt x="134873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105644" y="2241803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79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1348739" y="0"/>
                  </a:lnTo>
                  <a:lnTo>
                    <a:pt x="1395926" y="5431"/>
                  </a:lnTo>
                  <a:lnTo>
                    <a:pt x="1439235" y="20905"/>
                  </a:lnTo>
                  <a:lnTo>
                    <a:pt x="1477435" y="45186"/>
                  </a:lnTo>
                  <a:lnTo>
                    <a:pt x="1509293" y="77044"/>
                  </a:lnTo>
                  <a:lnTo>
                    <a:pt x="1533574" y="115244"/>
                  </a:lnTo>
                  <a:lnTo>
                    <a:pt x="1549048" y="158553"/>
                  </a:lnTo>
                  <a:lnTo>
                    <a:pt x="1554479" y="205740"/>
                  </a:lnTo>
                  <a:lnTo>
                    <a:pt x="1554479" y="1028700"/>
                  </a:lnTo>
                  <a:lnTo>
                    <a:pt x="1549048" y="1075886"/>
                  </a:lnTo>
                  <a:lnTo>
                    <a:pt x="1533574" y="1119195"/>
                  </a:lnTo>
                  <a:lnTo>
                    <a:pt x="1509293" y="1157395"/>
                  </a:lnTo>
                  <a:lnTo>
                    <a:pt x="1477435" y="1189253"/>
                  </a:lnTo>
                  <a:lnTo>
                    <a:pt x="1439235" y="1213534"/>
                  </a:lnTo>
                  <a:lnTo>
                    <a:pt x="1395926" y="1229008"/>
                  </a:lnTo>
                  <a:lnTo>
                    <a:pt x="1348739" y="1234440"/>
                  </a:lnTo>
                  <a:lnTo>
                    <a:pt x="205739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0570209" y="2539746"/>
            <a:ext cx="628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C7FF"/>
                </a:solidFill>
                <a:latin typeface="Calibri"/>
                <a:cs typeface="Calibri"/>
              </a:rPr>
              <a:t>DECISION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142726" y="6514895"/>
            <a:ext cx="440055" cy="1549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04</a:t>
            </a:r>
            <a:r>
              <a:rPr dirty="0" sz="900" spc="24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/</a:t>
            </a:r>
            <a:r>
              <a:rPr dirty="0" sz="900" spc="24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AEBDD2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335259" y="2939287"/>
            <a:ext cx="11010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F5F8FB"/>
                </a:solidFill>
                <a:latin typeface="Microsoft Sans Serif"/>
                <a:cs typeface="Microsoft Sans Serif"/>
              </a:rPr>
              <a:t>Investment</a:t>
            </a:r>
            <a:r>
              <a:rPr dirty="0" sz="1000" spc="-6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F5F8FB"/>
                </a:solidFill>
                <a:latin typeface="Microsoft Sans Serif"/>
                <a:cs typeface="Microsoft Sans Serif"/>
              </a:rPr>
              <a:t>Actions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9124" y="4094429"/>
            <a:ext cx="62420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10">
                <a:solidFill>
                  <a:srgbClr val="AEBDD2"/>
                </a:solidFill>
                <a:latin typeface="Arial Black"/>
                <a:cs typeface="Arial Black"/>
              </a:rPr>
              <a:t>SOURCE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868295" y="4094429"/>
            <a:ext cx="92964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10">
                <a:solidFill>
                  <a:srgbClr val="AEBDD2"/>
                </a:solidFill>
                <a:latin typeface="Arial Black"/>
                <a:cs typeface="Arial Black"/>
              </a:rPr>
              <a:t>TRANSFORM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63943" y="4094429"/>
            <a:ext cx="70358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10">
                <a:solidFill>
                  <a:srgbClr val="AEBDD2"/>
                </a:solidFill>
                <a:latin typeface="Arial Black"/>
                <a:cs typeface="Arial Black"/>
              </a:rPr>
              <a:t>ANALYZE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856089" y="4094429"/>
            <a:ext cx="32004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25">
                <a:solidFill>
                  <a:srgbClr val="AEBDD2"/>
                </a:solidFill>
                <a:latin typeface="Arial Black"/>
                <a:cs typeface="Arial Black"/>
              </a:rPr>
              <a:t>ACT</a:t>
            </a:r>
            <a:endParaRPr sz="1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Methodology</a:t>
            </a:r>
            <a:r>
              <a:rPr dirty="0" spc="-80"/>
              <a:t> </a:t>
            </a:r>
            <a:r>
              <a:rPr dirty="0" spc="-20"/>
              <a:t>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0084" y="865759"/>
            <a:ext cx="4876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Seven</a:t>
            </a:r>
            <a:r>
              <a:rPr dirty="0" sz="1200" spc="-4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repeatable</a:t>
            </a:r>
            <a:r>
              <a:rPr dirty="0" sz="1200" spc="2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steps</a:t>
            </a:r>
            <a:r>
              <a:rPr dirty="0" sz="1200" spc="-2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from</a:t>
            </a:r>
            <a:r>
              <a:rPr dirty="0" sz="1200" spc="-3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raw</a:t>
            </a:r>
            <a:r>
              <a:rPr dirty="0" sz="1200" spc="-1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data</a:t>
            </a:r>
            <a:r>
              <a:rPr dirty="0" sz="1200" spc="-20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to</a:t>
            </a:r>
            <a:r>
              <a:rPr dirty="0" sz="1200" spc="-2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 spc="-10">
                <a:solidFill>
                  <a:srgbClr val="AEBDD2"/>
                </a:solidFill>
                <a:latin typeface="Arial Black"/>
                <a:cs typeface="Arial Black"/>
              </a:rPr>
              <a:t>recommendation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4151" y="1987295"/>
            <a:ext cx="1421765" cy="1284605"/>
            <a:chOff x="454151" y="1987295"/>
            <a:chExt cx="1421765" cy="12846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151" y="1987295"/>
              <a:ext cx="1421765" cy="128447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443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80" h="1188720">
                  <a:moveTo>
                    <a:pt x="1127760" y="0"/>
                  </a:moveTo>
                  <a:lnTo>
                    <a:pt x="198120" y="0"/>
                  </a:lnTo>
                  <a:lnTo>
                    <a:pt x="152691" y="5229"/>
                  </a:lnTo>
                  <a:lnTo>
                    <a:pt x="110989" y="20127"/>
                  </a:lnTo>
                  <a:lnTo>
                    <a:pt x="74204" y="43507"/>
                  </a:lnTo>
                  <a:lnTo>
                    <a:pt x="43523" y="74182"/>
                  </a:lnTo>
                  <a:lnTo>
                    <a:pt x="20136" y="110967"/>
                  </a:lnTo>
                  <a:lnTo>
                    <a:pt x="5232" y="152675"/>
                  </a:lnTo>
                  <a:lnTo>
                    <a:pt x="0" y="198120"/>
                  </a:lnTo>
                  <a:lnTo>
                    <a:pt x="0" y="990600"/>
                  </a:lnTo>
                  <a:lnTo>
                    <a:pt x="5232" y="1036044"/>
                  </a:lnTo>
                  <a:lnTo>
                    <a:pt x="20136" y="1077752"/>
                  </a:lnTo>
                  <a:lnTo>
                    <a:pt x="43523" y="1114537"/>
                  </a:lnTo>
                  <a:lnTo>
                    <a:pt x="74204" y="1145212"/>
                  </a:lnTo>
                  <a:lnTo>
                    <a:pt x="110989" y="1168592"/>
                  </a:lnTo>
                  <a:lnTo>
                    <a:pt x="152691" y="1183490"/>
                  </a:lnTo>
                  <a:lnTo>
                    <a:pt x="198120" y="1188720"/>
                  </a:lnTo>
                  <a:lnTo>
                    <a:pt x="1127760" y="1188720"/>
                  </a:lnTo>
                  <a:lnTo>
                    <a:pt x="1173204" y="1183490"/>
                  </a:lnTo>
                  <a:lnTo>
                    <a:pt x="1214912" y="1168592"/>
                  </a:lnTo>
                  <a:lnTo>
                    <a:pt x="1251697" y="1145212"/>
                  </a:lnTo>
                  <a:lnTo>
                    <a:pt x="1282372" y="1114537"/>
                  </a:lnTo>
                  <a:lnTo>
                    <a:pt x="1305752" y="1077752"/>
                  </a:lnTo>
                  <a:lnTo>
                    <a:pt x="1320650" y="1036044"/>
                  </a:lnTo>
                  <a:lnTo>
                    <a:pt x="1325880" y="990600"/>
                  </a:lnTo>
                  <a:lnTo>
                    <a:pt x="1325880" y="198120"/>
                  </a:lnTo>
                  <a:lnTo>
                    <a:pt x="1320650" y="152675"/>
                  </a:lnTo>
                  <a:lnTo>
                    <a:pt x="1305752" y="110967"/>
                  </a:lnTo>
                  <a:lnTo>
                    <a:pt x="1282372" y="74182"/>
                  </a:lnTo>
                  <a:lnTo>
                    <a:pt x="1251697" y="43507"/>
                  </a:lnTo>
                  <a:lnTo>
                    <a:pt x="1214912" y="20127"/>
                  </a:lnTo>
                  <a:lnTo>
                    <a:pt x="1173204" y="5229"/>
                  </a:lnTo>
                  <a:lnTo>
                    <a:pt x="112776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4443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80" h="1188720">
                  <a:moveTo>
                    <a:pt x="0" y="198120"/>
                  </a:moveTo>
                  <a:lnTo>
                    <a:pt x="5232" y="152675"/>
                  </a:lnTo>
                  <a:lnTo>
                    <a:pt x="20136" y="110967"/>
                  </a:lnTo>
                  <a:lnTo>
                    <a:pt x="43523" y="74182"/>
                  </a:lnTo>
                  <a:lnTo>
                    <a:pt x="74204" y="43507"/>
                  </a:lnTo>
                  <a:lnTo>
                    <a:pt x="110989" y="20127"/>
                  </a:lnTo>
                  <a:lnTo>
                    <a:pt x="152691" y="5229"/>
                  </a:lnTo>
                  <a:lnTo>
                    <a:pt x="198120" y="0"/>
                  </a:lnTo>
                  <a:lnTo>
                    <a:pt x="1127760" y="0"/>
                  </a:lnTo>
                  <a:lnTo>
                    <a:pt x="1173204" y="5229"/>
                  </a:lnTo>
                  <a:lnTo>
                    <a:pt x="1214912" y="20127"/>
                  </a:lnTo>
                  <a:lnTo>
                    <a:pt x="1251697" y="43507"/>
                  </a:lnTo>
                  <a:lnTo>
                    <a:pt x="1282372" y="74182"/>
                  </a:lnTo>
                  <a:lnTo>
                    <a:pt x="1305752" y="110967"/>
                  </a:lnTo>
                  <a:lnTo>
                    <a:pt x="1320650" y="152675"/>
                  </a:lnTo>
                  <a:lnTo>
                    <a:pt x="1325880" y="198120"/>
                  </a:lnTo>
                  <a:lnTo>
                    <a:pt x="1325880" y="990600"/>
                  </a:lnTo>
                  <a:lnTo>
                    <a:pt x="1320650" y="1036044"/>
                  </a:lnTo>
                  <a:lnTo>
                    <a:pt x="1305752" y="1077752"/>
                  </a:lnTo>
                  <a:lnTo>
                    <a:pt x="1282372" y="1114537"/>
                  </a:lnTo>
                  <a:lnTo>
                    <a:pt x="1251697" y="1145212"/>
                  </a:lnTo>
                  <a:lnTo>
                    <a:pt x="1214912" y="1168592"/>
                  </a:lnTo>
                  <a:lnTo>
                    <a:pt x="1173204" y="1183490"/>
                  </a:lnTo>
                  <a:lnTo>
                    <a:pt x="1127760" y="1188720"/>
                  </a:lnTo>
                  <a:lnTo>
                    <a:pt x="198120" y="1188720"/>
                  </a:lnTo>
                  <a:lnTo>
                    <a:pt x="152691" y="1183490"/>
                  </a:lnTo>
                  <a:lnTo>
                    <a:pt x="110989" y="1168592"/>
                  </a:lnTo>
                  <a:lnTo>
                    <a:pt x="74204" y="1145212"/>
                  </a:lnTo>
                  <a:lnTo>
                    <a:pt x="43523" y="1114537"/>
                  </a:lnTo>
                  <a:lnTo>
                    <a:pt x="20136" y="1077752"/>
                  </a:lnTo>
                  <a:lnTo>
                    <a:pt x="5232" y="1036044"/>
                  </a:lnTo>
                  <a:lnTo>
                    <a:pt x="0" y="990600"/>
                  </a:lnTo>
                  <a:lnTo>
                    <a:pt x="0" y="198120"/>
                  </a:lnTo>
                  <a:close/>
                </a:path>
              </a:pathLst>
            </a:custGeom>
            <a:ln w="9143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91692" y="2271521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01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3508" y="2676905"/>
            <a:ext cx="8343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solidFill>
                  <a:srgbClr val="F5F8FB"/>
                </a:solidFill>
                <a:latin typeface="Calibri"/>
                <a:cs typeface="Calibri"/>
              </a:rPr>
              <a:t>Data</a:t>
            </a:r>
            <a:r>
              <a:rPr dirty="0" sz="1000" spc="-15" b="1">
                <a:solidFill>
                  <a:srgbClr val="F5F8F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5F8FB"/>
                </a:solidFill>
                <a:latin typeface="Calibri"/>
                <a:cs typeface="Calibri"/>
              </a:rPr>
              <a:t>Collection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22526" y="2451354"/>
            <a:ext cx="9779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 b="1">
                <a:solidFill>
                  <a:srgbClr val="AEBDD2"/>
                </a:solidFill>
                <a:latin typeface="Arial"/>
                <a:cs typeface="Arial"/>
              </a:rPr>
              <a:t>›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18360" y="1987295"/>
            <a:ext cx="1421765" cy="1284605"/>
            <a:chOff x="2118360" y="1987295"/>
            <a:chExt cx="1421765" cy="128460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8360" y="1987295"/>
              <a:ext cx="1421764" cy="128447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68652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79" h="1188720">
                  <a:moveTo>
                    <a:pt x="1127760" y="0"/>
                  </a:moveTo>
                  <a:lnTo>
                    <a:pt x="198120" y="0"/>
                  </a:lnTo>
                  <a:lnTo>
                    <a:pt x="152675" y="5229"/>
                  </a:lnTo>
                  <a:lnTo>
                    <a:pt x="110967" y="20127"/>
                  </a:lnTo>
                  <a:lnTo>
                    <a:pt x="74182" y="43507"/>
                  </a:lnTo>
                  <a:lnTo>
                    <a:pt x="43507" y="74182"/>
                  </a:lnTo>
                  <a:lnTo>
                    <a:pt x="20127" y="110967"/>
                  </a:lnTo>
                  <a:lnTo>
                    <a:pt x="5229" y="152675"/>
                  </a:lnTo>
                  <a:lnTo>
                    <a:pt x="0" y="198120"/>
                  </a:lnTo>
                  <a:lnTo>
                    <a:pt x="0" y="990600"/>
                  </a:lnTo>
                  <a:lnTo>
                    <a:pt x="5229" y="1036044"/>
                  </a:lnTo>
                  <a:lnTo>
                    <a:pt x="20127" y="1077752"/>
                  </a:lnTo>
                  <a:lnTo>
                    <a:pt x="43507" y="1114537"/>
                  </a:lnTo>
                  <a:lnTo>
                    <a:pt x="74182" y="1145212"/>
                  </a:lnTo>
                  <a:lnTo>
                    <a:pt x="110967" y="1168592"/>
                  </a:lnTo>
                  <a:lnTo>
                    <a:pt x="152675" y="1183490"/>
                  </a:lnTo>
                  <a:lnTo>
                    <a:pt x="198120" y="1188720"/>
                  </a:lnTo>
                  <a:lnTo>
                    <a:pt x="1127760" y="1188720"/>
                  </a:lnTo>
                  <a:lnTo>
                    <a:pt x="1173204" y="1183490"/>
                  </a:lnTo>
                  <a:lnTo>
                    <a:pt x="1214912" y="1168592"/>
                  </a:lnTo>
                  <a:lnTo>
                    <a:pt x="1251697" y="1145212"/>
                  </a:lnTo>
                  <a:lnTo>
                    <a:pt x="1282372" y="1114537"/>
                  </a:lnTo>
                  <a:lnTo>
                    <a:pt x="1305752" y="1077752"/>
                  </a:lnTo>
                  <a:lnTo>
                    <a:pt x="1320650" y="1036044"/>
                  </a:lnTo>
                  <a:lnTo>
                    <a:pt x="1325880" y="990600"/>
                  </a:lnTo>
                  <a:lnTo>
                    <a:pt x="1325880" y="198120"/>
                  </a:lnTo>
                  <a:lnTo>
                    <a:pt x="1320650" y="152675"/>
                  </a:lnTo>
                  <a:lnTo>
                    <a:pt x="1305752" y="110967"/>
                  </a:lnTo>
                  <a:lnTo>
                    <a:pt x="1282372" y="74182"/>
                  </a:lnTo>
                  <a:lnTo>
                    <a:pt x="1251697" y="43507"/>
                  </a:lnTo>
                  <a:lnTo>
                    <a:pt x="1214912" y="20127"/>
                  </a:lnTo>
                  <a:lnTo>
                    <a:pt x="1173204" y="5229"/>
                  </a:lnTo>
                  <a:lnTo>
                    <a:pt x="112776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168652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79" h="1188720">
                  <a:moveTo>
                    <a:pt x="0" y="198120"/>
                  </a:moveTo>
                  <a:lnTo>
                    <a:pt x="5229" y="152675"/>
                  </a:lnTo>
                  <a:lnTo>
                    <a:pt x="20127" y="110967"/>
                  </a:lnTo>
                  <a:lnTo>
                    <a:pt x="43507" y="74182"/>
                  </a:lnTo>
                  <a:lnTo>
                    <a:pt x="74182" y="43507"/>
                  </a:lnTo>
                  <a:lnTo>
                    <a:pt x="110967" y="20127"/>
                  </a:lnTo>
                  <a:lnTo>
                    <a:pt x="152675" y="5229"/>
                  </a:lnTo>
                  <a:lnTo>
                    <a:pt x="198120" y="0"/>
                  </a:lnTo>
                  <a:lnTo>
                    <a:pt x="1127760" y="0"/>
                  </a:lnTo>
                  <a:lnTo>
                    <a:pt x="1173204" y="5229"/>
                  </a:lnTo>
                  <a:lnTo>
                    <a:pt x="1214912" y="20127"/>
                  </a:lnTo>
                  <a:lnTo>
                    <a:pt x="1251697" y="43507"/>
                  </a:lnTo>
                  <a:lnTo>
                    <a:pt x="1282372" y="74182"/>
                  </a:lnTo>
                  <a:lnTo>
                    <a:pt x="1305752" y="110967"/>
                  </a:lnTo>
                  <a:lnTo>
                    <a:pt x="1320650" y="152675"/>
                  </a:lnTo>
                  <a:lnTo>
                    <a:pt x="1325880" y="198120"/>
                  </a:lnTo>
                  <a:lnTo>
                    <a:pt x="1325880" y="990600"/>
                  </a:lnTo>
                  <a:lnTo>
                    <a:pt x="1320650" y="1036044"/>
                  </a:lnTo>
                  <a:lnTo>
                    <a:pt x="1305752" y="1077752"/>
                  </a:lnTo>
                  <a:lnTo>
                    <a:pt x="1282372" y="1114537"/>
                  </a:lnTo>
                  <a:lnTo>
                    <a:pt x="1251697" y="1145212"/>
                  </a:lnTo>
                  <a:lnTo>
                    <a:pt x="1214912" y="1168592"/>
                  </a:lnTo>
                  <a:lnTo>
                    <a:pt x="1173204" y="1183490"/>
                  </a:lnTo>
                  <a:lnTo>
                    <a:pt x="1127760" y="1188720"/>
                  </a:lnTo>
                  <a:lnTo>
                    <a:pt x="198120" y="1188720"/>
                  </a:lnTo>
                  <a:lnTo>
                    <a:pt x="152675" y="1183490"/>
                  </a:lnTo>
                  <a:lnTo>
                    <a:pt x="110967" y="1168592"/>
                  </a:lnTo>
                  <a:lnTo>
                    <a:pt x="74182" y="1145212"/>
                  </a:lnTo>
                  <a:lnTo>
                    <a:pt x="43507" y="1114537"/>
                  </a:lnTo>
                  <a:lnTo>
                    <a:pt x="20127" y="1077752"/>
                  </a:lnTo>
                  <a:lnTo>
                    <a:pt x="5229" y="1036044"/>
                  </a:lnTo>
                  <a:lnTo>
                    <a:pt x="0" y="990600"/>
                  </a:lnTo>
                  <a:lnTo>
                    <a:pt x="0" y="19812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356230" y="2271521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02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4623" y="2676905"/>
            <a:ext cx="75946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solidFill>
                  <a:srgbClr val="F5F8FB"/>
                </a:solidFill>
                <a:latin typeface="Calibri"/>
                <a:cs typeface="Calibri"/>
              </a:rPr>
              <a:t>Data</a:t>
            </a:r>
            <a:r>
              <a:rPr dirty="0" sz="1000" spc="-15" b="1">
                <a:solidFill>
                  <a:srgbClr val="F5F8F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5F8FB"/>
                </a:solidFill>
                <a:latin typeface="Calibri"/>
                <a:cs typeface="Calibri"/>
              </a:rPr>
              <a:t>Cleaning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87241" y="2451354"/>
            <a:ext cx="9779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 b="1">
                <a:solidFill>
                  <a:srgbClr val="AEBDD2"/>
                </a:solidFill>
                <a:latin typeface="Arial"/>
                <a:cs typeface="Arial"/>
              </a:rPr>
              <a:t>›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782567" y="1987295"/>
            <a:ext cx="1421765" cy="1284605"/>
            <a:chOff x="3782567" y="1987295"/>
            <a:chExt cx="1421765" cy="128460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2567" y="1987295"/>
              <a:ext cx="1421764" cy="128447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832859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79" h="1188720">
                  <a:moveTo>
                    <a:pt x="1127760" y="0"/>
                  </a:moveTo>
                  <a:lnTo>
                    <a:pt x="198119" y="0"/>
                  </a:lnTo>
                  <a:lnTo>
                    <a:pt x="152675" y="5229"/>
                  </a:lnTo>
                  <a:lnTo>
                    <a:pt x="110967" y="20127"/>
                  </a:lnTo>
                  <a:lnTo>
                    <a:pt x="74182" y="43507"/>
                  </a:lnTo>
                  <a:lnTo>
                    <a:pt x="43507" y="74182"/>
                  </a:lnTo>
                  <a:lnTo>
                    <a:pt x="20127" y="110967"/>
                  </a:lnTo>
                  <a:lnTo>
                    <a:pt x="5229" y="152675"/>
                  </a:lnTo>
                  <a:lnTo>
                    <a:pt x="0" y="198120"/>
                  </a:lnTo>
                  <a:lnTo>
                    <a:pt x="0" y="990600"/>
                  </a:lnTo>
                  <a:lnTo>
                    <a:pt x="5229" y="1036044"/>
                  </a:lnTo>
                  <a:lnTo>
                    <a:pt x="20127" y="1077752"/>
                  </a:lnTo>
                  <a:lnTo>
                    <a:pt x="43507" y="1114537"/>
                  </a:lnTo>
                  <a:lnTo>
                    <a:pt x="74182" y="1145212"/>
                  </a:lnTo>
                  <a:lnTo>
                    <a:pt x="110967" y="1168592"/>
                  </a:lnTo>
                  <a:lnTo>
                    <a:pt x="152675" y="1183490"/>
                  </a:lnTo>
                  <a:lnTo>
                    <a:pt x="198119" y="1188720"/>
                  </a:lnTo>
                  <a:lnTo>
                    <a:pt x="1127760" y="1188720"/>
                  </a:lnTo>
                  <a:lnTo>
                    <a:pt x="1173204" y="1183490"/>
                  </a:lnTo>
                  <a:lnTo>
                    <a:pt x="1214912" y="1168592"/>
                  </a:lnTo>
                  <a:lnTo>
                    <a:pt x="1251697" y="1145212"/>
                  </a:lnTo>
                  <a:lnTo>
                    <a:pt x="1282372" y="1114537"/>
                  </a:lnTo>
                  <a:lnTo>
                    <a:pt x="1305752" y="1077752"/>
                  </a:lnTo>
                  <a:lnTo>
                    <a:pt x="1320650" y="1036044"/>
                  </a:lnTo>
                  <a:lnTo>
                    <a:pt x="1325879" y="990600"/>
                  </a:lnTo>
                  <a:lnTo>
                    <a:pt x="1325879" y="198120"/>
                  </a:lnTo>
                  <a:lnTo>
                    <a:pt x="1320650" y="152675"/>
                  </a:lnTo>
                  <a:lnTo>
                    <a:pt x="1305752" y="110967"/>
                  </a:lnTo>
                  <a:lnTo>
                    <a:pt x="1282372" y="74182"/>
                  </a:lnTo>
                  <a:lnTo>
                    <a:pt x="1251697" y="43507"/>
                  </a:lnTo>
                  <a:lnTo>
                    <a:pt x="1214912" y="20127"/>
                  </a:lnTo>
                  <a:lnTo>
                    <a:pt x="1173204" y="5229"/>
                  </a:lnTo>
                  <a:lnTo>
                    <a:pt x="112776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832859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79" h="1188720">
                  <a:moveTo>
                    <a:pt x="0" y="198120"/>
                  </a:moveTo>
                  <a:lnTo>
                    <a:pt x="5229" y="152675"/>
                  </a:lnTo>
                  <a:lnTo>
                    <a:pt x="20127" y="110967"/>
                  </a:lnTo>
                  <a:lnTo>
                    <a:pt x="43507" y="74182"/>
                  </a:lnTo>
                  <a:lnTo>
                    <a:pt x="74182" y="43507"/>
                  </a:lnTo>
                  <a:lnTo>
                    <a:pt x="110967" y="20127"/>
                  </a:lnTo>
                  <a:lnTo>
                    <a:pt x="152675" y="5229"/>
                  </a:lnTo>
                  <a:lnTo>
                    <a:pt x="198119" y="0"/>
                  </a:lnTo>
                  <a:lnTo>
                    <a:pt x="1127760" y="0"/>
                  </a:lnTo>
                  <a:lnTo>
                    <a:pt x="1173204" y="5229"/>
                  </a:lnTo>
                  <a:lnTo>
                    <a:pt x="1214912" y="20127"/>
                  </a:lnTo>
                  <a:lnTo>
                    <a:pt x="1251697" y="43507"/>
                  </a:lnTo>
                  <a:lnTo>
                    <a:pt x="1282372" y="74182"/>
                  </a:lnTo>
                  <a:lnTo>
                    <a:pt x="1305752" y="110967"/>
                  </a:lnTo>
                  <a:lnTo>
                    <a:pt x="1320650" y="152675"/>
                  </a:lnTo>
                  <a:lnTo>
                    <a:pt x="1325879" y="198120"/>
                  </a:lnTo>
                  <a:lnTo>
                    <a:pt x="1325879" y="990600"/>
                  </a:lnTo>
                  <a:lnTo>
                    <a:pt x="1320650" y="1036044"/>
                  </a:lnTo>
                  <a:lnTo>
                    <a:pt x="1305752" y="1077752"/>
                  </a:lnTo>
                  <a:lnTo>
                    <a:pt x="1282372" y="1114537"/>
                  </a:lnTo>
                  <a:lnTo>
                    <a:pt x="1251697" y="1145212"/>
                  </a:lnTo>
                  <a:lnTo>
                    <a:pt x="1214912" y="1168592"/>
                  </a:lnTo>
                  <a:lnTo>
                    <a:pt x="1173204" y="1183490"/>
                  </a:lnTo>
                  <a:lnTo>
                    <a:pt x="1127760" y="1188720"/>
                  </a:lnTo>
                  <a:lnTo>
                    <a:pt x="198119" y="1188720"/>
                  </a:lnTo>
                  <a:lnTo>
                    <a:pt x="152675" y="1183490"/>
                  </a:lnTo>
                  <a:lnTo>
                    <a:pt x="110967" y="1168592"/>
                  </a:lnTo>
                  <a:lnTo>
                    <a:pt x="74182" y="1145212"/>
                  </a:lnTo>
                  <a:lnTo>
                    <a:pt x="43507" y="1114537"/>
                  </a:lnTo>
                  <a:lnTo>
                    <a:pt x="20127" y="1077752"/>
                  </a:lnTo>
                  <a:lnTo>
                    <a:pt x="5229" y="1036044"/>
                  </a:lnTo>
                  <a:lnTo>
                    <a:pt x="0" y="990600"/>
                  </a:lnTo>
                  <a:lnTo>
                    <a:pt x="0" y="19812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020692" y="2271521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03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20692" y="2676905"/>
            <a:ext cx="934719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solidFill>
                  <a:srgbClr val="F5F8FB"/>
                </a:solidFill>
                <a:latin typeface="Calibri"/>
                <a:cs typeface="Calibri"/>
              </a:rPr>
              <a:t>Data</a:t>
            </a:r>
            <a:r>
              <a:rPr dirty="0" sz="1000" spc="-15" b="1">
                <a:solidFill>
                  <a:srgbClr val="F5F8F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5F8FB"/>
                </a:solidFill>
                <a:latin typeface="Calibri"/>
                <a:cs typeface="Calibri"/>
              </a:rPr>
              <a:t>Preparation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51830" y="2451354"/>
            <a:ext cx="9779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 b="1">
                <a:solidFill>
                  <a:srgbClr val="AEBDD2"/>
                </a:solidFill>
                <a:latin typeface="Arial"/>
                <a:cs typeface="Arial"/>
              </a:rPr>
              <a:t>›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446776" y="1987295"/>
            <a:ext cx="1421765" cy="1284605"/>
            <a:chOff x="5446776" y="1987295"/>
            <a:chExt cx="1421765" cy="128460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6776" y="1987295"/>
              <a:ext cx="1421765" cy="128447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497068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79" h="1188720">
                  <a:moveTo>
                    <a:pt x="1127760" y="0"/>
                  </a:moveTo>
                  <a:lnTo>
                    <a:pt x="198120" y="0"/>
                  </a:lnTo>
                  <a:lnTo>
                    <a:pt x="152675" y="5229"/>
                  </a:lnTo>
                  <a:lnTo>
                    <a:pt x="110967" y="20127"/>
                  </a:lnTo>
                  <a:lnTo>
                    <a:pt x="74182" y="43507"/>
                  </a:lnTo>
                  <a:lnTo>
                    <a:pt x="43507" y="74182"/>
                  </a:lnTo>
                  <a:lnTo>
                    <a:pt x="20127" y="110967"/>
                  </a:lnTo>
                  <a:lnTo>
                    <a:pt x="5229" y="152675"/>
                  </a:lnTo>
                  <a:lnTo>
                    <a:pt x="0" y="198120"/>
                  </a:lnTo>
                  <a:lnTo>
                    <a:pt x="0" y="990600"/>
                  </a:lnTo>
                  <a:lnTo>
                    <a:pt x="5229" y="1036044"/>
                  </a:lnTo>
                  <a:lnTo>
                    <a:pt x="20127" y="1077752"/>
                  </a:lnTo>
                  <a:lnTo>
                    <a:pt x="43507" y="1114537"/>
                  </a:lnTo>
                  <a:lnTo>
                    <a:pt x="74182" y="1145212"/>
                  </a:lnTo>
                  <a:lnTo>
                    <a:pt x="110967" y="1168592"/>
                  </a:lnTo>
                  <a:lnTo>
                    <a:pt x="152675" y="1183490"/>
                  </a:lnTo>
                  <a:lnTo>
                    <a:pt x="198120" y="1188720"/>
                  </a:lnTo>
                  <a:lnTo>
                    <a:pt x="1127760" y="1188720"/>
                  </a:lnTo>
                  <a:lnTo>
                    <a:pt x="1173204" y="1183490"/>
                  </a:lnTo>
                  <a:lnTo>
                    <a:pt x="1214912" y="1168592"/>
                  </a:lnTo>
                  <a:lnTo>
                    <a:pt x="1251697" y="1145212"/>
                  </a:lnTo>
                  <a:lnTo>
                    <a:pt x="1282372" y="1114537"/>
                  </a:lnTo>
                  <a:lnTo>
                    <a:pt x="1305752" y="1077752"/>
                  </a:lnTo>
                  <a:lnTo>
                    <a:pt x="1320650" y="1036044"/>
                  </a:lnTo>
                  <a:lnTo>
                    <a:pt x="1325880" y="990600"/>
                  </a:lnTo>
                  <a:lnTo>
                    <a:pt x="1325880" y="198120"/>
                  </a:lnTo>
                  <a:lnTo>
                    <a:pt x="1320650" y="152675"/>
                  </a:lnTo>
                  <a:lnTo>
                    <a:pt x="1305752" y="110967"/>
                  </a:lnTo>
                  <a:lnTo>
                    <a:pt x="1282372" y="74182"/>
                  </a:lnTo>
                  <a:lnTo>
                    <a:pt x="1251697" y="43507"/>
                  </a:lnTo>
                  <a:lnTo>
                    <a:pt x="1214912" y="20127"/>
                  </a:lnTo>
                  <a:lnTo>
                    <a:pt x="1173204" y="5229"/>
                  </a:lnTo>
                  <a:lnTo>
                    <a:pt x="112776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497068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79" h="1188720">
                  <a:moveTo>
                    <a:pt x="0" y="198120"/>
                  </a:moveTo>
                  <a:lnTo>
                    <a:pt x="5229" y="152675"/>
                  </a:lnTo>
                  <a:lnTo>
                    <a:pt x="20127" y="110967"/>
                  </a:lnTo>
                  <a:lnTo>
                    <a:pt x="43507" y="74182"/>
                  </a:lnTo>
                  <a:lnTo>
                    <a:pt x="74182" y="43507"/>
                  </a:lnTo>
                  <a:lnTo>
                    <a:pt x="110967" y="20127"/>
                  </a:lnTo>
                  <a:lnTo>
                    <a:pt x="152675" y="5229"/>
                  </a:lnTo>
                  <a:lnTo>
                    <a:pt x="198120" y="0"/>
                  </a:lnTo>
                  <a:lnTo>
                    <a:pt x="1127760" y="0"/>
                  </a:lnTo>
                  <a:lnTo>
                    <a:pt x="1173204" y="5229"/>
                  </a:lnTo>
                  <a:lnTo>
                    <a:pt x="1214912" y="20127"/>
                  </a:lnTo>
                  <a:lnTo>
                    <a:pt x="1251697" y="43507"/>
                  </a:lnTo>
                  <a:lnTo>
                    <a:pt x="1282372" y="74182"/>
                  </a:lnTo>
                  <a:lnTo>
                    <a:pt x="1305752" y="110967"/>
                  </a:lnTo>
                  <a:lnTo>
                    <a:pt x="1320650" y="152675"/>
                  </a:lnTo>
                  <a:lnTo>
                    <a:pt x="1325880" y="198120"/>
                  </a:lnTo>
                  <a:lnTo>
                    <a:pt x="1325880" y="990600"/>
                  </a:lnTo>
                  <a:lnTo>
                    <a:pt x="1320650" y="1036044"/>
                  </a:lnTo>
                  <a:lnTo>
                    <a:pt x="1305752" y="1077752"/>
                  </a:lnTo>
                  <a:lnTo>
                    <a:pt x="1282372" y="1114537"/>
                  </a:lnTo>
                  <a:lnTo>
                    <a:pt x="1251697" y="1145212"/>
                  </a:lnTo>
                  <a:lnTo>
                    <a:pt x="1214912" y="1168592"/>
                  </a:lnTo>
                  <a:lnTo>
                    <a:pt x="1173204" y="1183490"/>
                  </a:lnTo>
                  <a:lnTo>
                    <a:pt x="1127760" y="1188720"/>
                  </a:lnTo>
                  <a:lnTo>
                    <a:pt x="198120" y="1188720"/>
                  </a:lnTo>
                  <a:lnTo>
                    <a:pt x="152675" y="1183490"/>
                  </a:lnTo>
                  <a:lnTo>
                    <a:pt x="110967" y="1168592"/>
                  </a:lnTo>
                  <a:lnTo>
                    <a:pt x="74182" y="1145212"/>
                  </a:lnTo>
                  <a:lnTo>
                    <a:pt x="43507" y="1114537"/>
                  </a:lnTo>
                  <a:lnTo>
                    <a:pt x="20127" y="1077752"/>
                  </a:lnTo>
                  <a:lnTo>
                    <a:pt x="5229" y="1036044"/>
                  </a:lnTo>
                  <a:lnTo>
                    <a:pt x="0" y="990600"/>
                  </a:lnTo>
                  <a:lnTo>
                    <a:pt x="0" y="19812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685535" y="2271521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04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34303" y="2676905"/>
            <a:ext cx="8401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solidFill>
                  <a:srgbClr val="F5F8FB"/>
                </a:solidFill>
                <a:latin typeface="Calibri"/>
                <a:cs typeface="Calibri"/>
              </a:rPr>
              <a:t>ROI</a:t>
            </a:r>
            <a:r>
              <a:rPr dirty="0" sz="1000" spc="-15" b="1">
                <a:solidFill>
                  <a:srgbClr val="F5F8F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5F8FB"/>
                </a:solidFill>
                <a:latin typeface="Calibri"/>
                <a:cs typeface="Calibri"/>
              </a:rPr>
              <a:t>Calculation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16293" y="2451354"/>
            <a:ext cx="9779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 b="1">
                <a:solidFill>
                  <a:srgbClr val="AEBDD2"/>
                </a:solidFill>
                <a:latin typeface="Arial"/>
                <a:cs typeface="Arial"/>
              </a:rPr>
              <a:t>›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110983" y="1987295"/>
            <a:ext cx="1421765" cy="1284605"/>
            <a:chOff x="7110983" y="1987295"/>
            <a:chExt cx="1421765" cy="1284605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0983" y="1987295"/>
              <a:ext cx="1421765" cy="128447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161275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79" h="1188720">
                  <a:moveTo>
                    <a:pt x="1127759" y="0"/>
                  </a:moveTo>
                  <a:lnTo>
                    <a:pt x="198120" y="0"/>
                  </a:lnTo>
                  <a:lnTo>
                    <a:pt x="152675" y="5229"/>
                  </a:lnTo>
                  <a:lnTo>
                    <a:pt x="110967" y="20127"/>
                  </a:lnTo>
                  <a:lnTo>
                    <a:pt x="74182" y="43507"/>
                  </a:lnTo>
                  <a:lnTo>
                    <a:pt x="43507" y="74182"/>
                  </a:lnTo>
                  <a:lnTo>
                    <a:pt x="20127" y="110967"/>
                  </a:lnTo>
                  <a:lnTo>
                    <a:pt x="5229" y="152675"/>
                  </a:lnTo>
                  <a:lnTo>
                    <a:pt x="0" y="198120"/>
                  </a:lnTo>
                  <a:lnTo>
                    <a:pt x="0" y="990600"/>
                  </a:lnTo>
                  <a:lnTo>
                    <a:pt x="5229" y="1036044"/>
                  </a:lnTo>
                  <a:lnTo>
                    <a:pt x="20127" y="1077752"/>
                  </a:lnTo>
                  <a:lnTo>
                    <a:pt x="43507" y="1114537"/>
                  </a:lnTo>
                  <a:lnTo>
                    <a:pt x="74182" y="1145212"/>
                  </a:lnTo>
                  <a:lnTo>
                    <a:pt x="110967" y="1168592"/>
                  </a:lnTo>
                  <a:lnTo>
                    <a:pt x="152675" y="1183490"/>
                  </a:lnTo>
                  <a:lnTo>
                    <a:pt x="198120" y="1188720"/>
                  </a:lnTo>
                  <a:lnTo>
                    <a:pt x="1127759" y="1188720"/>
                  </a:lnTo>
                  <a:lnTo>
                    <a:pt x="1173204" y="1183490"/>
                  </a:lnTo>
                  <a:lnTo>
                    <a:pt x="1214912" y="1168592"/>
                  </a:lnTo>
                  <a:lnTo>
                    <a:pt x="1251697" y="1145212"/>
                  </a:lnTo>
                  <a:lnTo>
                    <a:pt x="1282372" y="1114537"/>
                  </a:lnTo>
                  <a:lnTo>
                    <a:pt x="1305752" y="1077752"/>
                  </a:lnTo>
                  <a:lnTo>
                    <a:pt x="1320650" y="1036044"/>
                  </a:lnTo>
                  <a:lnTo>
                    <a:pt x="1325879" y="990600"/>
                  </a:lnTo>
                  <a:lnTo>
                    <a:pt x="1325879" y="198120"/>
                  </a:lnTo>
                  <a:lnTo>
                    <a:pt x="1320650" y="152675"/>
                  </a:lnTo>
                  <a:lnTo>
                    <a:pt x="1305752" y="110967"/>
                  </a:lnTo>
                  <a:lnTo>
                    <a:pt x="1282372" y="74182"/>
                  </a:lnTo>
                  <a:lnTo>
                    <a:pt x="1251697" y="43507"/>
                  </a:lnTo>
                  <a:lnTo>
                    <a:pt x="1214912" y="20127"/>
                  </a:lnTo>
                  <a:lnTo>
                    <a:pt x="1173204" y="5229"/>
                  </a:lnTo>
                  <a:lnTo>
                    <a:pt x="112775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161275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79" h="1188720">
                  <a:moveTo>
                    <a:pt x="0" y="198120"/>
                  </a:moveTo>
                  <a:lnTo>
                    <a:pt x="5229" y="152675"/>
                  </a:lnTo>
                  <a:lnTo>
                    <a:pt x="20127" y="110967"/>
                  </a:lnTo>
                  <a:lnTo>
                    <a:pt x="43507" y="74182"/>
                  </a:lnTo>
                  <a:lnTo>
                    <a:pt x="74182" y="43507"/>
                  </a:lnTo>
                  <a:lnTo>
                    <a:pt x="110967" y="20127"/>
                  </a:lnTo>
                  <a:lnTo>
                    <a:pt x="152675" y="5229"/>
                  </a:lnTo>
                  <a:lnTo>
                    <a:pt x="198120" y="0"/>
                  </a:lnTo>
                  <a:lnTo>
                    <a:pt x="1127759" y="0"/>
                  </a:lnTo>
                  <a:lnTo>
                    <a:pt x="1173204" y="5229"/>
                  </a:lnTo>
                  <a:lnTo>
                    <a:pt x="1214912" y="20127"/>
                  </a:lnTo>
                  <a:lnTo>
                    <a:pt x="1251697" y="43507"/>
                  </a:lnTo>
                  <a:lnTo>
                    <a:pt x="1282372" y="74182"/>
                  </a:lnTo>
                  <a:lnTo>
                    <a:pt x="1305752" y="110967"/>
                  </a:lnTo>
                  <a:lnTo>
                    <a:pt x="1320650" y="152675"/>
                  </a:lnTo>
                  <a:lnTo>
                    <a:pt x="1325879" y="198120"/>
                  </a:lnTo>
                  <a:lnTo>
                    <a:pt x="1325879" y="990600"/>
                  </a:lnTo>
                  <a:lnTo>
                    <a:pt x="1320650" y="1036044"/>
                  </a:lnTo>
                  <a:lnTo>
                    <a:pt x="1305752" y="1077752"/>
                  </a:lnTo>
                  <a:lnTo>
                    <a:pt x="1282372" y="1114537"/>
                  </a:lnTo>
                  <a:lnTo>
                    <a:pt x="1251697" y="1145212"/>
                  </a:lnTo>
                  <a:lnTo>
                    <a:pt x="1214912" y="1168592"/>
                  </a:lnTo>
                  <a:lnTo>
                    <a:pt x="1173204" y="1183490"/>
                  </a:lnTo>
                  <a:lnTo>
                    <a:pt x="1127759" y="1188720"/>
                  </a:lnTo>
                  <a:lnTo>
                    <a:pt x="198120" y="1188720"/>
                  </a:lnTo>
                  <a:lnTo>
                    <a:pt x="152675" y="1183490"/>
                  </a:lnTo>
                  <a:lnTo>
                    <a:pt x="110967" y="1168592"/>
                  </a:lnTo>
                  <a:lnTo>
                    <a:pt x="74182" y="1145212"/>
                  </a:lnTo>
                  <a:lnTo>
                    <a:pt x="43507" y="1114537"/>
                  </a:lnTo>
                  <a:lnTo>
                    <a:pt x="20127" y="1077752"/>
                  </a:lnTo>
                  <a:lnTo>
                    <a:pt x="5229" y="1036044"/>
                  </a:lnTo>
                  <a:lnTo>
                    <a:pt x="0" y="990600"/>
                  </a:lnTo>
                  <a:lnTo>
                    <a:pt x="0" y="19812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7349997" y="2271521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05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62773" y="2676905"/>
            <a:ext cx="70929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 b="1">
                <a:solidFill>
                  <a:srgbClr val="F5F8FB"/>
                </a:solidFill>
                <a:latin typeface="Calibri"/>
                <a:cs typeface="Calibri"/>
              </a:rPr>
              <a:t>Visualization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81135" y="2451354"/>
            <a:ext cx="9779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 b="1">
                <a:solidFill>
                  <a:srgbClr val="AEBDD2"/>
                </a:solidFill>
                <a:latin typeface="Arial"/>
                <a:cs typeface="Arial"/>
              </a:rPr>
              <a:t>›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775192" y="1987295"/>
            <a:ext cx="1421765" cy="1284605"/>
            <a:chOff x="8775192" y="1987295"/>
            <a:chExt cx="1421765" cy="1284605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5192" y="1987295"/>
              <a:ext cx="1421765" cy="128447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825484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79" h="1188720">
                  <a:moveTo>
                    <a:pt x="1127760" y="0"/>
                  </a:moveTo>
                  <a:lnTo>
                    <a:pt x="198120" y="0"/>
                  </a:lnTo>
                  <a:lnTo>
                    <a:pt x="152675" y="5229"/>
                  </a:lnTo>
                  <a:lnTo>
                    <a:pt x="110967" y="20127"/>
                  </a:lnTo>
                  <a:lnTo>
                    <a:pt x="74182" y="43507"/>
                  </a:lnTo>
                  <a:lnTo>
                    <a:pt x="43507" y="74182"/>
                  </a:lnTo>
                  <a:lnTo>
                    <a:pt x="20127" y="110967"/>
                  </a:lnTo>
                  <a:lnTo>
                    <a:pt x="5229" y="152675"/>
                  </a:lnTo>
                  <a:lnTo>
                    <a:pt x="0" y="198120"/>
                  </a:lnTo>
                  <a:lnTo>
                    <a:pt x="0" y="990600"/>
                  </a:lnTo>
                  <a:lnTo>
                    <a:pt x="5229" y="1036044"/>
                  </a:lnTo>
                  <a:lnTo>
                    <a:pt x="20127" y="1077752"/>
                  </a:lnTo>
                  <a:lnTo>
                    <a:pt x="43507" y="1114537"/>
                  </a:lnTo>
                  <a:lnTo>
                    <a:pt x="74182" y="1145212"/>
                  </a:lnTo>
                  <a:lnTo>
                    <a:pt x="110967" y="1168592"/>
                  </a:lnTo>
                  <a:lnTo>
                    <a:pt x="152675" y="1183490"/>
                  </a:lnTo>
                  <a:lnTo>
                    <a:pt x="198120" y="1188720"/>
                  </a:lnTo>
                  <a:lnTo>
                    <a:pt x="1127760" y="1188720"/>
                  </a:lnTo>
                  <a:lnTo>
                    <a:pt x="1173204" y="1183490"/>
                  </a:lnTo>
                  <a:lnTo>
                    <a:pt x="1214912" y="1168592"/>
                  </a:lnTo>
                  <a:lnTo>
                    <a:pt x="1251697" y="1145212"/>
                  </a:lnTo>
                  <a:lnTo>
                    <a:pt x="1282372" y="1114537"/>
                  </a:lnTo>
                  <a:lnTo>
                    <a:pt x="1305752" y="1077752"/>
                  </a:lnTo>
                  <a:lnTo>
                    <a:pt x="1320650" y="1036044"/>
                  </a:lnTo>
                  <a:lnTo>
                    <a:pt x="1325880" y="990600"/>
                  </a:lnTo>
                  <a:lnTo>
                    <a:pt x="1325880" y="198120"/>
                  </a:lnTo>
                  <a:lnTo>
                    <a:pt x="1320650" y="152675"/>
                  </a:lnTo>
                  <a:lnTo>
                    <a:pt x="1305752" y="110967"/>
                  </a:lnTo>
                  <a:lnTo>
                    <a:pt x="1282372" y="74182"/>
                  </a:lnTo>
                  <a:lnTo>
                    <a:pt x="1251697" y="43507"/>
                  </a:lnTo>
                  <a:lnTo>
                    <a:pt x="1214912" y="20127"/>
                  </a:lnTo>
                  <a:lnTo>
                    <a:pt x="1173204" y="5229"/>
                  </a:lnTo>
                  <a:lnTo>
                    <a:pt x="112776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825484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79" h="1188720">
                  <a:moveTo>
                    <a:pt x="0" y="198120"/>
                  </a:moveTo>
                  <a:lnTo>
                    <a:pt x="5229" y="152675"/>
                  </a:lnTo>
                  <a:lnTo>
                    <a:pt x="20127" y="110967"/>
                  </a:lnTo>
                  <a:lnTo>
                    <a:pt x="43507" y="74182"/>
                  </a:lnTo>
                  <a:lnTo>
                    <a:pt x="74182" y="43507"/>
                  </a:lnTo>
                  <a:lnTo>
                    <a:pt x="110967" y="20127"/>
                  </a:lnTo>
                  <a:lnTo>
                    <a:pt x="152675" y="5229"/>
                  </a:lnTo>
                  <a:lnTo>
                    <a:pt x="198120" y="0"/>
                  </a:lnTo>
                  <a:lnTo>
                    <a:pt x="1127760" y="0"/>
                  </a:lnTo>
                  <a:lnTo>
                    <a:pt x="1173204" y="5229"/>
                  </a:lnTo>
                  <a:lnTo>
                    <a:pt x="1214912" y="20127"/>
                  </a:lnTo>
                  <a:lnTo>
                    <a:pt x="1251697" y="43507"/>
                  </a:lnTo>
                  <a:lnTo>
                    <a:pt x="1282372" y="74182"/>
                  </a:lnTo>
                  <a:lnTo>
                    <a:pt x="1305752" y="110967"/>
                  </a:lnTo>
                  <a:lnTo>
                    <a:pt x="1320650" y="152675"/>
                  </a:lnTo>
                  <a:lnTo>
                    <a:pt x="1325880" y="198120"/>
                  </a:lnTo>
                  <a:lnTo>
                    <a:pt x="1325880" y="990600"/>
                  </a:lnTo>
                  <a:lnTo>
                    <a:pt x="1320650" y="1036044"/>
                  </a:lnTo>
                  <a:lnTo>
                    <a:pt x="1305752" y="1077752"/>
                  </a:lnTo>
                  <a:lnTo>
                    <a:pt x="1282372" y="1114537"/>
                  </a:lnTo>
                  <a:lnTo>
                    <a:pt x="1251697" y="1145212"/>
                  </a:lnTo>
                  <a:lnTo>
                    <a:pt x="1214912" y="1168592"/>
                  </a:lnTo>
                  <a:lnTo>
                    <a:pt x="1173204" y="1183490"/>
                  </a:lnTo>
                  <a:lnTo>
                    <a:pt x="1127760" y="1188720"/>
                  </a:lnTo>
                  <a:lnTo>
                    <a:pt x="198120" y="1188720"/>
                  </a:lnTo>
                  <a:lnTo>
                    <a:pt x="152675" y="1183490"/>
                  </a:lnTo>
                  <a:lnTo>
                    <a:pt x="110967" y="1168592"/>
                  </a:lnTo>
                  <a:lnTo>
                    <a:pt x="74182" y="1145212"/>
                  </a:lnTo>
                  <a:lnTo>
                    <a:pt x="43507" y="1114537"/>
                  </a:lnTo>
                  <a:lnTo>
                    <a:pt x="20127" y="1077752"/>
                  </a:lnTo>
                  <a:lnTo>
                    <a:pt x="5229" y="1036044"/>
                  </a:lnTo>
                  <a:lnTo>
                    <a:pt x="0" y="990600"/>
                  </a:lnTo>
                  <a:lnTo>
                    <a:pt x="0" y="19812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9014586" y="2271521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06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252584" y="2676905"/>
            <a:ext cx="4603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 b="1">
                <a:solidFill>
                  <a:srgbClr val="F5F8FB"/>
                </a:solidFill>
                <a:latin typeface="Calibri"/>
                <a:cs typeface="Calibri"/>
              </a:rPr>
              <a:t>Analysis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245597" y="2451354"/>
            <a:ext cx="9779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 b="1">
                <a:solidFill>
                  <a:srgbClr val="AEBDD2"/>
                </a:solidFill>
                <a:latin typeface="Arial"/>
                <a:cs typeface="Arial"/>
              </a:rPr>
              <a:t>›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0439400" y="1987295"/>
            <a:ext cx="1421765" cy="1284605"/>
            <a:chOff x="10439400" y="1987295"/>
            <a:chExt cx="1421765" cy="1284605"/>
          </a:xfrm>
        </p:grpSpPr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1987295"/>
              <a:ext cx="1421765" cy="128447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0489692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79" h="1188720">
                  <a:moveTo>
                    <a:pt x="1127759" y="0"/>
                  </a:moveTo>
                  <a:lnTo>
                    <a:pt x="198119" y="0"/>
                  </a:lnTo>
                  <a:lnTo>
                    <a:pt x="152675" y="5229"/>
                  </a:lnTo>
                  <a:lnTo>
                    <a:pt x="110967" y="20127"/>
                  </a:lnTo>
                  <a:lnTo>
                    <a:pt x="74182" y="43507"/>
                  </a:lnTo>
                  <a:lnTo>
                    <a:pt x="43507" y="74182"/>
                  </a:lnTo>
                  <a:lnTo>
                    <a:pt x="20127" y="110967"/>
                  </a:lnTo>
                  <a:lnTo>
                    <a:pt x="5229" y="152675"/>
                  </a:lnTo>
                  <a:lnTo>
                    <a:pt x="0" y="198120"/>
                  </a:lnTo>
                  <a:lnTo>
                    <a:pt x="0" y="990600"/>
                  </a:lnTo>
                  <a:lnTo>
                    <a:pt x="5229" y="1036044"/>
                  </a:lnTo>
                  <a:lnTo>
                    <a:pt x="20127" y="1077752"/>
                  </a:lnTo>
                  <a:lnTo>
                    <a:pt x="43507" y="1114537"/>
                  </a:lnTo>
                  <a:lnTo>
                    <a:pt x="74182" y="1145212"/>
                  </a:lnTo>
                  <a:lnTo>
                    <a:pt x="110967" y="1168592"/>
                  </a:lnTo>
                  <a:lnTo>
                    <a:pt x="152675" y="1183490"/>
                  </a:lnTo>
                  <a:lnTo>
                    <a:pt x="198119" y="1188720"/>
                  </a:lnTo>
                  <a:lnTo>
                    <a:pt x="1127759" y="1188720"/>
                  </a:lnTo>
                  <a:lnTo>
                    <a:pt x="1173204" y="1183490"/>
                  </a:lnTo>
                  <a:lnTo>
                    <a:pt x="1214912" y="1168592"/>
                  </a:lnTo>
                  <a:lnTo>
                    <a:pt x="1251697" y="1145212"/>
                  </a:lnTo>
                  <a:lnTo>
                    <a:pt x="1282372" y="1114537"/>
                  </a:lnTo>
                  <a:lnTo>
                    <a:pt x="1305752" y="1077752"/>
                  </a:lnTo>
                  <a:lnTo>
                    <a:pt x="1320650" y="1036044"/>
                  </a:lnTo>
                  <a:lnTo>
                    <a:pt x="1325879" y="990600"/>
                  </a:lnTo>
                  <a:lnTo>
                    <a:pt x="1325879" y="198120"/>
                  </a:lnTo>
                  <a:lnTo>
                    <a:pt x="1320650" y="152675"/>
                  </a:lnTo>
                  <a:lnTo>
                    <a:pt x="1305752" y="110967"/>
                  </a:lnTo>
                  <a:lnTo>
                    <a:pt x="1282372" y="74182"/>
                  </a:lnTo>
                  <a:lnTo>
                    <a:pt x="1251697" y="43507"/>
                  </a:lnTo>
                  <a:lnTo>
                    <a:pt x="1214912" y="20127"/>
                  </a:lnTo>
                  <a:lnTo>
                    <a:pt x="1173204" y="5229"/>
                  </a:lnTo>
                  <a:lnTo>
                    <a:pt x="112775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0489692" y="2013203"/>
              <a:ext cx="1325880" cy="1188720"/>
            </a:xfrm>
            <a:custGeom>
              <a:avLst/>
              <a:gdLst/>
              <a:ahLst/>
              <a:cxnLst/>
              <a:rect l="l" t="t" r="r" b="b"/>
              <a:pathLst>
                <a:path w="1325879" h="1188720">
                  <a:moveTo>
                    <a:pt x="0" y="198120"/>
                  </a:moveTo>
                  <a:lnTo>
                    <a:pt x="5229" y="152675"/>
                  </a:lnTo>
                  <a:lnTo>
                    <a:pt x="20127" y="110967"/>
                  </a:lnTo>
                  <a:lnTo>
                    <a:pt x="43507" y="74182"/>
                  </a:lnTo>
                  <a:lnTo>
                    <a:pt x="74182" y="43507"/>
                  </a:lnTo>
                  <a:lnTo>
                    <a:pt x="110967" y="20127"/>
                  </a:lnTo>
                  <a:lnTo>
                    <a:pt x="152675" y="5229"/>
                  </a:lnTo>
                  <a:lnTo>
                    <a:pt x="198119" y="0"/>
                  </a:lnTo>
                  <a:lnTo>
                    <a:pt x="1127759" y="0"/>
                  </a:lnTo>
                  <a:lnTo>
                    <a:pt x="1173204" y="5229"/>
                  </a:lnTo>
                  <a:lnTo>
                    <a:pt x="1214912" y="20127"/>
                  </a:lnTo>
                  <a:lnTo>
                    <a:pt x="1251697" y="43507"/>
                  </a:lnTo>
                  <a:lnTo>
                    <a:pt x="1282372" y="74182"/>
                  </a:lnTo>
                  <a:lnTo>
                    <a:pt x="1305752" y="110967"/>
                  </a:lnTo>
                  <a:lnTo>
                    <a:pt x="1320650" y="152675"/>
                  </a:lnTo>
                  <a:lnTo>
                    <a:pt x="1325879" y="198120"/>
                  </a:lnTo>
                  <a:lnTo>
                    <a:pt x="1325879" y="990600"/>
                  </a:lnTo>
                  <a:lnTo>
                    <a:pt x="1320650" y="1036044"/>
                  </a:lnTo>
                  <a:lnTo>
                    <a:pt x="1305752" y="1077752"/>
                  </a:lnTo>
                  <a:lnTo>
                    <a:pt x="1282372" y="1114537"/>
                  </a:lnTo>
                  <a:lnTo>
                    <a:pt x="1251697" y="1145212"/>
                  </a:lnTo>
                  <a:lnTo>
                    <a:pt x="1214912" y="1168592"/>
                  </a:lnTo>
                  <a:lnTo>
                    <a:pt x="1173204" y="1183490"/>
                  </a:lnTo>
                  <a:lnTo>
                    <a:pt x="1127759" y="1188720"/>
                  </a:lnTo>
                  <a:lnTo>
                    <a:pt x="198119" y="1188720"/>
                  </a:lnTo>
                  <a:lnTo>
                    <a:pt x="152675" y="1183490"/>
                  </a:lnTo>
                  <a:lnTo>
                    <a:pt x="110967" y="1168592"/>
                  </a:lnTo>
                  <a:lnTo>
                    <a:pt x="74182" y="1145212"/>
                  </a:lnTo>
                  <a:lnTo>
                    <a:pt x="43507" y="1114537"/>
                  </a:lnTo>
                  <a:lnTo>
                    <a:pt x="20127" y="1077752"/>
                  </a:lnTo>
                  <a:lnTo>
                    <a:pt x="5229" y="1036044"/>
                  </a:lnTo>
                  <a:lnTo>
                    <a:pt x="0" y="990600"/>
                  </a:lnTo>
                  <a:lnTo>
                    <a:pt x="0" y="19812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10679430" y="2271521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07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697718" y="2676905"/>
            <a:ext cx="901700" cy="332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4655" marR="5080" indent="-402590">
              <a:lnSpc>
                <a:spcPct val="100000"/>
              </a:lnSpc>
              <a:spcBef>
                <a:spcPts val="105"/>
              </a:spcBef>
            </a:pPr>
            <a:r>
              <a:rPr dirty="0" sz="1000" spc="-10" b="1">
                <a:solidFill>
                  <a:srgbClr val="F5F8FB"/>
                </a:solidFill>
                <a:latin typeface="Calibri"/>
                <a:cs typeface="Calibri"/>
              </a:rPr>
              <a:t>Recommendatio </a:t>
            </a:r>
            <a:r>
              <a:rPr dirty="0" sz="1000" spc="-50" b="1">
                <a:solidFill>
                  <a:srgbClr val="F5F8FB"/>
                </a:solidFill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689098" y="3905453"/>
            <a:ext cx="68306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00C7FF"/>
                </a:solidFill>
                <a:latin typeface="Calibri"/>
                <a:cs typeface="Calibri"/>
              </a:rPr>
              <a:t>Validate</a:t>
            </a:r>
            <a:r>
              <a:rPr dirty="0" sz="1800" spc="-15" b="1">
                <a:solidFill>
                  <a:srgbClr val="00C7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C7FF"/>
                </a:solidFill>
                <a:latin typeface="Calibri"/>
                <a:cs typeface="Calibri"/>
              </a:rPr>
              <a:t>→</a:t>
            </a:r>
            <a:r>
              <a:rPr dirty="0" sz="1800" spc="-35" b="1">
                <a:solidFill>
                  <a:srgbClr val="00C7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C7FF"/>
                </a:solidFill>
                <a:latin typeface="Calibri"/>
                <a:cs typeface="Calibri"/>
              </a:rPr>
              <a:t>Prepare</a:t>
            </a:r>
            <a:r>
              <a:rPr dirty="0" sz="1800" spc="-55" b="1">
                <a:solidFill>
                  <a:srgbClr val="00C7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C7FF"/>
                </a:solidFill>
                <a:latin typeface="Calibri"/>
                <a:cs typeface="Calibri"/>
              </a:rPr>
              <a:t>→</a:t>
            </a:r>
            <a:r>
              <a:rPr dirty="0" sz="1800" spc="-55" b="1">
                <a:solidFill>
                  <a:srgbClr val="00C7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C7FF"/>
                </a:solidFill>
                <a:latin typeface="Calibri"/>
                <a:cs typeface="Calibri"/>
              </a:rPr>
              <a:t>Calculate</a:t>
            </a:r>
            <a:r>
              <a:rPr dirty="0" sz="1800" spc="-15" b="1">
                <a:solidFill>
                  <a:srgbClr val="00C7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C7FF"/>
                </a:solidFill>
                <a:latin typeface="Calibri"/>
                <a:cs typeface="Calibri"/>
              </a:rPr>
              <a:t>→</a:t>
            </a:r>
            <a:r>
              <a:rPr dirty="0" sz="1800" spc="-35" b="1">
                <a:solidFill>
                  <a:srgbClr val="00C7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C7FF"/>
                </a:solidFill>
                <a:latin typeface="Calibri"/>
                <a:cs typeface="Calibri"/>
              </a:rPr>
              <a:t>Visualize</a:t>
            </a:r>
            <a:r>
              <a:rPr dirty="0" sz="1800" spc="-55" b="1">
                <a:solidFill>
                  <a:srgbClr val="00C7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C7FF"/>
                </a:solidFill>
                <a:latin typeface="Calibri"/>
                <a:cs typeface="Calibri"/>
              </a:rPr>
              <a:t>→</a:t>
            </a:r>
            <a:r>
              <a:rPr dirty="0" sz="1800" spc="-35" b="1">
                <a:solidFill>
                  <a:srgbClr val="00C7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C7FF"/>
                </a:solidFill>
                <a:latin typeface="Calibri"/>
                <a:cs typeface="Calibri"/>
              </a:rPr>
              <a:t>Compare</a:t>
            </a:r>
            <a:r>
              <a:rPr dirty="0" sz="1800" spc="-35" b="1">
                <a:solidFill>
                  <a:srgbClr val="00C7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C7FF"/>
                </a:solidFill>
                <a:latin typeface="Calibri"/>
                <a:cs typeface="Calibri"/>
              </a:rPr>
              <a:t>→</a:t>
            </a:r>
            <a:r>
              <a:rPr dirty="0" sz="1800" spc="-60" b="1">
                <a:solidFill>
                  <a:srgbClr val="00C7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C7FF"/>
                </a:solidFill>
                <a:latin typeface="Calibri"/>
                <a:cs typeface="Calibri"/>
              </a:rPr>
              <a:t>Recommend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185672" y="4776215"/>
            <a:ext cx="9834245" cy="827405"/>
            <a:chOff x="1185672" y="4776215"/>
            <a:chExt cx="9834245" cy="827405"/>
          </a:xfrm>
        </p:grpSpPr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5672" y="4776215"/>
              <a:ext cx="9834118" cy="82731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235964" y="4802123"/>
              <a:ext cx="9738360" cy="731520"/>
            </a:xfrm>
            <a:custGeom>
              <a:avLst/>
              <a:gdLst/>
              <a:ahLst/>
              <a:cxnLst/>
              <a:rect l="l" t="t" r="r" b="b"/>
              <a:pathLst>
                <a:path w="9738360" h="731520">
                  <a:moveTo>
                    <a:pt x="9616440" y="0"/>
                  </a:moveTo>
                  <a:lnTo>
                    <a:pt x="121920" y="0"/>
                  </a:lnTo>
                  <a:lnTo>
                    <a:pt x="74473" y="9584"/>
                  </a:lnTo>
                  <a:lnTo>
                    <a:pt x="35718" y="35718"/>
                  </a:lnTo>
                  <a:lnTo>
                    <a:pt x="9584" y="74473"/>
                  </a:lnTo>
                  <a:lnTo>
                    <a:pt x="0" y="121919"/>
                  </a:lnTo>
                  <a:lnTo>
                    <a:pt x="0" y="609600"/>
                  </a:lnTo>
                  <a:lnTo>
                    <a:pt x="9584" y="657046"/>
                  </a:lnTo>
                  <a:lnTo>
                    <a:pt x="35718" y="695801"/>
                  </a:lnTo>
                  <a:lnTo>
                    <a:pt x="74473" y="721935"/>
                  </a:lnTo>
                  <a:lnTo>
                    <a:pt x="121920" y="731519"/>
                  </a:lnTo>
                  <a:lnTo>
                    <a:pt x="9616440" y="731519"/>
                  </a:lnTo>
                  <a:lnTo>
                    <a:pt x="9663886" y="721935"/>
                  </a:lnTo>
                  <a:lnTo>
                    <a:pt x="9702641" y="695801"/>
                  </a:lnTo>
                  <a:lnTo>
                    <a:pt x="9728775" y="657046"/>
                  </a:lnTo>
                  <a:lnTo>
                    <a:pt x="9738360" y="609600"/>
                  </a:lnTo>
                  <a:lnTo>
                    <a:pt x="9738360" y="121919"/>
                  </a:lnTo>
                  <a:lnTo>
                    <a:pt x="9728775" y="74473"/>
                  </a:lnTo>
                  <a:lnTo>
                    <a:pt x="9702641" y="35718"/>
                  </a:lnTo>
                  <a:lnTo>
                    <a:pt x="9663886" y="9584"/>
                  </a:lnTo>
                  <a:lnTo>
                    <a:pt x="961644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235964" y="4802123"/>
              <a:ext cx="9738360" cy="731520"/>
            </a:xfrm>
            <a:custGeom>
              <a:avLst/>
              <a:gdLst/>
              <a:ahLst/>
              <a:cxnLst/>
              <a:rect l="l" t="t" r="r" b="b"/>
              <a:pathLst>
                <a:path w="9738360" h="731520">
                  <a:moveTo>
                    <a:pt x="0" y="121919"/>
                  </a:moveTo>
                  <a:lnTo>
                    <a:pt x="9584" y="74473"/>
                  </a:lnTo>
                  <a:lnTo>
                    <a:pt x="35718" y="35718"/>
                  </a:lnTo>
                  <a:lnTo>
                    <a:pt x="74473" y="9584"/>
                  </a:lnTo>
                  <a:lnTo>
                    <a:pt x="121920" y="0"/>
                  </a:lnTo>
                  <a:lnTo>
                    <a:pt x="9616440" y="0"/>
                  </a:lnTo>
                  <a:lnTo>
                    <a:pt x="9663886" y="9584"/>
                  </a:lnTo>
                  <a:lnTo>
                    <a:pt x="9702641" y="35718"/>
                  </a:lnTo>
                  <a:lnTo>
                    <a:pt x="9728775" y="74473"/>
                  </a:lnTo>
                  <a:lnTo>
                    <a:pt x="9738360" y="121919"/>
                  </a:lnTo>
                  <a:lnTo>
                    <a:pt x="9738360" y="609600"/>
                  </a:lnTo>
                  <a:lnTo>
                    <a:pt x="9728775" y="657046"/>
                  </a:lnTo>
                  <a:lnTo>
                    <a:pt x="9702641" y="695801"/>
                  </a:lnTo>
                  <a:lnTo>
                    <a:pt x="9663886" y="721935"/>
                  </a:lnTo>
                  <a:lnTo>
                    <a:pt x="9616440" y="731519"/>
                  </a:lnTo>
                  <a:lnTo>
                    <a:pt x="121920" y="731519"/>
                  </a:lnTo>
                  <a:lnTo>
                    <a:pt x="74473" y="721935"/>
                  </a:lnTo>
                  <a:lnTo>
                    <a:pt x="35718" y="695801"/>
                  </a:lnTo>
                  <a:lnTo>
                    <a:pt x="9584" y="657046"/>
                  </a:lnTo>
                  <a:lnTo>
                    <a:pt x="0" y="609600"/>
                  </a:lnTo>
                  <a:lnTo>
                    <a:pt x="0" y="121919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2012442" y="5043296"/>
            <a:ext cx="8138159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F5F8FB"/>
                </a:solidFill>
                <a:latin typeface="Microsoft Sans Serif"/>
                <a:cs typeface="Microsoft Sans Serif"/>
              </a:rPr>
              <a:t>Outcome:</a:t>
            </a:r>
            <a:r>
              <a:rPr dirty="0" sz="1400" spc="-4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5F8FB"/>
                </a:solidFill>
                <a:latin typeface="Microsoft Sans Serif"/>
                <a:cs typeface="Microsoft Sans Serif"/>
              </a:rPr>
              <a:t>a</a:t>
            </a:r>
            <a:r>
              <a:rPr dirty="0" sz="1400" spc="-3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5F8FB"/>
                </a:solidFill>
                <a:latin typeface="Microsoft Sans Serif"/>
                <a:cs typeface="Microsoft Sans Serif"/>
              </a:rPr>
              <a:t>single</a:t>
            </a:r>
            <a:r>
              <a:rPr dirty="0" sz="1400" spc="-25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F5F8FB"/>
                </a:solidFill>
                <a:latin typeface="Microsoft Sans Serif"/>
                <a:cs typeface="Microsoft Sans Serif"/>
              </a:rPr>
              <a:t>analytical</a:t>
            </a:r>
            <a:r>
              <a:rPr dirty="0" sz="1400" spc="4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5F8FB"/>
                </a:solidFill>
                <a:latin typeface="Microsoft Sans Serif"/>
                <a:cs typeface="Microsoft Sans Serif"/>
              </a:rPr>
              <a:t>view</a:t>
            </a:r>
            <a:r>
              <a:rPr dirty="0" sz="1400" spc="-25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5F8FB"/>
                </a:solidFill>
                <a:latin typeface="Microsoft Sans Serif"/>
                <a:cs typeface="Microsoft Sans Serif"/>
              </a:rPr>
              <a:t>of</a:t>
            </a:r>
            <a:r>
              <a:rPr dirty="0" sz="1400" spc="-9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5F8FB"/>
                </a:solidFill>
                <a:latin typeface="Microsoft Sans Serif"/>
                <a:cs typeface="Microsoft Sans Serif"/>
              </a:rPr>
              <a:t>AI</a:t>
            </a:r>
            <a:r>
              <a:rPr dirty="0" sz="1400" spc="-5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5F8FB"/>
                </a:solidFill>
                <a:latin typeface="Microsoft Sans Serif"/>
                <a:cs typeface="Microsoft Sans Serif"/>
              </a:rPr>
              <a:t>spend, generated</a:t>
            </a:r>
            <a:r>
              <a:rPr dirty="0" sz="1400" spc="15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5F8FB"/>
                </a:solidFill>
                <a:latin typeface="Microsoft Sans Serif"/>
                <a:cs typeface="Microsoft Sans Serif"/>
              </a:rPr>
              <a:t>value,</a:t>
            </a:r>
            <a:r>
              <a:rPr dirty="0" sz="1400" spc="-25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F5F8FB"/>
                </a:solidFill>
                <a:latin typeface="Microsoft Sans Serif"/>
                <a:cs typeface="Microsoft Sans Serif"/>
              </a:rPr>
              <a:t>productivity</a:t>
            </a:r>
            <a:r>
              <a:rPr dirty="0" sz="1400" spc="-5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5F8FB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-3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F5F8FB"/>
                </a:solidFill>
                <a:latin typeface="Microsoft Sans Serif"/>
                <a:cs typeface="Microsoft Sans Serif"/>
              </a:rPr>
              <a:t>tool-</a:t>
            </a:r>
            <a:r>
              <a:rPr dirty="0" sz="1400">
                <a:solidFill>
                  <a:srgbClr val="F5F8FB"/>
                </a:solidFill>
                <a:latin typeface="Microsoft Sans Serif"/>
                <a:cs typeface="Microsoft Sans Serif"/>
              </a:rPr>
              <a:t>level </a:t>
            </a:r>
            <a:r>
              <a:rPr dirty="0" sz="1400" spc="-10">
                <a:solidFill>
                  <a:srgbClr val="F5F8FB"/>
                </a:solidFill>
                <a:latin typeface="Microsoft Sans Serif"/>
                <a:cs typeface="Microsoft Sans Serif"/>
              </a:rPr>
              <a:t>performance.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142726" y="6514895"/>
            <a:ext cx="440055" cy="1549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05</a:t>
            </a:r>
            <a:r>
              <a:rPr dirty="0" sz="900" spc="24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/</a:t>
            </a:r>
            <a:r>
              <a:rPr dirty="0" sz="900" spc="24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AEBDD2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Dashboard</a:t>
            </a:r>
            <a:r>
              <a:rPr dirty="0" spc="-35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836" y="871855"/>
            <a:ext cx="628269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Hero</a:t>
            </a:r>
            <a:r>
              <a:rPr dirty="0" sz="1400" spc="-7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view</a:t>
            </a:r>
            <a:r>
              <a:rPr dirty="0" sz="1400" spc="-4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—</a:t>
            </a:r>
            <a:r>
              <a:rPr dirty="0" sz="1400" spc="-6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replace</a:t>
            </a:r>
            <a:r>
              <a:rPr dirty="0" sz="1400" spc="-6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placeholder</a:t>
            </a:r>
            <a:r>
              <a:rPr dirty="0" sz="1400" spc="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with</a:t>
            </a:r>
            <a:r>
              <a:rPr dirty="0" sz="1400" spc="-7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your</a:t>
            </a:r>
            <a:r>
              <a:rPr dirty="0" sz="1400" spc="-10" b="1">
                <a:solidFill>
                  <a:srgbClr val="AEBDD2"/>
                </a:solidFill>
                <a:latin typeface="Arial"/>
                <a:cs typeface="Arial"/>
              </a:rPr>
              <a:t> Tableau</a:t>
            </a:r>
            <a:r>
              <a:rPr dirty="0" sz="1400" spc="-5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EBDD2"/>
                </a:solidFill>
                <a:latin typeface="Arial"/>
                <a:cs typeface="Arial"/>
              </a:rPr>
              <a:t>dashboard</a:t>
            </a:r>
            <a:r>
              <a:rPr dirty="0" sz="1400" spc="-3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AEBDD2"/>
                </a:solidFill>
                <a:latin typeface="Arial"/>
                <a:cs typeface="Arial"/>
              </a:rPr>
              <a:t>screenshot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9600" y="1209992"/>
            <a:ext cx="10977245" cy="5079365"/>
            <a:chOff x="609600" y="1209992"/>
            <a:chExt cx="10977245" cy="50793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1209992"/>
              <a:ext cx="10977118" cy="507936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9892" y="1235964"/>
              <a:ext cx="10881360" cy="4983480"/>
            </a:xfrm>
            <a:custGeom>
              <a:avLst/>
              <a:gdLst/>
              <a:ahLst/>
              <a:cxnLst/>
              <a:rect l="l" t="t" r="r" b="b"/>
              <a:pathLst>
                <a:path w="10881360" h="4983480">
                  <a:moveTo>
                    <a:pt x="10050780" y="0"/>
                  </a:moveTo>
                  <a:lnTo>
                    <a:pt x="830580" y="0"/>
                  </a:lnTo>
                  <a:lnTo>
                    <a:pt x="781777" y="1409"/>
                  </a:lnTo>
                  <a:lnTo>
                    <a:pt x="733717" y="5587"/>
                  </a:lnTo>
                  <a:lnTo>
                    <a:pt x="686478" y="12455"/>
                  </a:lnTo>
                  <a:lnTo>
                    <a:pt x="640137" y="21935"/>
                  </a:lnTo>
                  <a:lnTo>
                    <a:pt x="594772" y="33950"/>
                  </a:lnTo>
                  <a:lnTo>
                    <a:pt x="550461" y="48420"/>
                  </a:lnTo>
                  <a:lnTo>
                    <a:pt x="507283" y="65270"/>
                  </a:lnTo>
                  <a:lnTo>
                    <a:pt x="465314" y="84419"/>
                  </a:lnTo>
                  <a:lnTo>
                    <a:pt x="424633" y="105792"/>
                  </a:lnTo>
                  <a:lnTo>
                    <a:pt x="385318" y="129309"/>
                  </a:lnTo>
                  <a:lnTo>
                    <a:pt x="347446" y="154893"/>
                  </a:lnTo>
                  <a:lnTo>
                    <a:pt x="311096" y="182466"/>
                  </a:lnTo>
                  <a:lnTo>
                    <a:pt x="276346" y="211951"/>
                  </a:lnTo>
                  <a:lnTo>
                    <a:pt x="243273" y="243268"/>
                  </a:lnTo>
                  <a:lnTo>
                    <a:pt x="211955" y="276341"/>
                  </a:lnTo>
                  <a:lnTo>
                    <a:pt x="182470" y="311091"/>
                  </a:lnTo>
                  <a:lnTo>
                    <a:pt x="154897" y="347441"/>
                  </a:lnTo>
                  <a:lnTo>
                    <a:pt x="129312" y="385312"/>
                  </a:lnTo>
                  <a:lnTo>
                    <a:pt x="105794" y="424627"/>
                  </a:lnTo>
                  <a:lnTo>
                    <a:pt x="84422" y="465308"/>
                  </a:lnTo>
                  <a:lnTo>
                    <a:pt x="65271" y="507277"/>
                  </a:lnTo>
                  <a:lnTo>
                    <a:pt x="48422" y="550456"/>
                  </a:lnTo>
                  <a:lnTo>
                    <a:pt x="33951" y="594767"/>
                  </a:lnTo>
                  <a:lnTo>
                    <a:pt x="21936" y="640133"/>
                  </a:lnTo>
                  <a:lnTo>
                    <a:pt x="12456" y="686475"/>
                  </a:lnTo>
                  <a:lnTo>
                    <a:pt x="5587" y="733715"/>
                  </a:lnTo>
                  <a:lnTo>
                    <a:pt x="1409" y="781776"/>
                  </a:lnTo>
                  <a:lnTo>
                    <a:pt x="0" y="830580"/>
                  </a:lnTo>
                  <a:lnTo>
                    <a:pt x="0" y="4152900"/>
                  </a:lnTo>
                  <a:lnTo>
                    <a:pt x="1409" y="4201702"/>
                  </a:lnTo>
                  <a:lnTo>
                    <a:pt x="5587" y="4249762"/>
                  </a:lnTo>
                  <a:lnTo>
                    <a:pt x="12456" y="4297001"/>
                  </a:lnTo>
                  <a:lnTo>
                    <a:pt x="21936" y="4343342"/>
                  </a:lnTo>
                  <a:lnTo>
                    <a:pt x="33951" y="4388707"/>
                  </a:lnTo>
                  <a:lnTo>
                    <a:pt x="48422" y="4433018"/>
                  </a:lnTo>
                  <a:lnTo>
                    <a:pt x="65271" y="4476196"/>
                  </a:lnTo>
                  <a:lnTo>
                    <a:pt x="84422" y="4518165"/>
                  </a:lnTo>
                  <a:lnTo>
                    <a:pt x="105794" y="4558846"/>
                  </a:lnTo>
                  <a:lnTo>
                    <a:pt x="129312" y="4598161"/>
                  </a:lnTo>
                  <a:lnTo>
                    <a:pt x="154897" y="4636033"/>
                  </a:lnTo>
                  <a:lnTo>
                    <a:pt x="182470" y="4672383"/>
                  </a:lnTo>
                  <a:lnTo>
                    <a:pt x="211955" y="4707133"/>
                  </a:lnTo>
                  <a:lnTo>
                    <a:pt x="243273" y="4740206"/>
                  </a:lnTo>
                  <a:lnTo>
                    <a:pt x="276346" y="4771524"/>
                  </a:lnTo>
                  <a:lnTo>
                    <a:pt x="311096" y="4801009"/>
                  </a:lnTo>
                  <a:lnTo>
                    <a:pt x="347446" y="4828582"/>
                  </a:lnTo>
                  <a:lnTo>
                    <a:pt x="385318" y="4854167"/>
                  </a:lnTo>
                  <a:lnTo>
                    <a:pt x="424633" y="4877685"/>
                  </a:lnTo>
                  <a:lnTo>
                    <a:pt x="465314" y="4899057"/>
                  </a:lnTo>
                  <a:lnTo>
                    <a:pt x="507283" y="4918208"/>
                  </a:lnTo>
                  <a:lnTo>
                    <a:pt x="550461" y="4935057"/>
                  </a:lnTo>
                  <a:lnTo>
                    <a:pt x="594772" y="4949528"/>
                  </a:lnTo>
                  <a:lnTo>
                    <a:pt x="640137" y="4961543"/>
                  </a:lnTo>
                  <a:lnTo>
                    <a:pt x="686478" y="4971023"/>
                  </a:lnTo>
                  <a:lnTo>
                    <a:pt x="733717" y="4977892"/>
                  </a:lnTo>
                  <a:lnTo>
                    <a:pt x="781777" y="4982070"/>
                  </a:lnTo>
                  <a:lnTo>
                    <a:pt x="830580" y="4983480"/>
                  </a:lnTo>
                  <a:lnTo>
                    <a:pt x="10050780" y="4983480"/>
                  </a:lnTo>
                  <a:lnTo>
                    <a:pt x="10099583" y="4982070"/>
                  </a:lnTo>
                  <a:lnTo>
                    <a:pt x="10147644" y="4977892"/>
                  </a:lnTo>
                  <a:lnTo>
                    <a:pt x="10194884" y="4971023"/>
                  </a:lnTo>
                  <a:lnTo>
                    <a:pt x="10241226" y="4961543"/>
                  </a:lnTo>
                  <a:lnTo>
                    <a:pt x="10286592" y="4949528"/>
                  </a:lnTo>
                  <a:lnTo>
                    <a:pt x="10330903" y="4935057"/>
                  </a:lnTo>
                  <a:lnTo>
                    <a:pt x="10374082" y="4918208"/>
                  </a:lnTo>
                  <a:lnTo>
                    <a:pt x="10416051" y="4899057"/>
                  </a:lnTo>
                  <a:lnTo>
                    <a:pt x="10456732" y="4877685"/>
                  </a:lnTo>
                  <a:lnTo>
                    <a:pt x="10496047" y="4854167"/>
                  </a:lnTo>
                  <a:lnTo>
                    <a:pt x="10533918" y="4828582"/>
                  </a:lnTo>
                  <a:lnTo>
                    <a:pt x="10570268" y="4801009"/>
                  </a:lnTo>
                  <a:lnTo>
                    <a:pt x="10605018" y="4771524"/>
                  </a:lnTo>
                  <a:lnTo>
                    <a:pt x="10638091" y="4740206"/>
                  </a:lnTo>
                  <a:lnTo>
                    <a:pt x="10669408" y="4707133"/>
                  </a:lnTo>
                  <a:lnTo>
                    <a:pt x="10698893" y="4672383"/>
                  </a:lnTo>
                  <a:lnTo>
                    <a:pt x="10726466" y="4636033"/>
                  </a:lnTo>
                  <a:lnTo>
                    <a:pt x="10752050" y="4598161"/>
                  </a:lnTo>
                  <a:lnTo>
                    <a:pt x="10775567" y="4558846"/>
                  </a:lnTo>
                  <a:lnTo>
                    <a:pt x="10796940" y="4518165"/>
                  </a:lnTo>
                  <a:lnTo>
                    <a:pt x="10816089" y="4476196"/>
                  </a:lnTo>
                  <a:lnTo>
                    <a:pt x="10832939" y="4433018"/>
                  </a:lnTo>
                  <a:lnTo>
                    <a:pt x="10847409" y="4388707"/>
                  </a:lnTo>
                  <a:lnTo>
                    <a:pt x="10859424" y="4343342"/>
                  </a:lnTo>
                  <a:lnTo>
                    <a:pt x="10868904" y="4297001"/>
                  </a:lnTo>
                  <a:lnTo>
                    <a:pt x="10875772" y="4249762"/>
                  </a:lnTo>
                  <a:lnTo>
                    <a:pt x="10879950" y="4201702"/>
                  </a:lnTo>
                  <a:lnTo>
                    <a:pt x="10881360" y="4152900"/>
                  </a:lnTo>
                  <a:lnTo>
                    <a:pt x="10881360" y="830580"/>
                  </a:lnTo>
                  <a:lnTo>
                    <a:pt x="10879950" y="781776"/>
                  </a:lnTo>
                  <a:lnTo>
                    <a:pt x="10875772" y="733715"/>
                  </a:lnTo>
                  <a:lnTo>
                    <a:pt x="10868904" y="686475"/>
                  </a:lnTo>
                  <a:lnTo>
                    <a:pt x="10859424" y="640133"/>
                  </a:lnTo>
                  <a:lnTo>
                    <a:pt x="10847409" y="594767"/>
                  </a:lnTo>
                  <a:lnTo>
                    <a:pt x="10832939" y="550456"/>
                  </a:lnTo>
                  <a:lnTo>
                    <a:pt x="10816089" y="507277"/>
                  </a:lnTo>
                  <a:lnTo>
                    <a:pt x="10796940" y="465308"/>
                  </a:lnTo>
                  <a:lnTo>
                    <a:pt x="10775567" y="424627"/>
                  </a:lnTo>
                  <a:lnTo>
                    <a:pt x="10752050" y="385312"/>
                  </a:lnTo>
                  <a:lnTo>
                    <a:pt x="10726466" y="347441"/>
                  </a:lnTo>
                  <a:lnTo>
                    <a:pt x="10698893" y="311091"/>
                  </a:lnTo>
                  <a:lnTo>
                    <a:pt x="10669408" y="276341"/>
                  </a:lnTo>
                  <a:lnTo>
                    <a:pt x="10638091" y="243268"/>
                  </a:lnTo>
                  <a:lnTo>
                    <a:pt x="10605018" y="211951"/>
                  </a:lnTo>
                  <a:lnTo>
                    <a:pt x="10570268" y="182466"/>
                  </a:lnTo>
                  <a:lnTo>
                    <a:pt x="10533918" y="154893"/>
                  </a:lnTo>
                  <a:lnTo>
                    <a:pt x="10496047" y="129309"/>
                  </a:lnTo>
                  <a:lnTo>
                    <a:pt x="10456732" y="105792"/>
                  </a:lnTo>
                  <a:lnTo>
                    <a:pt x="10416051" y="84419"/>
                  </a:lnTo>
                  <a:lnTo>
                    <a:pt x="10374082" y="65270"/>
                  </a:lnTo>
                  <a:lnTo>
                    <a:pt x="10330903" y="48420"/>
                  </a:lnTo>
                  <a:lnTo>
                    <a:pt x="10286592" y="33950"/>
                  </a:lnTo>
                  <a:lnTo>
                    <a:pt x="10241226" y="21935"/>
                  </a:lnTo>
                  <a:lnTo>
                    <a:pt x="10194884" y="12455"/>
                  </a:lnTo>
                  <a:lnTo>
                    <a:pt x="10147644" y="5587"/>
                  </a:lnTo>
                  <a:lnTo>
                    <a:pt x="10099583" y="1409"/>
                  </a:lnTo>
                  <a:lnTo>
                    <a:pt x="10050780" y="0"/>
                  </a:lnTo>
                  <a:close/>
                </a:path>
              </a:pathLst>
            </a:custGeom>
            <a:solidFill>
              <a:srgbClr val="0812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59892" y="1235964"/>
              <a:ext cx="10881360" cy="4983480"/>
            </a:xfrm>
            <a:custGeom>
              <a:avLst/>
              <a:gdLst/>
              <a:ahLst/>
              <a:cxnLst/>
              <a:rect l="l" t="t" r="r" b="b"/>
              <a:pathLst>
                <a:path w="10881360" h="4983480">
                  <a:moveTo>
                    <a:pt x="0" y="830580"/>
                  </a:moveTo>
                  <a:lnTo>
                    <a:pt x="1409" y="781776"/>
                  </a:lnTo>
                  <a:lnTo>
                    <a:pt x="5587" y="733715"/>
                  </a:lnTo>
                  <a:lnTo>
                    <a:pt x="12456" y="686475"/>
                  </a:lnTo>
                  <a:lnTo>
                    <a:pt x="21936" y="640133"/>
                  </a:lnTo>
                  <a:lnTo>
                    <a:pt x="33951" y="594767"/>
                  </a:lnTo>
                  <a:lnTo>
                    <a:pt x="48422" y="550456"/>
                  </a:lnTo>
                  <a:lnTo>
                    <a:pt x="65271" y="507277"/>
                  </a:lnTo>
                  <a:lnTo>
                    <a:pt x="84422" y="465308"/>
                  </a:lnTo>
                  <a:lnTo>
                    <a:pt x="105794" y="424627"/>
                  </a:lnTo>
                  <a:lnTo>
                    <a:pt x="129312" y="385312"/>
                  </a:lnTo>
                  <a:lnTo>
                    <a:pt x="154897" y="347441"/>
                  </a:lnTo>
                  <a:lnTo>
                    <a:pt x="182470" y="311091"/>
                  </a:lnTo>
                  <a:lnTo>
                    <a:pt x="211955" y="276341"/>
                  </a:lnTo>
                  <a:lnTo>
                    <a:pt x="243273" y="243268"/>
                  </a:lnTo>
                  <a:lnTo>
                    <a:pt x="276346" y="211951"/>
                  </a:lnTo>
                  <a:lnTo>
                    <a:pt x="311096" y="182466"/>
                  </a:lnTo>
                  <a:lnTo>
                    <a:pt x="347446" y="154893"/>
                  </a:lnTo>
                  <a:lnTo>
                    <a:pt x="385318" y="129309"/>
                  </a:lnTo>
                  <a:lnTo>
                    <a:pt x="424633" y="105792"/>
                  </a:lnTo>
                  <a:lnTo>
                    <a:pt x="465314" y="84419"/>
                  </a:lnTo>
                  <a:lnTo>
                    <a:pt x="507283" y="65270"/>
                  </a:lnTo>
                  <a:lnTo>
                    <a:pt x="550461" y="48420"/>
                  </a:lnTo>
                  <a:lnTo>
                    <a:pt x="594772" y="33950"/>
                  </a:lnTo>
                  <a:lnTo>
                    <a:pt x="640137" y="21935"/>
                  </a:lnTo>
                  <a:lnTo>
                    <a:pt x="686478" y="12455"/>
                  </a:lnTo>
                  <a:lnTo>
                    <a:pt x="733717" y="5587"/>
                  </a:lnTo>
                  <a:lnTo>
                    <a:pt x="781777" y="1409"/>
                  </a:lnTo>
                  <a:lnTo>
                    <a:pt x="830580" y="0"/>
                  </a:lnTo>
                  <a:lnTo>
                    <a:pt x="10050780" y="0"/>
                  </a:lnTo>
                  <a:lnTo>
                    <a:pt x="10099583" y="1409"/>
                  </a:lnTo>
                  <a:lnTo>
                    <a:pt x="10147644" y="5587"/>
                  </a:lnTo>
                  <a:lnTo>
                    <a:pt x="10194884" y="12455"/>
                  </a:lnTo>
                  <a:lnTo>
                    <a:pt x="10241226" y="21935"/>
                  </a:lnTo>
                  <a:lnTo>
                    <a:pt x="10286592" y="33950"/>
                  </a:lnTo>
                  <a:lnTo>
                    <a:pt x="10330903" y="48420"/>
                  </a:lnTo>
                  <a:lnTo>
                    <a:pt x="10374082" y="65270"/>
                  </a:lnTo>
                  <a:lnTo>
                    <a:pt x="10416051" y="84419"/>
                  </a:lnTo>
                  <a:lnTo>
                    <a:pt x="10456732" y="105792"/>
                  </a:lnTo>
                  <a:lnTo>
                    <a:pt x="10496047" y="129309"/>
                  </a:lnTo>
                  <a:lnTo>
                    <a:pt x="10533918" y="154893"/>
                  </a:lnTo>
                  <a:lnTo>
                    <a:pt x="10570268" y="182466"/>
                  </a:lnTo>
                  <a:lnTo>
                    <a:pt x="10605018" y="211951"/>
                  </a:lnTo>
                  <a:lnTo>
                    <a:pt x="10638091" y="243268"/>
                  </a:lnTo>
                  <a:lnTo>
                    <a:pt x="10669408" y="276341"/>
                  </a:lnTo>
                  <a:lnTo>
                    <a:pt x="10698893" y="311091"/>
                  </a:lnTo>
                  <a:lnTo>
                    <a:pt x="10726466" y="347441"/>
                  </a:lnTo>
                  <a:lnTo>
                    <a:pt x="10752050" y="385312"/>
                  </a:lnTo>
                  <a:lnTo>
                    <a:pt x="10775567" y="424627"/>
                  </a:lnTo>
                  <a:lnTo>
                    <a:pt x="10796940" y="465308"/>
                  </a:lnTo>
                  <a:lnTo>
                    <a:pt x="10816089" y="507277"/>
                  </a:lnTo>
                  <a:lnTo>
                    <a:pt x="10832939" y="550456"/>
                  </a:lnTo>
                  <a:lnTo>
                    <a:pt x="10847409" y="594767"/>
                  </a:lnTo>
                  <a:lnTo>
                    <a:pt x="10859424" y="640133"/>
                  </a:lnTo>
                  <a:lnTo>
                    <a:pt x="10868904" y="686475"/>
                  </a:lnTo>
                  <a:lnTo>
                    <a:pt x="10875772" y="733715"/>
                  </a:lnTo>
                  <a:lnTo>
                    <a:pt x="10879950" y="781776"/>
                  </a:lnTo>
                  <a:lnTo>
                    <a:pt x="10881360" y="830580"/>
                  </a:lnTo>
                  <a:lnTo>
                    <a:pt x="10881360" y="4152900"/>
                  </a:lnTo>
                  <a:lnTo>
                    <a:pt x="10879950" y="4201702"/>
                  </a:lnTo>
                  <a:lnTo>
                    <a:pt x="10875772" y="4249762"/>
                  </a:lnTo>
                  <a:lnTo>
                    <a:pt x="10868904" y="4297001"/>
                  </a:lnTo>
                  <a:lnTo>
                    <a:pt x="10859424" y="4343342"/>
                  </a:lnTo>
                  <a:lnTo>
                    <a:pt x="10847409" y="4388707"/>
                  </a:lnTo>
                  <a:lnTo>
                    <a:pt x="10832939" y="4433018"/>
                  </a:lnTo>
                  <a:lnTo>
                    <a:pt x="10816089" y="4476196"/>
                  </a:lnTo>
                  <a:lnTo>
                    <a:pt x="10796940" y="4518165"/>
                  </a:lnTo>
                  <a:lnTo>
                    <a:pt x="10775567" y="4558846"/>
                  </a:lnTo>
                  <a:lnTo>
                    <a:pt x="10752050" y="4598161"/>
                  </a:lnTo>
                  <a:lnTo>
                    <a:pt x="10726466" y="4636033"/>
                  </a:lnTo>
                  <a:lnTo>
                    <a:pt x="10698893" y="4672383"/>
                  </a:lnTo>
                  <a:lnTo>
                    <a:pt x="10669408" y="4707133"/>
                  </a:lnTo>
                  <a:lnTo>
                    <a:pt x="10638091" y="4740206"/>
                  </a:lnTo>
                  <a:lnTo>
                    <a:pt x="10605018" y="4771524"/>
                  </a:lnTo>
                  <a:lnTo>
                    <a:pt x="10570268" y="4801009"/>
                  </a:lnTo>
                  <a:lnTo>
                    <a:pt x="10533918" y="4828582"/>
                  </a:lnTo>
                  <a:lnTo>
                    <a:pt x="10496047" y="4854167"/>
                  </a:lnTo>
                  <a:lnTo>
                    <a:pt x="10456732" y="4877685"/>
                  </a:lnTo>
                  <a:lnTo>
                    <a:pt x="10416051" y="4899057"/>
                  </a:lnTo>
                  <a:lnTo>
                    <a:pt x="10374082" y="4918208"/>
                  </a:lnTo>
                  <a:lnTo>
                    <a:pt x="10330903" y="4935057"/>
                  </a:lnTo>
                  <a:lnTo>
                    <a:pt x="10286592" y="4949528"/>
                  </a:lnTo>
                  <a:lnTo>
                    <a:pt x="10241226" y="4961543"/>
                  </a:lnTo>
                  <a:lnTo>
                    <a:pt x="10194884" y="4971023"/>
                  </a:lnTo>
                  <a:lnTo>
                    <a:pt x="10147644" y="4977892"/>
                  </a:lnTo>
                  <a:lnTo>
                    <a:pt x="10099583" y="4982070"/>
                  </a:lnTo>
                  <a:lnTo>
                    <a:pt x="10050780" y="4983480"/>
                  </a:lnTo>
                  <a:lnTo>
                    <a:pt x="830580" y="4983480"/>
                  </a:lnTo>
                  <a:lnTo>
                    <a:pt x="781777" y="4982070"/>
                  </a:lnTo>
                  <a:lnTo>
                    <a:pt x="733717" y="4977892"/>
                  </a:lnTo>
                  <a:lnTo>
                    <a:pt x="686478" y="4971023"/>
                  </a:lnTo>
                  <a:lnTo>
                    <a:pt x="640137" y="4961543"/>
                  </a:lnTo>
                  <a:lnTo>
                    <a:pt x="594772" y="4949528"/>
                  </a:lnTo>
                  <a:lnTo>
                    <a:pt x="550461" y="4935057"/>
                  </a:lnTo>
                  <a:lnTo>
                    <a:pt x="507283" y="4918208"/>
                  </a:lnTo>
                  <a:lnTo>
                    <a:pt x="465314" y="4899057"/>
                  </a:lnTo>
                  <a:lnTo>
                    <a:pt x="424633" y="4877685"/>
                  </a:lnTo>
                  <a:lnTo>
                    <a:pt x="385318" y="4854167"/>
                  </a:lnTo>
                  <a:lnTo>
                    <a:pt x="347446" y="4828582"/>
                  </a:lnTo>
                  <a:lnTo>
                    <a:pt x="311096" y="4801009"/>
                  </a:lnTo>
                  <a:lnTo>
                    <a:pt x="276346" y="4771524"/>
                  </a:lnTo>
                  <a:lnTo>
                    <a:pt x="243273" y="4740206"/>
                  </a:lnTo>
                  <a:lnTo>
                    <a:pt x="211955" y="4707133"/>
                  </a:lnTo>
                  <a:lnTo>
                    <a:pt x="182470" y="4672383"/>
                  </a:lnTo>
                  <a:lnTo>
                    <a:pt x="154897" y="4636033"/>
                  </a:lnTo>
                  <a:lnTo>
                    <a:pt x="129312" y="4598161"/>
                  </a:lnTo>
                  <a:lnTo>
                    <a:pt x="105794" y="4558846"/>
                  </a:lnTo>
                  <a:lnTo>
                    <a:pt x="84422" y="4518165"/>
                  </a:lnTo>
                  <a:lnTo>
                    <a:pt x="65271" y="4476196"/>
                  </a:lnTo>
                  <a:lnTo>
                    <a:pt x="48422" y="4433018"/>
                  </a:lnTo>
                  <a:lnTo>
                    <a:pt x="33951" y="4388707"/>
                  </a:lnTo>
                  <a:lnTo>
                    <a:pt x="21936" y="4343342"/>
                  </a:lnTo>
                  <a:lnTo>
                    <a:pt x="12456" y="4297001"/>
                  </a:lnTo>
                  <a:lnTo>
                    <a:pt x="5587" y="4249762"/>
                  </a:lnTo>
                  <a:lnTo>
                    <a:pt x="1409" y="4201702"/>
                  </a:lnTo>
                  <a:lnTo>
                    <a:pt x="0" y="4152900"/>
                  </a:lnTo>
                  <a:lnTo>
                    <a:pt x="0" y="83058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572892" y="2814320"/>
            <a:ext cx="7008495" cy="821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C7FF"/>
                </a:solidFill>
                <a:latin typeface="Arial"/>
                <a:cs typeface="Arial"/>
              </a:rPr>
              <a:t>INSERT</a:t>
            </a:r>
            <a:r>
              <a:rPr dirty="0" sz="2400" spc="-17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00C7FF"/>
                </a:solidFill>
                <a:latin typeface="Arial"/>
                <a:cs typeface="Arial"/>
              </a:rPr>
              <a:t>TABLEAU</a:t>
            </a:r>
            <a:r>
              <a:rPr dirty="0" sz="2400" spc="-5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C7FF"/>
                </a:solidFill>
                <a:latin typeface="Arial"/>
                <a:cs typeface="Arial"/>
              </a:rPr>
              <a:t>DASHBOARD</a:t>
            </a:r>
            <a:r>
              <a:rPr dirty="0" sz="2400" spc="-7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C7FF"/>
                </a:solidFill>
                <a:latin typeface="Arial"/>
                <a:cs typeface="Arial"/>
              </a:rPr>
              <a:t>SCREENSHOT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1904 ×</a:t>
            </a:r>
            <a:r>
              <a:rPr dirty="0" sz="1200" spc="-3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944</a:t>
            </a:r>
            <a:r>
              <a:rPr dirty="0" sz="1200" spc="390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•</a:t>
            </a:r>
            <a:r>
              <a:rPr dirty="0" sz="1200" spc="350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KPI</a:t>
            </a:r>
            <a:r>
              <a:rPr dirty="0" sz="1200" spc="-2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Cards</a:t>
            </a:r>
            <a:r>
              <a:rPr dirty="0" sz="1200" spc="38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•</a:t>
            </a:r>
            <a:r>
              <a:rPr dirty="0" sz="1200" spc="350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ROI</a:t>
            </a:r>
            <a:r>
              <a:rPr dirty="0" sz="1200" spc="-2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by</a:t>
            </a:r>
            <a:r>
              <a:rPr dirty="0" sz="1200" spc="-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Tool</a:t>
            </a:r>
            <a:r>
              <a:rPr dirty="0" sz="1200" spc="360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•</a:t>
            </a:r>
            <a:r>
              <a:rPr dirty="0" sz="1200" spc="37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Cost</a:t>
            </a:r>
            <a:r>
              <a:rPr dirty="0" sz="1200" spc="-1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by</a:t>
            </a:r>
            <a:r>
              <a:rPr dirty="0" sz="1200" spc="-2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Department</a:t>
            </a:r>
            <a:r>
              <a:rPr dirty="0" sz="1200" spc="415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•</a:t>
            </a:r>
            <a:r>
              <a:rPr dirty="0" sz="1200" spc="380">
                <a:solidFill>
                  <a:srgbClr val="AEBDD2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AEBDD2"/>
                </a:solidFill>
                <a:latin typeface="Arial Black"/>
                <a:cs typeface="Arial Black"/>
              </a:rPr>
              <a:t>Interactive </a:t>
            </a:r>
            <a:r>
              <a:rPr dirty="0" sz="1200" spc="-10">
                <a:solidFill>
                  <a:srgbClr val="AEBDD2"/>
                </a:solidFill>
                <a:latin typeface="Arial Black"/>
                <a:cs typeface="Arial Black"/>
              </a:rPr>
              <a:t>Filters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42726" y="6514895"/>
            <a:ext cx="440055" cy="1549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06</a:t>
            </a:r>
            <a:r>
              <a:rPr dirty="0" sz="900" spc="24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/</a:t>
            </a:r>
            <a:r>
              <a:rPr dirty="0" sz="900" spc="24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AEBDD2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Executive</a:t>
            </a:r>
            <a:r>
              <a:rPr dirty="0" spc="-50"/>
              <a:t> </a:t>
            </a:r>
            <a:r>
              <a:rPr dirty="0"/>
              <a:t>Performance</a:t>
            </a:r>
            <a:r>
              <a:rPr dirty="0" spc="-75"/>
              <a:t> </a:t>
            </a:r>
            <a:r>
              <a:rPr dirty="0" spc="-10"/>
              <a:t>Snapshot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836" y="859663"/>
            <a:ext cx="3471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The</a:t>
            </a:r>
            <a:r>
              <a:rPr dirty="0" sz="1800" spc="-3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numbers</a:t>
            </a:r>
            <a:r>
              <a:rPr dirty="0" sz="1800" spc="-4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that</a:t>
            </a:r>
            <a:r>
              <a:rPr dirty="0" sz="1800" spc="-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AEBDD2"/>
                </a:solidFill>
                <a:latin typeface="Calibri"/>
                <a:cs typeface="Calibri"/>
              </a:rPr>
              <a:t>matter</a:t>
            </a:r>
            <a:r>
              <a:rPr dirty="0" sz="1800" spc="-4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at</a:t>
            </a:r>
            <a:r>
              <a:rPr dirty="0" sz="1800" spc="-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AEBDD2"/>
                </a:solidFill>
                <a:latin typeface="Calibri"/>
                <a:cs typeface="Calibri"/>
              </a:rPr>
              <a:t>a</a:t>
            </a:r>
            <a:r>
              <a:rPr dirty="0" sz="1800" spc="-2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AEBDD2"/>
                </a:solidFill>
                <a:latin typeface="Calibri"/>
                <a:cs typeface="Calibri"/>
              </a:rPr>
              <a:t>glance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7031" y="1301496"/>
            <a:ext cx="3342004" cy="1330325"/>
            <a:chOff x="637031" y="1301496"/>
            <a:chExt cx="3342004" cy="13303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031" y="1301496"/>
              <a:ext cx="3341878" cy="13301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7323" y="1327404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3040379" y="0"/>
                  </a:moveTo>
                  <a:lnTo>
                    <a:pt x="205739" y="0"/>
                  </a:lnTo>
                  <a:lnTo>
                    <a:pt x="158565" y="5431"/>
                  </a:lnTo>
                  <a:lnTo>
                    <a:pt x="115260" y="20905"/>
                  </a:lnTo>
                  <a:lnTo>
                    <a:pt x="77060" y="45186"/>
                  </a:lnTo>
                  <a:lnTo>
                    <a:pt x="45198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3" y="1075886"/>
                  </a:lnTo>
                  <a:lnTo>
                    <a:pt x="20911" y="1119195"/>
                  </a:lnTo>
                  <a:lnTo>
                    <a:pt x="45198" y="1157395"/>
                  </a:lnTo>
                  <a:lnTo>
                    <a:pt x="77060" y="1189253"/>
                  </a:lnTo>
                  <a:lnTo>
                    <a:pt x="115260" y="1213534"/>
                  </a:lnTo>
                  <a:lnTo>
                    <a:pt x="158565" y="1229008"/>
                  </a:lnTo>
                  <a:lnTo>
                    <a:pt x="205739" y="1234440"/>
                  </a:lnTo>
                  <a:lnTo>
                    <a:pt x="3040379" y="1234440"/>
                  </a:lnTo>
                  <a:lnTo>
                    <a:pt x="3087566" y="1229008"/>
                  </a:lnTo>
                  <a:lnTo>
                    <a:pt x="3130875" y="1213534"/>
                  </a:lnTo>
                  <a:lnTo>
                    <a:pt x="3169075" y="1189253"/>
                  </a:lnTo>
                  <a:lnTo>
                    <a:pt x="3200933" y="1157395"/>
                  </a:lnTo>
                  <a:lnTo>
                    <a:pt x="3225214" y="1119195"/>
                  </a:lnTo>
                  <a:lnTo>
                    <a:pt x="3240688" y="1075886"/>
                  </a:lnTo>
                  <a:lnTo>
                    <a:pt x="3246120" y="1028700"/>
                  </a:lnTo>
                  <a:lnTo>
                    <a:pt x="3246120" y="205740"/>
                  </a:lnTo>
                  <a:lnTo>
                    <a:pt x="3240688" y="158553"/>
                  </a:lnTo>
                  <a:lnTo>
                    <a:pt x="3225214" y="115244"/>
                  </a:lnTo>
                  <a:lnTo>
                    <a:pt x="3200933" y="77044"/>
                  </a:lnTo>
                  <a:lnTo>
                    <a:pt x="3169075" y="45186"/>
                  </a:lnTo>
                  <a:lnTo>
                    <a:pt x="3130875" y="20905"/>
                  </a:lnTo>
                  <a:lnTo>
                    <a:pt x="3087566" y="5431"/>
                  </a:lnTo>
                  <a:lnTo>
                    <a:pt x="304037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7323" y="1327404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0" y="205740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8" y="77044"/>
                  </a:lnTo>
                  <a:lnTo>
                    <a:pt x="77060" y="45186"/>
                  </a:lnTo>
                  <a:lnTo>
                    <a:pt x="115260" y="20905"/>
                  </a:lnTo>
                  <a:lnTo>
                    <a:pt x="158565" y="5431"/>
                  </a:lnTo>
                  <a:lnTo>
                    <a:pt x="205739" y="0"/>
                  </a:lnTo>
                  <a:lnTo>
                    <a:pt x="3040379" y="0"/>
                  </a:lnTo>
                  <a:lnTo>
                    <a:pt x="3087566" y="5431"/>
                  </a:lnTo>
                  <a:lnTo>
                    <a:pt x="3130875" y="20905"/>
                  </a:lnTo>
                  <a:lnTo>
                    <a:pt x="3169075" y="45186"/>
                  </a:lnTo>
                  <a:lnTo>
                    <a:pt x="3200933" y="77044"/>
                  </a:lnTo>
                  <a:lnTo>
                    <a:pt x="3225214" y="115244"/>
                  </a:lnTo>
                  <a:lnTo>
                    <a:pt x="3240688" y="158553"/>
                  </a:lnTo>
                  <a:lnTo>
                    <a:pt x="3246120" y="205740"/>
                  </a:lnTo>
                  <a:lnTo>
                    <a:pt x="3246120" y="1028700"/>
                  </a:lnTo>
                  <a:lnTo>
                    <a:pt x="3240688" y="1075886"/>
                  </a:lnTo>
                  <a:lnTo>
                    <a:pt x="3225214" y="1119195"/>
                  </a:lnTo>
                  <a:lnTo>
                    <a:pt x="3200933" y="1157395"/>
                  </a:lnTo>
                  <a:lnTo>
                    <a:pt x="3169075" y="1189253"/>
                  </a:lnTo>
                  <a:lnTo>
                    <a:pt x="3130875" y="1213534"/>
                  </a:lnTo>
                  <a:lnTo>
                    <a:pt x="3087566" y="1229008"/>
                  </a:lnTo>
                  <a:lnTo>
                    <a:pt x="3040379" y="1234440"/>
                  </a:lnTo>
                  <a:lnTo>
                    <a:pt x="205739" y="1234440"/>
                  </a:lnTo>
                  <a:lnTo>
                    <a:pt x="158565" y="1229008"/>
                  </a:lnTo>
                  <a:lnTo>
                    <a:pt x="115260" y="1213534"/>
                  </a:lnTo>
                  <a:lnTo>
                    <a:pt x="77060" y="1189253"/>
                  </a:lnTo>
                  <a:lnTo>
                    <a:pt x="45198" y="1157395"/>
                  </a:lnTo>
                  <a:lnTo>
                    <a:pt x="20911" y="1119195"/>
                  </a:lnTo>
                  <a:lnTo>
                    <a:pt x="5433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29436" y="1533525"/>
            <a:ext cx="876300" cy="71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41DC95"/>
                </a:solidFill>
                <a:latin typeface="Arial"/>
                <a:cs typeface="Arial"/>
              </a:rPr>
              <a:t>$1.2M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050" b="1">
                <a:solidFill>
                  <a:srgbClr val="AEBDD2"/>
                </a:solidFill>
                <a:latin typeface="Calibri"/>
                <a:cs typeface="Calibri"/>
              </a:rPr>
              <a:t>Total</a:t>
            </a:r>
            <a:r>
              <a:rPr dirty="0" sz="1050" spc="-2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050" spc="-25" b="1">
                <a:solidFill>
                  <a:srgbClr val="AEBDD2"/>
                </a:solidFill>
                <a:latin typeface="Calibri"/>
                <a:cs typeface="Calibri"/>
              </a:rPr>
              <a:t>ROI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11752" y="1301496"/>
            <a:ext cx="3342004" cy="1330325"/>
            <a:chOff x="4111752" y="1301496"/>
            <a:chExt cx="3342004" cy="13303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1752" y="1301496"/>
              <a:ext cx="3341878" cy="133019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62044" y="1327404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304037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40"/>
                  </a:lnTo>
                  <a:lnTo>
                    <a:pt x="3040379" y="1234440"/>
                  </a:lnTo>
                  <a:lnTo>
                    <a:pt x="3087566" y="1229008"/>
                  </a:lnTo>
                  <a:lnTo>
                    <a:pt x="3130875" y="1213534"/>
                  </a:lnTo>
                  <a:lnTo>
                    <a:pt x="3169075" y="1189253"/>
                  </a:lnTo>
                  <a:lnTo>
                    <a:pt x="3200933" y="1157395"/>
                  </a:lnTo>
                  <a:lnTo>
                    <a:pt x="3225214" y="1119195"/>
                  </a:lnTo>
                  <a:lnTo>
                    <a:pt x="3240688" y="1075886"/>
                  </a:lnTo>
                  <a:lnTo>
                    <a:pt x="3246120" y="1028700"/>
                  </a:lnTo>
                  <a:lnTo>
                    <a:pt x="3246120" y="205740"/>
                  </a:lnTo>
                  <a:lnTo>
                    <a:pt x="3240688" y="158553"/>
                  </a:lnTo>
                  <a:lnTo>
                    <a:pt x="3225214" y="115244"/>
                  </a:lnTo>
                  <a:lnTo>
                    <a:pt x="3200933" y="77044"/>
                  </a:lnTo>
                  <a:lnTo>
                    <a:pt x="3169075" y="45186"/>
                  </a:lnTo>
                  <a:lnTo>
                    <a:pt x="3130875" y="20905"/>
                  </a:lnTo>
                  <a:lnTo>
                    <a:pt x="3087566" y="5431"/>
                  </a:lnTo>
                  <a:lnTo>
                    <a:pt x="304037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162044" y="1327404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3040379" y="0"/>
                  </a:lnTo>
                  <a:lnTo>
                    <a:pt x="3087566" y="5431"/>
                  </a:lnTo>
                  <a:lnTo>
                    <a:pt x="3130875" y="20905"/>
                  </a:lnTo>
                  <a:lnTo>
                    <a:pt x="3169075" y="45186"/>
                  </a:lnTo>
                  <a:lnTo>
                    <a:pt x="3200933" y="77044"/>
                  </a:lnTo>
                  <a:lnTo>
                    <a:pt x="3225214" y="115244"/>
                  </a:lnTo>
                  <a:lnTo>
                    <a:pt x="3240688" y="158553"/>
                  </a:lnTo>
                  <a:lnTo>
                    <a:pt x="3246120" y="205740"/>
                  </a:lnTo>
                  <a:lnTo>
                    <a:pt x="3246120" y="1028700"/>
                  </a:lnTo>
                  <a:lnTo>
                    <a:pt x="3240688" y="1075886"/>
                  </a:lnTo>
                  <a:lnTo>
                    <a:pt x="3225214" y="1119195"/>
                  </a:lnTo>
                  <a:lnTo>
                    <a:pt x="3200933" y="1157395"/>
                  </a:lnTo>
                  <a:lnTo>
                    <a:pt x="3169075" y="1189253"/>
                  </a:lnTo>
                  <a:lnTo>
                    <a:pt x="3130875" y="1213534"/>
                  </a:lnTo>
                  <a:lnTo>
                    <a:pt x="3087566" y="1229008"/>
                  </a:lnTo>
                  <a:lnTo>
                    <a:pt x="3040379" y="1234440"/>
                  </a:lnTo>
                  <a:lnTo>
                    <a:pt x="205739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405121" y="1533525"/>
            <a:ext cx="930275" cy="724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C7FF"/>
                </a:solidFill>
                <a:latin typeface="Arial"/>
                <a:cs typeface="Arial"/>
              </a:rPr>
              <a:t>$306K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100" b="1">
                <a:solidFill>
                  <a:srgbClr val="AEBDD2"/>
                </a:solidFill>
                <a:latin typeface="Calibri"/>
                <a:cs typeface="Calibri"/>
              </a:rPr>
              <a:t>Total</a:t>
            </a:r>
            <a:r>
              <a:rPr dirty="0" sz="1100" spc="-3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AEBDD2"/>
                </a:solidFill>
                <a:latin typeface="Calibri"/>
                <a:cs typeface="Calibri"/>
              </a:rPr>
              <a:t>Cost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86471" y="1301496"/>
            <a:ext cx="3342004" cy="1330325"/>
            <a:chOff x="7586471" y="1301496"/>
            <a:chExt cx="3342004" cy="13303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6471" y="1301496"/>
              <a:ext cx="3341878" cy="133019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636763" y="1327404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304037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40"/>
                  </a:lnTo>
                  <a:lnTo>
                    <a:pt x="3040379" y="1234440"/>
                  </a:lnTo>
                  <a:lnTo>
                    <a:pt x="3087566" y="1229008"/>
                  </a:lnTo>
                  <a:lnTo>
                    <a:pt x="3130875" y="1213534"/>
                  </a:lnTo>
                  <a:lnTo>
                    <a:pt x="3169075" y="1189253"/>
                  </a:lnTo>
                  <a:lnTo>
                    <a:pt x="3200933" y="1157395"/>
                  </a:lnTo>
                  <a:lnTo>
                    <a:pt x="3225214" y="1119195"/>
                  </a:lnTo>
                  <a:lnTo>
                    <a:pt x="3240688" y="1075886"/>
                  </a:lnTo>
                  <a:lnTo>
                    <a:pt x="3246119" y="1028700"/>
                  </a:lnTo>
                  <a:lnTo>
                    <a:pt x="3246119" y="205740"/>
                  </a:lnTo>
                  <a:lnTo>
                    <a:pt x="3240688" y="158553"/>
                  </a:lnTo>
                  <a:lnTo>
                    <a:pt x="3225214" y="115244"/>
                  </a:lnTo>
                  <a:lnTo>
                    <a:pt x="3200933" y="77044"/>
                  </a:lnTo>
                  <a:lnTo>
                    <a:pt x="3169075" y="45186"/>
                  </a:lnTo>
                  <a:lnTo>
                    <a:pt x="3130875" y="20905"/>
                  </a:lnTo>
                  <a:lnTo>
                    <a:pt x="3087566" y="5431"/>
                  </a:lnTo>
                  <a:lnTo>
                    <a:pt x="304037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636763" y="1327404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3040379" y="0"/>
                  </a:lnTo>
                  <a:lnTo>
                    <a:pt x="3087566" y="5431"/>
                  </a:lnTo>
                  <a:lnTo>
                    <a:pt x="3130875" y="20905"/>
                  </a:lnTo>
                  <a:lnTo>
                    <a:pt x="3169075" y="45186"/>
                  </a:lnTo>
                  <a:lnTo>
                    <a:pt x="3200933" y="77044"/>
                  </a:lnTo>
                  <a:lnTo>
                    <a:pt x="3225214" y="115244"/>
                  </a:lnTo>
                  <a:lnTo>
                    <a:pt x="3240688" y="158553"/>
                  </a:lnTo>
                  <a:lnTo>
                    <a:pt x="3246119" y="205740"/>
                  </a:lnTo>
                  <a:lnTo>
                    <a:pt x="3246119" y="1028700"/>
                  </a:lnTo>
                  <a:lnTo>
                    <a:pt x="3240688" y="1075886"/>
                  </a:lnTo>
                  <a:lnTo>
                    <a:pt x="3225214" y="1119195"/>
                  </a:lnTo>
                  <a:lnTo>
                    <a:pt x="3200933" y="1157395"/>
                  </a:lnTo>
                  <a:lnTo>
                    <a:pt x="3169075" y="1189253"/>
                  </a:lnTo>
                  <a:lnTo>
                    <a:pt x="3130875" y="1213534"/>
                  </a:lnTo>
                  <a:lnTo>
                    <a:pt x="3087566" y="1229008"/>
                  </a:lnTo>
                  <a:lnTo>
                    <a:pt x="3040379" y="1234440"/>
                  </a:lnTo>
                  <a:lnTo>
                    <a:pt x="205739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880350" y="1533525"/>
            <a:ext cx="760730" cy="724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00C7FF"/>
                </a:solidFill>
                <a:latin typeface="Arial"/>
                <a:cs typeface="Arial"/>
              </a:rPr>
              <a:t>100K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100" b="1">
                <a:solidFill>
                  <a:srgbClr val="AEBDD2"/>
                </a:solidFill>
                <a:latin typeface="Calibri"/>
                <a:cs typeface="Calibri"/>
              </a:rPr>
              <a:t>Hours</a:t>
            </a:r>
            <a:r>
              <a:rPr dirty="0" sz="1100" spc="-2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AEBDD2"/>
                </a:solidFill>
                <a:latin typeface="Calibri"/>
                <a:cs typeface="Calibri"/>
              </a:rPr>
              <a:t>Saved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7031" y="2901695"/>
            <a:ext cx="3342004" cy="1330325"/>
            <a:chOff x="637031" y="2901695"/>
            <a:chExt cx="3342004" cy="133032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031" y="2901695"/>
              <a:ext cx="3341878" cy="133019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87323" y="2927603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3040379" y="0"/>
                  </a:moveTo>
                  <a:lnTo>
                    <a:pt x="205739" y="0"/>
                  </a:lnTo>
                  <a:lnTo>
                    <a:pt x="158565" y="5431"/>
                  </a:lnTo>
                  <a:lnTo>
                    <a:pt x="115260" y="20905"/>
                  </a:lnTo>
                  <a:lnTo>
                    <a:pt x="77060" y="45186"/>
                  </a:lnTo>
                  <a:lnTo>
                    <a:pt x="45198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3" y="1075886"/>
                  </a:lnTo>
                  <a:lnTo>
                    <a:pt x="20911" y="1119195"/>
                  </a:lnTo>
                  <a:lnTo>
                    <a:pt x="45198" y="1157395"/>
                  </a:lnTo>
                  <a:lnTo>
                    <a:pt x="77060" y="1189253"/>
                  </a:lnTo>
                  <a:lnTo>
                    <a:pt x="115260" y="1213534"/>
                  </a:lnTo>
                  <a:lnTo>
                    <a:pt x="158565" y="1229008"/>
                  </a:lnTo>
                  <a:lnTo>
                    <a:pt x="205739" y="1234440"/>
                  </a:lnTo>
                  <a:lnTo>
                    <a:pt x="3040379" y="1234440"/>
                  </a:lnTo>
                  <a:lnTo>
                    <a:pt x="3087566" y="1229008"/>
                  </a:lnTo>
                  <a:lnTo>
                    <a:pt x="3130875" y="1213534"/>
                  </a:lnTo>
                  <a:lnTo>
                    <a:pt x="3169075" y="1189253"/>
                  </a:lnTo>
                  <a:lnTo>
                    <a:pt x="3200933" y="1157395"/>
                  </a:lnTo>
                  <a:lnTo>
                    <a:pt x="3225214" y="1119195"/>
                  </a:lnTo>
                  <a:lnTo>
                    <a:pt x="3240688" y="1075886"/>
                  </a:lnTo>
                  <a:lnTo>
                    <a:pt x="3246120" y="1028700"/>
                  </a:lnTo>
                  <a:lnTo>
                    <a:pt x="3246120" y="205740"/>
                  </a:lnTo>
                  <a:lnTo>
                    <a:pt x="3240688" y="158553"/>
                  </a:lnTo>
                  <a:lnTo>
                    <a:pt x="3225214" y="115244"/>
                  </a:lnTo>
                  <a:lnTo>
                    <a:pt x="3200933" y="77044"/>
                  </a:lnTo>
                  <a:lnTo>
                    <a:pt x="3169075" y="45186"/>
                  </a:lnTo>
                  <a:lnTo>
                    <a:pt x="3130875" y="20905"/>
                  </a:lnTo>
                  <a:lnTo>
                    <a:pt x="3087566" y="5431"/>
                  </a:lnTo>
                  <a:lnTo>
                    <a:pt x="304037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87323" y="2927603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0" y="205740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8" y="77044"/>
                  </a:lnTo>
                  <a:lnTo>
                    <a:pt x="77060" y="45186"/>
                  </a:lnTo>
                  <a:lnTo>
                    <a:pt x="115260" y="20905"/>
                  </a:lnTo>
                  <a:lnTo>
                    <a:pt x="158565" y="5431"/>
                  </a:lnTo>
                  <a:lnTo>
                    <a:pt x="205739" y="0"/>
                  </a:lnTo>
                  <a:lnTo>
                    <a:pt x="3040379" y="0"/>
                  </a:lnTo>
                  <a:lnTo>
                    <a:pt x="3087566" y="5431"/>
                  </a:lnTo>
                  <a:lnTo>
                    <a:pt x="3130875" y="20905"/>
                  </a:lnTo>
                  <a:lnTo>
                    <a:pt x="3169075" y="45186"/>
                  </a:lnTo>
                  <a:lnTo>
                    <a:pt x="3200933" y="77044"/>
                  </a:lnTo>
                  <a:lnTo>
                    <a:pt x="3225214" y="115244"/>
                  </a:lnTo>
                  <a:lnTo>
                    <a:pt x="3240688" y="158553"/>
                  </a:lnTo>
                  <a:lnTo>
                    <a:pt x="3246120" y="205740"/>
                  </a:lnTo>
                  <a:lnTo>
                    <a:pt x="3246120" y="1028700"/>
                  </a:lnTo>
                  <a:lnTo>
                    <a:pt x="3240688" y="1075886"/>
                  </a:lnTo>
                  <a:lnTo>
                    <a:pt x="3225214" y="1119195"/>
                  </a:lnTo>
                  <a:lnTo>
                    <a:pt x="3200933" y="1157395"/>
                  </a:lnTo>
                  <a:lnTo>
                    <a:pt x="3169075" y="1189253"/>
                  </a:lnTo>
                  <a:lnTo>
                    <a:pt x="3130875" y="1213534"/>
                  </a:lnTo>
                  <a:lnTo>
                    <a:pt x="3087566" y="1229008"/>
                  </a:lnTo>
                  <a:lnTo>
                    <a:pt x="3040379" y="1234440"/>
                  </a:lnTo>
                  <a:lnTo>
                    <a:pt x="205739" y="1234440"/>
                  </a:lnTo>
                  <a:lnTo>
                    <a:pt x="158565" y="1229008"/>
                  </a:lnTo>
                  <a:lnTo>
                    <a:pt x="115260" y="1213534"/>
                  </a:lnTo>
                  <a:lnTo>
                    <a:pt x="77060" y="1189253"/>
                  </a:lnTo>
                  <a:lnTo>
                    <a:pt x="45198" y="1157395"/>
                  </a:lnTo>
                  <a:lnTo>
                    <a:pt x="20911" y="1119195"/>
                  </a:lnTo>
                  <a:lnTo>
                    <a:pt x="5433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29436" y="3134055"/>
            <a:ext cx="1392555" cy="725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41DC95"/>
                </a:solidFill>
                <a:latin typeface="Arial"/>
                <a:cs typeface="Arial"/>
              </a:rPr>
              <a:t>$186K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100" b="1">
                <a:solidFill>
                  <a:srgbClr val="AEBDD2"/>
                </a:solidFill>
                <a:latin typeface="Calibri"/>
                <a:cs typeface="Calibri"/>
              </a:rPr>
              <a:t>Top</a:t>
            </a:r>
            <a:r>
              <a:rPr dirty="0" sz="1100" spc="-3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AEBDD2"/>
                </a:solidFill>
                <a:latin typeface="Calibri"/>
                <a:cs typeface="Calibri"/>
              </a:rPr>
              <a:t>ROI</a:t>
            </a:r>
            <a:r>
              <a:rPr dirty="0" sz="1100" spc="1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AEBDD2"/>
                </a:solidFill>
                <a:latin typeface="Calibri"/>
                <a:cs typeface="Calibri"/>
              </a:rPr>
              <a:t>•</a:t>
            </a:r>
            <a:r>
              <a:rPr dirty="0" sz="1100" spc="-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AEBDD2"/>
                </a:solidFill>
                <a:latin typeface="Calibri"/>
                <a:cs typeface="Calibri"/>
              </a:rPr>
              <a:t>Adobe</a:t>
            </a:r>
            <a:r>
              <a:rPr dirty="0" sz="1100" spc="-3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AEBDD2"/>
                </a:solidFill>
                <a:latin typeface="Calibri"/>
                <a:cs typeface="Calibri"/>
              </a:rPr>
              <a:t>Firefly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111752" y="2901695"/>
            <a:ext cx="3342004" cy="1330325"/>
            <a:chOff x="4111752" y="2901695"/>
            <a:chExt cx="3342004" cy="133032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1752" y="2901695"/>
              <a:ext cx="3341878" cy="133019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162044" y="2927603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304037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40"/>
                  </a:lnTo>
                  <a:lnTo>
                    <a:pt x="3040379" y="1234440"/>
                  </a:lnTo>
                  <a:lnTo>
                    <a:pt x="3087566" y="1229008"/>
                  </a:lnTo>
                  <a:lnTo>
                    <a:pt x="3130875" y="1213534"/>
                  </a:lnTo>
                  <a:lnTo>
                    <a:pt x="3169075" y="1189253"/>
                  </a:lnTo>
                  <a:lnTo>
                    <a:pt x="3200933" y="1157395"/>
                  </a:lnTo>
                  <a:lnTo>
                    <a:pt x="3225214" y="1119195"/>
                  </a:lnTo>
                  <a:lnTo>
                    <a:pt x="3240688" y="1075886"/>
                  </a:lnTo>
                  <a:lnTo>
                    <a:pt x="3246120" y="1028700"/>
                  </a:lnTo>
                  <a:lnTo>
                    <a:pt x="3246120" y="205740"/>
                  </a:lnTo>
                  <a:lnTo>
                    <a:pt x="3240688" y="158553"/>
                  </a:lnTo>
                  <a:lnTo>
                    <a:pt x="3225214" y="115244"/>
                  </a:lnTo>
                  <a:lnTo>
                    <a:pt x="3200933" y="77044"/>
                  </a:lnTo>
                  <a:lnTo>
                    <a:pt x="3169075" y="45186"/>
                  </a:lnTo>
                  <a:lnTo>
                    <a:pt x="3130875" y="20905"/>
                  </a:lnTo>
                  <a:lnTo>
                    <a:pt x="3087566" y="5431"/>
                  </a:lnTo>
                  <a:lnTo>
                    <a:pt x="304037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162044" y="2927603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3040379" y="0"/>
                  </a:lnTo>
                  <a:lnTo>
                    <a:pt x="3087566" y="5431"/>
                  </a:lnTo>
                  <a:lnTo>
                    <a:pt x="3130875" y="20905"/>
                  </a:lnTo>
                  <a:lnTo>
                    <a:pt x="3169075" y="45186"/>
                  </a:lnTo>
                  <a:lnTo>
                    <a:pt x="3200933" y="77044"/>
                  </a:lnTo>
                  <a:lnTo>
                    <a:pt x="3225214" y="115244"/>
                  </a:lnTo>
                  <a:lnTo>
                    <a:pt x="3240688" y="158553"/>
                  </a:lnTo>
                  <a:lnTo>
                    <a:pt x="3246120" y="205740"/>
                  </a:lnTo>
                  <a:lnTo>
                    <a:pt x="3246120" y="1028700"/>
                  </a:lnTo>
                  <a:lnTo>
                    <a:pt x="3240688" y="1075886"/>
                  </a:lnTo>
                  <a:lnTo>
                    <a:pt x="3225214" y="1119195"/>
                  </a:lnTo>
                  <a:lnTo>
                    <a:pt x="3200933" y="1157395"/>
                  </a:lnTo>
                  <a:lnTo>
                    <a:pt x="3169075" y="1189253"/>
                  </a:lnTo>
                  <a:lnTo>
                    <a:pt x="3130875" y="1213534"/>
                  </a:lnTo>
                  <a:lnTo>
                    <a:pt x="3087566" y="1229008"/>
                  </a:lnTo>
                  <a:lnTo>
                    <a:pt x="3040379" y="1234440"/>
                  </a:lnTo>
                  <a:lnTo>
                    <a:pt x="205739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405121" y="3134055"/>
            <a:ext cx="1614805" cy="725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41DC95"/>
                </a:solidFill>
                <a:latin typeface="Arial"/>
                <a:cs typeface="Arial"/>
              </a:rPr>
              <a:t>33.6%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100" b="1">
                <a:solidFill>
                  <a:srgbClr val="AEBDD2"/>
                </a:solidFill>
                <a:latin typeface="Calibri"/>
                <a:cs typeface="Calibri"/>
              </a:rPr>
              <a:t>Best</a:t>
            </a:r>
            <a:r>
              <a:rPr dirty="0" sz="1100" spc="-3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AEBDD2"/>
                </a:solidFill>
                <a:latin typeface="Calibri"/>
                <a:cs typeface="Calibri"/>
              </a:rPr>
              <a:t>ROI%</a:t>
            </a:r>
            <a:r>
              <a:rPr dirty="0" sz="1100" spc="-1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AEBDD2"/>
                </a:solidFill>
                <a:latin typeface="Calibri"/>
                <a:cs typeface="Calibri"/>
              </a:rPr>
              <a:t>• GitHub</a:t>
            </a:r>
            <a:r>
              <a:rPr dirty="0" sz="1100" spc="-2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AEBDD2"/>
                </a:solidFill>
                <a:latin typeface="Calibri"/>
                <a:cs typeface="Calibri"/>
              </a:rPr>
              <a:t>Copilot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586471" y="2901695"/>
            <a:ext cx="3342004" cy="1330325"/>
            <a:chOff x="7586471" y="2901695"/>
            <a:chExt cx="3342004" cy="133032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6471" y="2901695"/>
              <a:ext cx="3341878" cy="133019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636763" y="2927603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304037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40"/>
                  </a:lnTo>
                  <a:lnTo>
                    <a:pt x="3040379" y="1234440"/>
                  </a:lnTo>
                  <a:lnTo>
                    <a:pt x="3087566" y="1229008"/>
                  </a:lnTo>
                  <a:lnTo>
                    <a:pt x="3130875" y="1213534"/>
                  </a:lnTo>
                  <a:lnTo>
                    <a:pt x="3169075" y="1189253"/>
                  </a:lnTo>
                  <a:lnTo>
                    <a:pt x="3200933" y="1157395"/>
                  </a:lnTo>
                  <a:lnTo>
                    <a:pt x="3225214" y="1119195"/>
                  </a:lnTo>
                  <a:lnTo>
                    <a:pt x="3240688" y="1075886"/>
                  </a:lnTo>
                  <a:lnTo>
                    <a:pt x="3246119" y="1028700"/>
                  </a:lnTo>
                  <a:lnTo>
                    <a:pt x="3246119" y="205740"/>
                  </a:lnTo>
                  <a:lnTo>
                    <a:pt x="3240688" y="158553"/>
                  </a:lnTo>
                  <a:lnTo>
                    <a:pt x="3225214" y="115244"/>
                  </a:lnTo>
                  <a:lnTo>
                    <a:pt x="3200933" y="77044"/>
                  </a:lnTo>
                  <a:lnTo>
                    <a:pt x="3169075" y="45186"/>
                  </a:lnTo>
                  <a:lnTo>
                    <a:pt x="3130875" y="20905"/>
                  </a:lnTo>
                  <a:lnTo>
                    <a:pt x="3087566" y="5431"/>
                  </a:lnTo>
                  <a:lnTo>
                    <a:pt x="3040379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636763" y="2927603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3040379" y="0"/>
                  </a:lnTo>
                  <a:lnTo>
                    <a:pt x="3087566" y="5431"/>
                  </a:lnTo>
                  <a:lnTo>
                    <a:pt x="3130875" y="20905"/>
                  </a:lnTo>
                  <a:lnTo>
                    <a:pt x="3169075" y="45186"/>
                  </a:lnTo>
                  <a:lnTo>
                    <a:pt x="3200933" y="77044"/>
                  </a:lnTo>
                  <a:lnTo>
                    <a:pt x="3225214" y="115244"/>
                  </a:lnTo>
                  <a:lnTo>
                    <a:pt x="3240688" y="158553"/>
                  </a:lnTo>
                  <a:lnTo>
                    <a:pt x="3246119" y="205740"/>
                  </a:lnTo>
                  <a:lnTo>
                    <a:pt x="3246119" y="1028700"/>
                  </a:lnTo>
                  <a:lnTo>
                    <a:pt x="3240688" y="1075886"/>
                  </a:lnTo>
                  <a:lnTo>
                    <a:pt x="3225214" y="1119195"/>
                  </a:lnTo>
                  <a:lnTo>
                    <a:pt x="3200933" y="1157395"/>
                  </a:lnTo>
                  <a:lnTo>
                    <a:pt x="3169075" y="1189253"/>
                  </a:lnTo>
                  <a:lnTo>
                    <a:pt x="3130875" y="1213534"/>
                  </a:lnTo>
                  <a:lnTo>
                    <a:pt x="3087566" y="1229008"/>
                  </a:lnTo>
                  <a:lnTo>
                    <a:pt x="3040379" y="1234440"/>
                  </a:lnTo>
                  <a:lnTo>
                    <a:pt x="205739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7880350" y="3134055"/>
            <a:ext cx="1049655" cy="725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00C7FF"/>
                </a:solidFill>
                <a:latin typeface="Arial"/>
                <a:cs typeface="Arial"/>
              </a:rPr>
              <a:t>295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100" b="1">
                <a:solidFill>
                  <a:srgbClr val="AEBDD2"/>
                </a:solidFill>
                <a:latin typeface="Calibri"/>
                <a:cs typeface="Calibri"/>
              </a:rPr>
              <a:t>Analyzed</a:t>
            </a:r>
            <a:r>
              <a:rPr dirty="0" sz="1100" spc="-4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AEBDD2"/>
                </a:solidFill>
                <a:latin typeface="Calibri"/>
                <a:cs typeface="Calibri"/>
              </a:rPr>
              <a:t>Records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7031" y="4639055"/>
            <a:ext cx="10291445" cy="1010285"/>
            <a:chOff x="637031" y="4639055"/>
            <a:chExt cx="10291445" cy="1010285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031" y="4639055"/>
              <a:ext cx="10291318" cy="101024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87323" y="4664963"/>
              <a:ext cx="10195560" cy="914400"/>
            </a:xfrm>
            <a:custGeom>
              <a:avLst/>
              <a:gdLst/>
              <a:ahLst/>
              <a:cxnLst/>
              <a:rect l="l" t="t" r="r" b="b"/>
              <a:pathLst>
                <a:path w="10195560" h="914400">
                  <a:moveTo>
                    <a:pt x="10043160" y="0"/>
                  </a:moveTo>
                  <a:lnTo>
                    <a:pt x="152400" y="0"/>
                  </a:lnTo>
                  <a:lnTo>
                    <a:pt x="104231" y="7766"/>
                  </a:lnTo>
                  <a:lnTo>
                    <a:pt x="62396" y="29394"/>
                  </a:lnTo>
                  <a:lnTo>
                    <a:pt x="29405" y="62380"/>
                  </a:lnTo>
                  <a:lnTo>
                    <a:pt x="7769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9" y="810182"/>
                  </a:lnTo>
                  <a:lnTo>
                    <a:pt x="29405" y="852019"/>
                  </a:lnTo>
                  <a:lnTo>
                    <a:pt x="62396" y="885005"/>
                  </a:lnTo>
                  <a:lnTo>
                    <a:pt x="104231" y="906633"/>
                  </a:lnTo>
                  <a:lnTo>
                    <a:pt x="152400" y="914400"/>
                  </a:lnTo>
                  <a:lnTo>
                    <a:pt x="10043160" y="914400"/>
                  </a:lnTo>
                  <a:lnTo>
                    <a:pt x="10091342" y="906633"/>
                  </a:lnTo>
                  <a:lnTo>
                    <a:pt x="10133179" y="885005"/>
                  </a:lnTo>
                  <a:lnTo>
                    <a:pt x="10166165" y="852019"/>
                  </a:lnTo>
                  <a:lnTo>
                    <a:pt x="10187793" y="810182"/>
                  </a:lnTo>
                  <a:lnTo>
                    <a:pt x="10195560" y="762000"/>
                  </a:lnTo>
                  <a:lnTo>
                    <a:pt x="10195560" y="152400"/>
                  </a:lnTo>
                  <a:lnTo>
                    <a:pt x="10187793" y="104217"/>
                  </a:lnTo>
                  <a:lnTo>
                    <a:pt x="10166165" y="62380"/>
                  </a:lnTo>
                  <a:lnTo>
                    <a:pt x="10133179" y="29394"/>
                  </a:lnTo>
                  <a:lnTo>
                    <a:pt x="10091342" y="7766"/>
                  </a:lnTo>
                  <a:lnTo>
                    <a:pt x="1004316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87323" y="4664963"/>
              <a:ext cx="10195560" cy="914400"/>
            </a:xfrm>
            <a:custGeom>
              <a:avLst/>
              <a:gdLst/>
              <a:ahLst/>
              <a:cxnLst/>
              <a:rect l="l" t="t" r="r" b="b"/>
              <a:pathLst>
                <a:path w="10195560" h="914400">
                  <a:moveTo>
                    <a:pt x="0" y="152400"/>
                  </a:moveTo>
                  <a:lnTo>
                    <a:pt x="7769" y="104217"/>
                  </a:lnTo>
                  <a:lnTo>
                    <a:pt x="29405" y="62380"/>
                  </a:lnTo>
                  <a:lnTo>
                    <a:pt x="62396" y="29394"/>
                  </a:lnTo>
                  <a:lnTo>
                    <a:pt x="104231" y="7766"/>
                  </a:lnTo>
                  <a:lnTo>
                    <a:pt x="152400" y="0"/>
                  </a:lnTo>
                  <a:lnTo>
                    <a:pt x="10043160" y="0"/>
                  </a:lnTo>
                  <a:lnTo>
                    <a:pt x="10091342" y="7766"/>
                  </a:lnTo>
                  <a:lnTo>
                    <a:pt x="10133179" y="29394"/>
                  </a:lnTo>
                  <a:lnTo>
                    <a:pt x="10166165" y="62380"/>
                  </a:lnTo>
                  <a:lnTo>
                    <a:pt x="10187793" y="104217"/>
                  </a:lnTo>
                  <a:lnTo>
                    <a:pt x="10195560" y="152400"/>
                  </a:lnTo>
                  <a:lnTo>
                    <a:pt x="10195560" y="762000"/>
                  </a:lnTo>
                  <a:lnTo>
                    <a:pt x="10187793" y="810182"/>
                  </a:lnTo>
                  <a:lnTo>
                    <a:pt x="10166165" y="852019"/>
                  </a:lnTo>
                  <a:lnTo>
                    <a:pt x="10133179" y="885005"/>
                  </a:lnTo>
                  <a:lnTo>
                    <a:pt x="10091342" y="906633"/>
                  </a:lnTo>
                  <a:lnTo>
                    <a:pt x="10043160" y="914400"/>
                  </a:lnTo>
                  <a:lnTo>
                    <a:pt x="152400" y="914400"/>
                  </a:lnTo>
                  <a:lnTo>
                    <a:pt x="104231" y="906633"/>
                  </a:lnTo>
                  <a:lnTo>
                    <a:pt x="62396" y="885005"/>
                  </a:lnTo>
                  <a:lnTo>
                    <a:pt x="29405" y="852019"/>
                  </a:lnTo>
                  <a:lnTo>
                    <a:pt x="7769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039164" y="4933569"/>
            <a:ext cx="1376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Portfolio</a:t>
            </a:r>
            <a:r>
              <a:rPr dirty="0" sz="1200" spc="-6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C7FF"/>
                </a:solidFill>
                <a:latin typeface="Arial"/>
                <a:cs typeface="Arial"/>
              </a:rPr>
              <a:t>takeaway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142726" y="6514895"/>
            <a:ext cx="440055" cy="1549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07</a:t>
            </a:r>
            <a:r>
              <a:rPr dirty="0" sz="900" spc="24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/</a:t>
            </a:r>
            <a:r>
              <a:rPr dirty="0" sz="900" spc="24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AEBDD2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68295" y="4860416"/>
            <a:ext cx="690372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Scale</a:t>
            </a:r>
            <a:r>
              <a:rPr dirty="0" sz="1400" spc="-6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tools</a:t>
            </a:r>
            <a:r>
              <a:rPr dirty="0" sz="1400" spc="-4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that</a:t>
            </a:r>
            <a:r>
              <a:rPr dirty="0" sz="1400" spc="-6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create</a:t>
            </a:r>
            <a:r>
              <a:rPr dirty="0" sz="1400" spc="-3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measurable</a:t>
            </a:r>
            <a:r>
              <a:rPr dirty="0" sz="1400" spc="-4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value;</a:t>
            </a:r>
            <a:r>
              <a:rPr dirty="0" sz="1400" spc="-2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review</a:t>
            </a:r>
            <a:r>
              <a:rPr dirty="0" sz="1400" spc="-2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spend</a:t>
            </a:r>
            <a:r>
              <a:rPr dirty="0" sz="1400" spc="-4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where</a:t>
            </a:r>
            <a:r>
              <a:rPr dirty="0" sz="1400" spc="-5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returns</a:t>
            </a:r>
            <a:r>
              <a:rPr dirty="0" sz="1400" spc="-4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are</a:t>
            </a:r>
            <a:r>
              <a:rPr dirty="0" sz="1400" spc="-7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5F8FB"/>
                </a:solidFill>
                <a:latin typeface="Arial"/>
                <a:cs typeface="Arial"/>
              </a:rPr>
              <a:t>weaker</a:t>
            </a:r>
            <a:r>
              <a:rPr dirty="0" sz="1300" spc="-10" b="1">
                <a:solidFill>
                  <a:srgbClr val="F5F8FB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20"/>
              <a:t>Tool</a:t>
            </a:r>
            <a:r>
              <a:rPr dirty="0" spc="-65"/>
              <a:t> </a:t>
            </a:r>
            <a:r>
              <a:rPr dirty="0"/>
              <a:t>&amp;</a:t>
            </a:r>
            <a:r>
              <a:rPr dirty="0" spc="-85"/>
              <a:t> </a:t>
            </a:r>
            <a:r>
              <a:rPr dirty="0"/>
              <a:t>Department</a:t>
            </a:r>
            <a:r>
              <a:rPr dirty="0" spc="-95"/>
              <a:t> </a:t>
            </a:r>
            <a:r>
              <a:rPr dirty="0" spc="-10"/>
              <a:t>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836" y="865759"/>
            <a:ext cx="37985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AEBDD2"/>
                </a:solidFill>
                <a:latin typeface="Calibri"/>
                <a:cs typeface="Calibri"/>
              </a:rPr>
              <a:t>Real</a:t>
            </a:r>
            <a:r>
              <a:rPr dirty="0" sz="1200" spc="-2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AEBDD2"/>
                </a:solidFill>
                <a:latin typeface="Calibri"/>
                <a:cs typeface="Calibri"/>
              </a:rPr>
              <a:t>workbook</a:t>
            </a:r>
            <a:r>
              <a:rPr dirty="0" sz="1200" spc="-3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AEBDD2"/>
                </a:solidFill>
                <a:latin typeface="Calibri"/>
                <a:cs typeface="Calibri"/>
              </a:rPr>
              <a:t>categories</a:t>
            </a:r>
            <a:r>
              <a:rPr dirty="0" sz="1200" spc="-3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AEBDD2"/>
                </a:solidFill>
                <a:latin typeface="Calibri"/>
                <a:cs typeface="Calibri"/>
              </a:rPr>
              <a:t>with</a:t>
            </a:r>
            <a:r>
              <a:rPr dirty="0" sz="1200" spc="-10" b="1">
                <a:solidFill>
                  <a:srgbClr val="AEBDD2"/>
                </a:solidFill>
                <a:latin typeface="Calibri"/>
                <a:cs typeface="Calibri"/>
              </a:rPr>
              <a:t> executive-</a:t>
            </a:r>
            <a:r>
              <a:rPr dirty="0" sz="1200" b="1">
                <a:solidFill>
                  <a:srgbClr val="AEBDD2"/>
                </a:solidFill>
                <a:latin typeface="Calibri"/>
                <a:cs typeface="Calibri"/>
              </a:rPr>
              <a:t>level</a:t>
            </a:r>
            <a:r>
              <a:rPr dirty="0" sz="1200" spc="-4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AEBDD2"/>
                </a:solidFill>
                <a:latin typeface="Calibri"/>
                <a:cs typeface="Calibri"/>
              </a:rPr>
              <a:t>comparisons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34083" y="1688592"/>
            <a:ext cx="5363210" cy="3787140"/>
            <a:chOff x="1434083" y="1688592"/>
            <a:chExt cx="5363210" cy="3787140"/>
          </a:xfrm>
        </p:grpSpPr>
        <p:sp>
          <p:nvSpPr>
            <p:cNvPr id="5" name="object 5"/>
            <p:cNvSpPr/>
            <p:nvPr/>
          </p:nvSpPr>
          <p:spPr>
            <a:xfrm>
              <a:off x="1469136" y="1834895"/>
              <a:ext cx="4959350" cy="3469004"/>
            </a:xfrm>
            <a:custGeom>
              <a:avLst/>
              <a:gdLst/>
              <a:ahLst/>
              <a:cxnLst/>
              <a:rect l="l" t="t" r="r" b="b"/>
              <a:pathLst>
                <a:path w="4959350" h="3469004">
                  <a:moveTo>
                    <a:pt x="2804160" y="1874520"/>
                  </a:moveTo>
                  <a:lnTo>
                    <a:pt x="0" y="1874520"/>
                  </a:lnTo>
                  <a:lnTo>
                    <a:pt x="0" y="2060448"/>
                  </a:lnTo>
                  <a:lnTo>
                    <a:pt x="2804160" y="2060448"/>
                  </a:lnTo>
                  <a:lnTo>
                    <a:pt x="2804160" y="1874520"/>
                  </a:lnTo>
                  <a:close/>
                </a:path>
                <a:path w="4959350" h="3469004">
                  <a:moveTo>
                    <a:pt x="2980944" y="466344"/>
                  </a:moveTo>
                  <a:lnTo>
                    <a:pt x="0" y="466344"/>
                  </a:lnTo>
                  <a:lnTo>
                    <a:pt x="0" y="655320"/>
                  </a:lnTo>
                  <a:lnTo>
                    <a:pt x="2980944" y="655320"/>
                  </a:lnTo>
                  <a:lnTo>
                    <a:pt x="2980944" y="466344"/>
                  </a:lnTo>
                  <a:close/>
                </a:path>
                <a:path w="4959350" h="3469004">
                  <a:moveTo>
                    <a:pt x="3276600" y="935736"/>
                  </a:moveTo>
                  <a:lnTo>
                    <a:pt x="0" y="935736"/>
                  </a:lnTo>
                  <a:lnTo>
                    <a:pt x="0" y="1124712"/>
                  </a:lnTo>
                  <a:lnTo>
                    <a:pt x="3276600" y="1124712"/>
                  </a:lnTo>
                  <a:lnTo>
                    <a:pt x="3276600" y="935736"/>
                  </a:lnTo>
                  <a:close/>
                </a:path>
                <a:path w="4959350" h="3469004">
                  <a:moveTo>
                    <a:pt x="4090416" y="2813304"/>
                  </a:moveTo>
                  <a:lnTo>
                    <a:pt x="0" y="2813304"/>
                  </a:lnTo>
                  <a:lnTo>
                    <a:pt x="0" y="2999232"/>
                  </a:lnTo>
                  <a:lnTo>
                    <a:pt x="4090416" y="2999232"/>
                  </a:lnTo>
                  <a:lnTo>
                    <a:pt x="4090416" y="2813304"/>
                  </a:lnTo>
                  <a:close/>
                </a:path>
                <a:path w="4959350" h="3469004">
                  <a:moveTo>
                    <a:pt x="4498848" y="1405128"/>
                  </a:moveTo>
                  <a:lnTo>
                    <a:pt x="0" y="1405128"/>
                  </a:lnTo>
                  <a:lnTo>
                    <a:pt x="0" y="1594104"/>
                  </a:lnTo>
                  <a:lnTo>
                    <a:pt x="4498848" y="1594104"/>
                  </a:lnTo>
                  <a:lnTo>
                    <a:pt x="4498848" y="1405128"/>
                  </a:lnTo>
                  <a:close/>
                </a:path>
                <a:path w="4959350" h="3469004">
                  <a:moveTo>
                    <a:pt x="4632960" y="3279648"/>
                  </a:moveTo>
                  <a:lnTo>
                    <a:pt x="0" y="3279648"/>
                  </a:lnTo>
                  <a:lnTo>
                    <a:pt x="0" y="3468624"/>
                  </a:lnTo>
                  <a:lnTo>
                    <a:pt x="4632960" y="3468624"/>
                  </a:lnTo>
                  <a:lnTo>
                    <a:pt x="4632960" y="3279648"/>
                  </a:lnTo>
                  <a:close/>
                </a:path>
                <a:path w="4959350" h="3469004">
                  <a:moveTo>
                    <a:pt x="4919472" y="0"/>
                  </a:moveTo>
                  <a:lnTo>
                    <a:pt x="0" y="0"/>
                  </a:lnTo>
                  <a:lnTo>
                    <a:pt x="0" y="185928"/>
                  </a:lnTo>
                  <a:lnTo>
                    <a:pt x="4919472" y="185928"/>
                  </a:lnTo>
                  <a:lnTo>
                    <a:pt x="4919472" y="0"/>
                  </a:lnTo>
                  <a:close/>
                </a:path>
                <a:path w="4959350" h="3469004">
                  <a:moveTo>
                    <a:pt x="4959096" y="2343924"/>
                  </a:moveTo>
                  <a:lnTo>
                    <a:pt x="0" y="2343924"/>
                  </a:lnTo>
                  <a:lnTo>
                    <a:pt x="0" y="2529840"/>
                  </a:lnTo>
                  <a:lnTo>
                    <a:pt x="4959096" y="2529840"/>
                  </a:lnTo>
                  <a:lnTo>
                    <a:pt x="4959096" y="2343924"/>
                  </a:lnTo>
                  <a:close/>
                </a:path>
              </a:pathLst>
            </a:custGeom>
            <a:solidFill>
              <a:srgbClr val="00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34083" y="1693164"/>
              <a:ext cx="5358765" cy="3782695"/>
            </a:xfrm>
            <a:custGeom>
              <a:avLst/>
              <a:gdLst/>
              <a:ahLst/>
              <a:cxnLst/>
              <a:rect l="l" t="t" r="r" b="b"/>
              <a:pathLst>
                <a:path w="5358765" h="3782695">
                  <a:moveTo>
                    <a:pt x="33528" y="3752088"/>
                  </a:moveTo>
                  <a:lnTo>
                    <a:pt x="5358384" y="3752088"/>
                  </a:lnTo>
                </a:path>
                <a:path w="5358765" h="3782695">
                  <a:moveTo>
                    <a:pt x="33528" y="3752088"/>
                  </a:moveTo>
                  <a:lnTo>
                    <a:pt x="33528" y="3782568"/>
                  </a:lnTo>
                </a:path>
                <a:path w="5358765" h="3782695">
                  <a:moveTo>
                    <a:pt x="566928" y="3752088"/>
                  </a:moveTo>
                  <a:lnTo>
                    <a:pt x="566928" y="3782568"/>
                  </a:lnTo>
                </a:path>
                <a:path w="5358765" h="3782695">
                  <a:moveTo>
                    <a:pt x="1100328" y="3752088"/>
                  </a:moveTo>
                  <a:lnTo>
                    <a:pt x="1100328" y="3782568"/>
                  </a:lnTo>
                </a:path>
                <a:path w="5358765" h="3782695">
                  <a:moveTo>
                    <a:pt x="1630679" y="3752088"/>
                  </a:moveTo>
                  <a:lnTo>
                    <a:pt x="1630679" y="3782568"/>
                  </a:lnTo>
                </a:path>
                <a:path w="5358765" h="3782695">
                  <a:moveTo>
                    <a:pt x="2164079" y="3752088"/>
                  </a:moveTo>
                  <a:lnTo>
                    <a:pt x="2164079" y="3782568"/>
                  </a:lnTo>
                </a:path>
                <a:path w="5358765" h="3782695">
                  <a:moveTo>
                    <a:pt x="2697479" y="3752088"/>
                  </a:moveTo>
                  <a:lnTo>
                    <a:pt x="2697479" y="3782568"/>
                  </a:lnTo>
                </a:path>
                <a:path w="5358765" h="3782695">
                  <a:moveTo>
                    <a:pt x="3227831" y="3752088"/>
                  </a:moveTo>
                  <a:lnTo>
                    <a:pt x="3227831" y="3782568"/>
                  </a:lnTo>
                </a:path>
                <a:path w="5358765" h="3782695">
                  <a:moveTo>
                    <a:pt x="3761231" y="3752088"/>
                  </a:moveTo>
                  <a:lnTo>
                    <a:pt x="3761231" y="3782568"/>
                  </a:lnTo>
                </a:path>
                <a:path w="5358765" h="3782695">
                  <a:moveTo>
                    <a:pt x="4294632" y="3752088"/>
                  </a:moveTo>
                  <a:lnTo>
                    <a:pt x="4294632" y="3782568"/>
                  </a:lnTo>
                </a:path>
                <a:path w="5358765" h="3782695">
                  <a:moveTo>
                    <a:pt x="4824983" y="3752088"/>
                  </a:moveTo>
                  <a:lnTo>
                    <a:pt x="4824983" y="3782568"/>
                  </a:lnTo>
                </a:path>
                <a:path w="5358765" h="3782695">
                  <a:moveTo>
                    <a:pt x="5358384" y="3752088"/>
                  </a:moveTo>
                  <a:lnTo>
                    <a:pt x="5358384" y="3782568"/>
                  </a:lnTo>
                </a:path>
                <a:path w="5358765" h="3782695">
                  <a:moveTo>
                    <a:pt x="33528" y="3752088"/>
                  </a:moveTo>
                  <a:lnTo>
                    <a:pt x="33528" y="0"/>
                  </a:lnTo>
                </a:path>
                <a:path w="5358765" h="3782695">
                  <a:moveTo>
                    <a:pt x="0" y="3752088"/>
                  </a:moveTo>
                  <a:lnTo>
                    <a:pt x="33528" y="3752088"/>
                  </a:lnTo>
                </a:path>
                <a:path w="5358765" h="3782695">
                  <a:moveTo>
                    <a:pt x="0" y="3282696"/>
                  </a:moveTo>
                  <a:lnTo>
                    <a:pt x="33528" y="3282696"/>
                  </a:lnTo>
                </a:path>
                <a:path w="5358765" h="3782695">
                  <a:moveTo>
                    <a:pt x="0" y="2813304"/>
                  </a:moveTo>
                  <a:lnTo>
                    <a:pt x="33528" y="2813304"/>
                  </a:lnTo>
                </a:path>
                <a:path w="5358765" h="3782695">
                  <a:moveTo>
                    <a:pt x="0" y="2343912"/>
                  </a:moveTo>
                  <a:lnTo>
                    <a:pt x="33528" y="2343912"/>
                  </a:lnTo>
                </a:path>
                <a:path w="5358765" h="3782695">
                  <a:moveTo>
                    <a:pt x="0" y="1874520"/>
                  </a:moveTo>
                  <a:lnTo>
                    <a:pt x="33528" y="1874520"/>
                  </a:lnTo>
                </a:path>
                <a:path w="5358765" h="3782695">
                  <a:moveTo>
                    <a:pt x="0" y="1405127"/>
                  </a:moveTo>
                  <a:lnTo>
                    <a:pt x="33528" y="1405127"/>
                  </a:lnTo>
                </a:path>
                <a:path w="5358765" h="3782695">
                  <a:moveTo>
                    <a:pt x="0" y="938784"/>
                  </a:moveTo>
                  <a:lnTo>
                    <a:pt x="33528" y="938784"/>
                  </a:lnTo>
                </a:path>
                <a:path w="5358765" h="3782695">
                  <a:moveTo>
                    <a:pt x="0" y="469391"/>
                  </a:moveTo>
                  <a:lnTo>
                    <a:pt x="33528" y="469391"/>
                  </a:lnTo>
                </a:path>
                <a:path w="5358765" h="3782695">
                  <a:moveTo>
                    <a:pt x="0" y="0"/>
                  </a:moveTo>
                  <a:lnTo>
                    <a:pt x="33528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430782" y="5495340"/>
            <a:ext cx="7683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50">
                <a:solidFill>
                  <a:srgbClr val="AEBDD2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0295" y="5495340"/>
            <a:ext cx="28448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20000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2807" y="5495340"/>
            <a:ext cx="28448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40000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25317" y="5495340"/>
            <a:ext cx="28448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60000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57702" y="5495340"/>
            <a:ext cx="28448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80000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64685" y="5495340"/>
            <a:ext cx="33210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100000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97070" y="5495340"/>
            <a:ext cx="33210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120000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29580" y="5495340"/>
            <a:ext cx="33210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140000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61838" y="5495340"/>
            <a:ext cx="33401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160000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4221" y="5495340"/>
            <a:ext cx="33210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180000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26732" y="5495340"/>
            <a:ext cx="33210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200000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3755" y="5117084"/>
            <a:ext cx="64389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AEBDD2"/>
                </a:solidFill>
                <a:latin typeface="Calibri"/>
                <a:cs typeface="Calibri"/>
              </a:rPr>
              <a:t>ChatGPT</a:t>
            </a:r>
            <a:r>
              <a:rPr dirty="0" sz="900" spc="-1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AEBDD2"/>
                </a:solidFill>
                <a:latin typeface="Calibri"/>
                <a:cs typeface="Calibri"/>
              </a:rPr>
              <a:t>Plus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0259" y="4647946"/>
            <a:ext cx="56578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AEBDD2"/>
                </a:solidFill>
                <a:latin typeface="Calibri"/>
                <a:cs typeface="Calibri"/>
              </a:rPr>
              <a:t>Midjourney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840" y="4178934"/>
            <a:ext cx="64452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AEBDD2"/>
                </a:solidFill>
                <a:latin typeface="Calibri"/>
                <a:cs typeface="Calibri"/>
              </a:rPr>
              <a:t>Adobe</a:t>
            </a:r>
            <a:r>
              <a:rPr dirty="0" sz="900" spc="-5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AEBDD2"/>
                </a:solidFill>
                <a:latin typeface="Calibri"/>
                <a:cs typeface="Calibri"/>
              </a:rPr>
              <a:t>Firefly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83411" y="3709796"/>
            <a:ext cx="49530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AEBDD2"/>
                </a:solidFill>
                <a:latin typeface="Calibri"/>
                <a:cs typeface="Calibri"/>
              </a:rPr>
              <a:t>Canva</a:t>
            </a:r>
            <a:r>
              <a:rPr dirty="0" sz="900" spc="-1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AEBDD2"/>
                </a:solidFill>
                <a:latin typeface="Calibri"/>
                <a:cs typeface="Calibri"/>
              </a:rPr>
              <a:t>Pro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260" y="3240785"/>
            <a:ext cx="71374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AEBDD2"/>
                </a:solidFill>
                <a:latin typeface="Calibri"/>
                <a:cs typeface="Calibri"/>
              </a:rPr>
              <a:t>GitHub</a:t>
            </a:r>
            <a:r>
              <a:rPr dirty="0" sz="900" spc="-3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AEBDD2"/>
                </a:solidFill>
                <a:latin typeface="Calibri"/>
                <a:cs typeface="Calibri"/>
              </a:rPr>
              <a:t>Copilot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5357" y="2771647"/>
            <a:ext cx="47117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AEBDD2"/>
                </a:solidFill>
                <a:latin typeface="Calibri"/>
                <a:cs typeface="Calibri"/>
              </a:rPr>
              <a:t>Synthesia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7757" y="2302510"/>
            <a:ext cx="31877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AEBDD2"/>
                </a:solidFill>
                <a:latin typeface="Calibri"/>
                <a:cs typeface="Calibri"/>
              </a:rPr>
              <a:t>Jasper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0844" y="1833498"/>
            <a:ext cx="46609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AEBDD2"/>
                </a:solidFill>
                <a:latin typeface="Calibri"/>
                <a:cs typeface="Calibri"/>
              </a:rPr>
              <a:t>Notion</a:t>
            </a:r>
            <a:r>
              <a:rPr dirty="0" sz="900" spc="-3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AEBDD2"/>
                </a:solidFill>
                <a:latin typeface="Calibri"/>
                <a:cs typeface="Calibri"/>
              </a:rPr>
              <a:t>AI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23641" y="1308607"/>
            <a:ext cx="123698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00C7FF"/>
                </a:solidFill>
                <a:latin typeface="Microsoft Sans Serif"/>
                <a:cs typeface="Microsoft Sans Serif"/>
              </a:rPr>
              <a:t>ROI</a:t>
            </a:r>
            <a:r>
              <a:rPr dirty="0" sz="1400" spc="-5">
                <a:solidFill>
                  <a:srgbClr val="00C7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00C7FF"/>
                </a:solidFill>
                <a:latin typeface="Microsoft Sans Serif"/>
                <a:cs typeface="Microsoft Sans Serif"/>
              </a:rPr>
              <a:t>by</a:t>
            </a:r>
            <a:r>
              <a:rPr dirty="0" sz="1400" spc="5">
                <a:solidFill>
                  <a:srgbClr val="00C7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00C7FF"/>
                </a:solidFill>
                <a:latin typeface="Microsoft Sans Serif"/>
                <a:cs typeface="Microsoft Sans Serif"/>
              </a:rPr>
              <a:t>Tool</a:t>
            </a:r>
            <a:r>
              <a:rPr dirty="0" sz="1400" spc="-20">
                <a:solidFill>
                  <a:srgbClr val="00C7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00C7FF"/>
                </a:solidFill>
                <a:latin typeface="Microsoft Sans Serif"/>
                <a:cs typeface="Microsoft Sans Serif"/>
              </a:rPr>
              <a:t>($)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767828" y="1688592"/>
            <a:ext cx="3665220" cy="3787140"/>
            <a:chOff x="7767828" y="1688592"/>
            <a:chExt cx="3665220" cy="3787140"/>
          </a:xfrm>
        </p:grpSpPr>
        <p:sp>
          <p:nvSpPr>
            <p:cNvPr id="28" name="object 28"/>
            <p:cNvSpPr/>
            <p:nvPr/>
          </p:nvSpPr>
          <p:spPr>
            <a:xfrm>
              <a:off x="8019288" y="2398775"/>
              <a:ext cx="3191510" cy="3045460"/>
            </a:xfrm>
            <a:custGeom>
              <a:avLst/>
              <a:gdLst/>
              <a:ahLst/>
              <a:cxnLst/>
              <a:rect l="l" t="t" r="r" b="b"/>
              <a:pathLst>
                <a:path w="3191509" h="3045460">
                  <a:moveTo>
                    <a:pt x="289560" y="0"/>
                  </a:moveTo>
                  <a:lnTo>
                    <a:pt x="0" y="0"/>
                  </a:lnTo>
                  <a:lnTo>
                    <a:pt x="0" y="3044952"/>
                  </a:lnTo>
                  <a:lnTo>
                    <a:pt x="289560" y="3044952"/>
                  </a:lnTo>
                  <a:lnTo>
                    <a:pt x="289560" y="0"/>
                  </a:lnTo>
                  <a:close/>
                </a:path>
                <a:path w="3191509" h="3045460">
                  <a:moveTo>
                    <a:pt x="1014971" y="701040"/>
                  </a:moveTo>
                  <a:lnTo>
                    <a:pt x="725424" y="701040"/>
                  </a:lnTo>
                  <a:lnTo>
                    <a:pt x="725424" y="3044952"/>
                  </a:lnTo>
                  <a:lnTo>
                    <a:pt x="1014971" y="3044952"/>
                  </a:lnTo>
                  <a:lnTo>
                    <a:pt x="1014971" y="701040"/>
                  </a:lnTo>
                  <a:close/>
                </a:path>
                <a:path w="3191509" h="3045460">
                  <a:moveTo>
                    <a:pt x="1740395" y="1444752"/>
                  </a:moveTo>
                  <a:lnTo>
                    <a:pt x="1450848" y="1444752"/>
                  </a:lnTo>
                  <a:lnTo>
                    <a:pt x="1450848" y="3044952"/>
                  </a:lnTo>
                  <a:lnTo>
                    <a:pt x="1740395" y="3044952"/>
                  </a:lnTo>
                  <a:lnTo>
                    <a:pt x="1740395" y="1444752"/>
                  </a:lnTo>
                  <a:close/>
                </a:path>
                <a:path w="3191509" h="3045460">
                  <a:moveTo>
                    <a:pt x="2465819" y="1679448"/>
                  </a:moveTo>
                  <a:lnTo>
                    <a:pt x="2176272" y="1679448"/>
                  </a:lnTo>
                  <a:lnTo>
                    <a:pt x="2176272" y="3044952"/>
                  </a:lnTo>
                  <a:lnTo>
                    <a:pt x="2465819" y="3044952"/>
                  </a:lnTo>
                  <a:lnTo>
                    <a:pt x="2465819" y="1679448"/>
                  </a:lnTo>
                  <a:close/>
                </a:path>
                <a:path w="3191509" h="3045460">
                  <a:moveTo>
                    <a:pt x="3191243" y="1825752"/>
                  </a:moveTo>
                  <a:lnTo>
                    <a:pt x="2901696" y="1825752"/>
                  </a:lnTo>
                  <a:lnTo>
                    <a:pt x="2901696" y="3044952"/>
                  </a:lnTo>
                  <a:lnTo>
                    <a:pt x="3191243" y="3044952"/>
                  </a:lnTo>
                  <a:lnTo>
                    <a:pt x="3191243" y="1825752"/>
                  </a:lnTo>
                  <a:close/>
                </a:path>
              </a:pathLst>
            </a:custGeom>
            <a:solidFill>
              <a:srgbClr val="00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767828" y="1693164"/>
              <a:ext cx="3660775" cy="3782695"/>
            </a:xfrm>
            <a:custGeom>
              <a:avLst/>
              <a:gdLst/>
              <a:ahLst/>
              <a:cxnLst/>
              <a:rect l="l" t="t" r="r" b="b"/>
              <a:pathLst>
                <a:path w="3660775" h="3782695">
                  <a:moveTo>
                    <a:pt x="33527" y="3752088"/>
                  </a:moveTo>
                  <a:lnTo>
                    <a:pt x="33527" y="0"/>
                  </a:lnTo>
                </a:path>
                <a:path w="3660775" h="3782695">
                  <a:moveTo>
                    <a:pt x="0" y="3752088"/>
                  </a:moveTo>
                  <a:lnTo>
                    <a:pt x="33527" y="3752088"/>
                  </a:lnTo>
                </a:path>
                <a:path w="3660775" h="3782695">
                  <a:moveTo>
                    <a:pt x="0" y="3124200"/>
                  </a:moveTo>
                  <a:lnTo>
                    <a:pt x="33527" y="3124200"/>
                  </a:lnTo>
                </a:path>
                <a:path w="3660775" h="3782695">
                  <a:moveTo>
                    <a:pt x="0" y="2499360"/>
                  </a:moveTo>
                  <a:lnTo>
                    <a:pt x="33527" y="2499360"/>
                  </a:lnTo>
                </a:path>
                <a:path w="3660775" h="3782695">
                  <a:moveTo>
                    <a:pt x="0" y="1874520"/>
                  </a:moveTo>
                  <a:lnTo>
                    <a:pt x="33527" y="1874520"/>
                  </a:lnTo>
                </a:path>
                <a:path w="3660775" h="3782695">
                  <a:moveTo>
                    <a:pt x="0" y="1249680"/>
                  </a:moveTo>
                  <a:lnTo>
                    <a:pt x="33527" y="1249680"/>
                  </a:lnTo>
                </a:path>
                <a:path w="3660775" h="3782695">
                  <a:moveTo>
                    <a:pt x="0" y="624839"/>
                  </a:moveTo>
                  <a:lnTo>
                    <a:pt x="33527" y="624839"/>
                  </a:lnTo>
                </a:path>
                <a:path w="3660775" h="3782695">
                  <a:moveTo>
                    <a:pt x="0" y="0"/>
                  </a:moveTo>
                  <a:lnTo>
                    <a:pt x="33527" y="0"/>
                  </a:lnTo>
                </a:path>
                <a:path w="3660775" h="3782695">
                  <a:moveTo>
                    <a:pt x="33527" y="3752088"/>
                  </a:moveTo>
                  <a:lnTo>
                    <a:pt x="3660648" y="3752088"/>
                  </a:lnTo>
                </a:path>
                <a:path w="3660775" h="3782695">
                  <a:moveTo>
                    <a:pt x="33527" y="3752088"/>
                  </a:moveTo>
                  <a:lnTo>
                    <a:pt x="33527" y="3782568"/>
                  </a:lnTo>
                </a:path>
                <a:path w="3660775" h="3782695">
                  <a:moveTo>
                    <a:pt x="758951" y="3752088"/>
                  </a:moveTo>
                  <a:lnTo>
                    <a:pt x="758951" y="3782568"/>
                  </a:lnTo>
                </a:path>
                <a:path w="3660775" h="3782695">
                  <a:moveTo>
                    <a:pt x="1484376" y="3752088"/>
                  </a:moveTo>
                  <a:lnTo>
                    <a:pt x="1484376" y="3782568"/>
                  </a:lnTo>
                </a:path>
                <a:path w="3660775" h="3782695">
                  <a:moveTo>
                    <a:pt x="2209800" y="3752088"/>
                  </a:moveTo>
                  <a:lnTo>
                    <a:pt x="2209800" y="3782568"/>
                  </a:lnTo>
                </a:path>
                <a:path w="3660775" h="3782695">
                  <a:moveTo>
                    <a:pt x="2935224" y="3752088"/>
                  </a:moveTo>
                  <a:lnTo>
                    <a:pt x="2935224" y="3782568"/>
                  </a:lnTo>
                </a:path>
                <a:path w="3660775" h="3782695">
                  <a:moveTo>
                    <a:pt x="3660648" y="3752088"/>
                  </a:moveTo>
                  <a:lnTo>
                    <a:pt x="3660648" y="378256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7644510" y="5363083"/>
            <a:ext cx="7683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50">
                <a:solidFill>
                  <a:srgbClr val="AEBDD2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142726" y="6514895"/>
            <a:ext cx="440055" cy="1549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08</a:t>
            </a:r>
            <a:r>
              <a:rPr dirty="0" sz="900" spc="24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/</a:t>
            </a:r>
            <a:r>
              <a:rPr dirty="0" sz="900" spc="24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AEBDD2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38390" y="4737608"/>
            <a:ext cx="28448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20000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38390" y="4112133"/>
            <a:ext cx="28448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40000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38390" y="3486657"/>
            <a:ext cx="28448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60000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38390" y="2861310"/>
            <a:ext cx="28448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80000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86955" y="2235835"/>
            <a:ext cx="33210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100000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86955" y="1610360"/>
            <a:ext cx="33210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120000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86521" y="5495340"/>
            <a:ext cx="35750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Content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39631" y="5495340"/>
            <a:ext cx="30099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Design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390633" y="5495340"/>
            <a:ext cx="45085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AEBDD2"/>
                </a:solidFill>
                <a:latin typeface="Calibri"/>
                <a:cs typeface="Calibri"/>
              </a:rPr>
              <a:t>Marketing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249916" y="5495340"/>
            <a:ext cx="18351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25">
                <a:solidFill>
                  <a:srgbClr val="AEBDD2"/>
                </a:solidFill>
                <a:latin typeface="Calibri"/>
                <a:cs typeface="Calibri"/>
              </a:rPr>
              <a:t>Dev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995406" y="5495340"/>
            <a:ext cx="14605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25">
                <a:solidFill>
                  <a:srgbClr val="AEBDD2"/>
                </a:solidFill>
                <a:latin typeface="Calibri"/>
                <a:cs typeface="Calibri"/>
              </a:rPr>
              <a:t>HR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08618" y="1308607"/>
            <a:ext cx="18707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00C7FF"/>
                </a:solidFill>
                <a:latin typeface="Microsoft Sans Serif"/>
                <a:cs typeface="Microsoft Sans Serif"/>
              </a:rPr>
              <a:t>Cost</a:t>
            </a:r>
            <a:r>
              <a:rPr dirty="0" sz="1400" spc="-30">
                <a:solidFill>
                  <a:srgbClr val="00C7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00C7FF"/>
                </a:solidFill>
                <a:latin typeface="Microsoft Sans Serif"/>
                <a:cs typeface="Microsoft Sans Serif"/>
              </a:rPr>
              <a:t>by</a:t>
            </a:r>
            <a:r>
              <a:rPr dirty="0" sz="1400" spc="-25">
                <a:solidFill>
                  <a:srgbClr val="00C7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00C7FF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1400" spc="15">
                <a:solidFill>
                  <a:srgbClr val="00C7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00C7FF"/>
                </a:solidFill>
                <a:latin typeface="Microsoft Sans Serif"/>
                <a:cs typeface="Microsoft Sans Serif"/>
              </a:rPr>
              <a:t>($)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56284" y="5866587"/>
            <a:ext cx="20878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41DC95"/>
                </a:solidFill>
                <a:latin typeface="Arial"/>
                <a:cs typeface="Arial"/>
              </a:rPr>
              <a:t>Top</a:t>
            </a:r>
            <a:r>
              <a:rPr dirty="0" sz="1100" spc="-55" b="1">
                <a:solidFill>
                  <a:srgbClr val="41DC9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41DC95"/>
                </a:solidFill>
                <a:latin typeface="Arial"/>
                <a:cs typeface="Arial"/>
              </a:rPr>
              <a:t>ROI:</a:t>
            </a:r>
            <a:r>
              <a:rPr dirty="0" sz="1100" spc="-35" b="1">
                <a:solidFill>
                  <a:srgbClr val="41DC9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41DC95"/>
                </a:solidFill>
                <a:latin typeface="Arial"/>
                <a:cs typeface="Arial"/>
              </a:rPr>
              <a:t>Adobe Firefly</a:t>
            </a:r>
            <a:r>
              <a:rPr dirty="0" sz="1100" spc="-20" b="1">
                <a:solidFill>
                  <a:srgbClr val="41DC9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41DC95"/>
                </a:solidFill>
                <a:latin typeface="Arial"/>
                <a:cs typeface="Arial"/>
              </a:rPr>
              <a:t>•</a:t>
            </a:r>
            <a:r>
              <a:rPr dirty="0" sz="1100" spc="-35" b="1">
                <a:solidFill>
                  <a:srgbClr val="41DC95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41DC95"/>
                </a:solidFill>
                <a:latin typeface="Arial"/>
                <a:cs typeface="Arial"/>
              </a:rPr>
              <a:t>$186K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349997" y="5866587"/>
            <a:ext cx="233426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41DC95"/>
                </a:solidFill>
                <a:latin typeface="Arial"/>
                <a:cs typeface="Arial"/>
              </a:rPr>
              <a:t>Best</a:t>
            </a:r>
            <a:r>
              <a:rPr dirty="0" sz="1100" spc="-45" b="1">
                <a:solidFill>
                  <a:srgbClr val="41DC9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41DC95"/>
                </a:solidFill>
                <a:latin typeface="Arial"/>
                <a:cs typeface="Arial"/>
              </a:rPr>
              <a:t>ROI%:</a:t>
            </a:r>
            <a:r>
              <a:rPr dirty="0" sz="1100" spc="-75" b="1">
                <a:solidFill>
                  <a:srgbClr val="41DC9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41DC95"/>
                </a:solidFill>
                <a:latin typeface="Arial"/>
                <a:cs typeface="Arial"/>
              </a:rPr>
              <a:t>GitHub</a:t>
            </a:r>
            <a:r>
              <a:rPr dirty="0" sz="1100" spc="10" b="1">
                <a:solidFill>
                  <a:srgbClr val="41DC9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41DC95"/>
                </a:solidFill>
                <a:latin typeface="Arial"/>
                <a:cs typeface="Arial"/>
              </a:rPr>
              <a:t>Copilot</a:t>
            </a:r>
            <a:r>
              <a:rPr dirty="0" sz="1100" spc="-15" b="1">
                <a:solidFill>
                  <a:srgbClr val="41DC9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41DC95"/>
                </a:solidFill>
                <a:latin typeface="Arial"/>
                <a:cs typeface="Arial"/>
              </a:rPr>
              <a:t>•</a:t>
            </a:r>
            <a:r>
              <a:rPr dirty="0" sz="1100" spc="-35" b="1">
                <a:solidFill>
                  <a:srgbClr val="41DC95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41DC95"/>
                </a:solidFill>
                <a:latin typeface="Arial"/>
                <a:cs typeface="Arial"/>
              </a:rPr>
              <a:t>33.6%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dirty="0" spc="-65"/>
              <a:t> </a:t>
            </a:r>
            <a:r>
              <a:rPr dirty="0"/>
              <a:t>Insights</a:t>
            </a:r>
            <a:r>
              <a:rPr dirty="0" spc="-70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 spc="-20"/>
              <a:t>Tech</a:t>
            </a:r>
            <a:r>
              <a:rPr dirty="0" spc="-65"/>
              <a:t> </a:t>
            </a:r>
            <a:r>
              <a:rPr dirty="0" spc="-1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836" y="865758"/>
            <a:ext cx="292862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20" b="1">
                <a:solidFill>
                  <a:srgbClr val="AEBDD2"/>
                </a:solidFill>
                <a:latin typeface="Calibri"/>
                <a:cs typeface="Calibri"/>
              </a:rPr>
              <a:t>Turning</a:t>
            </a:r>
            <a:r>
              <a:rPr dirty="0" sz="1400" spc="-60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AEBDD2"/>
                </a:solidFill>
                <a:latin typeface="Calibri"/>
                <a:cs typeface="Calibri"/>
              </a:rPr>
              <a:t>dashboard</a:t>
            </a:r>
            <a:r>
              <a:rPr dirty="0" sz="1400" spc="-5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AEBDD2"/>
                </a:solidFill>
                <a:latin typeface="Calibri"/>
                <a:cs typeface="Calibri"/>
              </a:rPr>
              <a:t>evidence</a:t>
            </a:r>
            <a:r>
              <a:rPr dirty="0" sz="1400" spc="-4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AEBDD2"/>
                </a:solidFill>
                <a:latin typeface="Calibri"/>
                <a:cs typeface="Calibri"/>
              </a:rPr>
              <a:t>into</a:t>
            </a:r>
            <a:r>
              <a:rPr dirty="0" sz="1400" spc="-45" b="1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AEBDD2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1312" y="1210055"/>
            <a:ext cx="5307965" cy="1330325"/>
            <a:chOff x="591312" y="1210055"/>
            <a:chExt cx="5307965" cy="13303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312" y="1210055"/>
              <a:ext cx="5307965" cy="13301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1604" y="1235963"/>
              <a:ext cx="5212080" cy="1234440"/>
            </a:xfrm>
            <a:custGeom>
              <a:avLst/>
              <a:gdLst/>
              <a:ahLst/>
              <a:cxnLst/>
              <a:rect l="l" t="t" r="r" b="b"/>
              <a:pathLst>
                <a:path w="5212080" h="1234439">
                  <a:moveTo>
                    <a:pt x="5006340" y="0"/>
                  </a:moveTo>
                  <a:lnTo>
                    <a:pt x="205739" y="0"/>
                  </a:lnTo>
                  <a:lnTo>
                    <a:pt x="158565" y="5431"/>
                  </a:lnTo>
                  <a:lnTo>
                    <a:pt x="115260" y="20905"/>
                  </a:lnTo>
                  <a:lnTo>
                    <a:pt x="77060" y="45186"/>
                  </a:lnTo>
                  <a:lnTo>
                    <a:pt x="45198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39"/>
                  </a:lnTo>
                  <a:lnTo>
                    <a:pt x="0" y="1028700"/>
                  </a:lnTo>
                  <a:lnTo>
                    <a:pt x="5433" y="1075886"/>
                  </a:lnTo>
                  <a:lnTo>
                    <a:pt x="20911" y="1119195"/>
                  </a:lnTo>
                  <a:lnTo>
                    <a:pt x="45198" y="1157395"/>
                  </a:lnTo>
                  <a:lnTo>
                    <a:pt x="77060" y="1189253"/>
                  </a:lnTo>
                  <a:lnTo>
                    <a:pt x="115260" y="1213534"/>
                  </a:lnTo>
                  <a:lnTo>
                    <a:pt x="158565" y="1229008"/>
                  </a:lnTo>
                  <a:lnTo>
                    <a:pt x="205739" y="1234439"/>
                  </a:lnTo>
                  <a:lnTo>
                    <a:pt x="5006340" y="1234439"/>
                  </a:lnTo>
                  <a:lnTo>
                    <a:pt x="5053526" y="1229008"/>
                  </a:lnTo>
                  <a:lnTo>
                    <a:pt x="5096835" y="1213534"/>
                  </a:lnTo>
                  <a:lnTo>
                    <a:pt x="5135035" y="1189253"/>
                  </a:lnTo>
                  <a:lnTo>
                    <a:pt x="5166893" y="1157395"/>
                  </a:lnTo>
                  <a:lnTo>
                    <a:pt x="5191174" y="1119195"/>
                  </a:lnTo>
                  <a:lnTo>
                    <a:pt x="5206648" y="1075886"/>
                  </a:lnTo>
                  <a:lnTo>
                    <a:pt x="5212080" y="1028700"/>
                  </a:lnTo>
                  <a:lnTo>
                    <a:pt x="5212080" y="205739"/>
                  </a:lnTo>
                  <a:lnTo>
                    <a:pt x="5206648" y="158553"/>
                  </a:lnTo>
                  <a:lnTo>
                    <a:pt x="5191174" y="115244"/>
                  </a:lnTo>
                  <a:lnTo>
                    <a:pt x="5166893" y="77044"/>
                  </a:lnTo>
                  <a:lnTo>
                    <a:pt x="5135035" y="45186"/>
                  </a:lnTo>
                  <a:lnTo>
                    <a:pt x="5096835" y="20905"/>
                  </a:lnTo>
                  <a:lnTo>
                    <a:pt x="5053526" y="5431"/>
                  </a:lnTo>
                  <a:lnTo>
                    <a:pt x="500634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41604" y="1235963"/>
              <a:ext cx="5212080" cy="1234440"/>
            </a:xfrm>
            <a:custGeom>
              <a:avLst/>
              <a:gdLst/>
              <a:ahLst/>
              <a:cxnLst/>
              <a:rect l="l" t="t" r="r" b="b"/>
              <a:pathLst>
                <a:path w="5212080" h="1234439">
                  <a:moveTo>
                    <a:pt x="0" y="205739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8" y="77044"/>
                  </a:lnTo>
                  <a:lnTo>
                    <a:pt x="77060" y="45186"/>
                  </a:lnTo>
                  <a:lnTo>
                    <a:pt x="115260" y="20905"/>
                  </a:lnTo>
                  <a:lnTo>
                    <a:pt x="158565" y="5431"/>
                  </a:lnTo>
                  <a:lnTo>
                    <a:pt x="205739" y="0"/>
                  </a:lnTo>
                  <a:lnTo>
                    <a:pt x="5006340" y="0"/>
                  </a:lnTo>
                  <a:lnTo>
                    <a:pt x="5053526" y="5431"/>
                  </a:lnTo>
                  <a:lnTo>
                    <a:pt x="5096835" y="20905"/>
                  </a:lnTo>
                  <a:lnTo>
                    <a:pt x="5135035" y="45186"/>
                  </a:lnTo>
                  <a:lnTo>
                    <a:pt x="5166893" y="77044"/>
                  </a:lnTo>
                  <a:lnTo>
                    <a:pt x="5191174" y="115244"/>
                  </a:lnTo>
                  <a:lnTo>
                    <a:pt x="5206648" y="158553"/>
                  </a:lnTo>
                  <a:lnTo>
                    <a:pt x="5212080" y="205739"/>
                  </a:lnTo>
                  <a:lnTo>
                    <a:pt x="5212080" y="1028700"/>
                  </a:lnTo>
                  <a:lnTo>
                    <a:pt x="5206648" y="1075886"/>
                  </a:lnTo>
                  <a:lnTo>
                    <a:pt x="5191174" y="1119195"/>
                  </a:lnTo>
                  <a:lnTo>
                    <a:pt x="5166893" y="1157395"/>
                  </a:lnTo>
                  <a:lnTo>
                    <a:pt x="5135035" y="1189253"/>
                  </a:lnTo>
                  <a:lnTo>
                    <a:pt x="5096835" y="1213534"/>
                  </a:lnTo>
                  <a:lnTo>
                    <a:pt x="5053526" y="1229008"/>
                  </a:lnTo>
                  <a:lnTo>
                    <a:pt x="5006340" y="1234439"/>
                  </a:lnTo>
                  <a:lnTo>
                    <a:pt x="205739" y="1234439"/>
                  </a:lnTo>
                  <a:lnTo>
                    <a:pt x="158565" y="1229008"/>
                  </a:lnTo>
                  <a:lnTo>
                    <a:pt x="115260" y="1213534"/>
                  </a:lnTo>
                  <a:lnTo>
                    <a:pt x="77060" y="1189253"/>
                  </a:lnTo>
                  <a:lnTo>
                    <a:pt x="45198" y="1157395"/>
                  </a:lnTo>
                  <a:lnTo>
                    <a:pt x="20911" y="1119195"/>
                  </a:lnTo>
                  <a:lnTo>
                    <a:pt x="5433" y="1075886"/>
                  </a:lnTo>
                  <a:lnTo>
                    <a:pt x="0" y="1028700"/>
                  </a:lnTo>
                  <a:lnTo>
                    <a:pt x="0" y="205739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02004" y="1465910"/>
            <a:ext cx="1962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01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6313" y="1426844"/>
            <a:ext cx="3768725" cy="7245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 b="1">
                <a:solidFill>
                  <a:srgbClr val="F5F8FB"/>
                </a:solidFill>
                <a:latin typeface="Arial"/>
                <a:cs typeface="Arial"/>
              </a:rPr>
              <a:t>Value</a:t>
            </a:r>
            <a:r>
              <a:rPr dirty="0" sz="1600" spc="-4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5F8FB"/>
                </a:solidFill>
                <a:latin typeface="Arial"/>
                <a:cs typeface="Arial"/>
              </a:rPr>
              <a:t>is</a:t>
            </a:r>
            <a:r>
              <a:rPr dirty="0" sz="1600" spc="-4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5F8FB"/>
                </a:solidFill>
                <a:latin typeface="Arial"/>
                <a:cs typeface="Arial"/>
              </a:rPr>
              <a:t>measurable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35"/>
              </a:spcBef>
            </a:pP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AI</a:t>
            </a:r>
            <a:r>
              <a:rPr dirty="0" sz="1100" spc="-1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tools </a:t>
            </a:r>
            <a:r>
              <a:rPr dirty="0" sz="1100" spc="-10">
                <a:solidFill>
                  <a:srgbClr val="AEBDD2"/>
                </a:solidFill>
                <a:latin typeface="Calibri"/>
                <a:cs typeface="Calibri"/>
              </a:rPr>
              <a:t>collectively</a:t>
            </a:r>
            <a:r>
              <a:rPr dirty="0" sz="1100" spc="-5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generate</a:t>
            </a:r>
            <a:r>
              <a:rPr dirty="0" sz="1100" spc="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substantial</a:t>
            </a:r>
            <a:r>
              <a:rPr dirty="0" sz="1100" spc="-4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financial</a:t>
            </a:r>
            <a:r>
              <a:rPr dirty="0" sz="1100" spc="-1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and</a:t>
            </a:r>
            <a:r>
              <a:rPr dirty="0" sz="1100" spc="-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AEBDD2"/>
                </a:solidFill>
                <a:latin typeface="Calibri"/>
                <a:cs typeface="Calibri"/>
              </a:rPr>
              <a:t>productivity value.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14871" y="1210055"/>
            <a:ext cx="5307965" cy="1330325"/>
            <a:chOff x="6214871" y="1210055"/>
            <a:chExt cx="5307965" cy="13303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4871" y="1210055"/>
              <a:ext cx="5307964" cy="133019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265163" y="1235963"/>
              <a:ext cx="5212080" cy="1234440"/>
            </a:xfrm>
            <a:custGeom>
              <a:avLst/>
              <a:gdLst/>
              <a:ahLst/>
              <a:cxnLst/>
              <a:rect l="l" t="t" r="r" b="b"/>
              <a:pathLst>
                <a:path w="5212080" h="1234439">
                  <a:moveTo>
                    <a:pt x="5006340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39"/>
                  </a:lnTo>
                  <a:lnTo>
                    <a:pt x="5006340" y="1234439"/>
                  </a:lnTo>
                  <a:lnTo>
                    <a:pt x="5053526" y="1229008"/>
                  </a:lnTo>
                  <a:lnTo>
                    <a:pt x="5096835" y="1213534"/>
                  </a:lnTo>
                  <a:lnTo>
                    <a:pt x="5135035" y="1189253"/>
                  </a:lnTo>
                  <a:lnTo>
                    <a:pt x="5166893" y="1157395"/>
                  </a:lnTo>
                  <a:lnTo>
                    <a:pt x="5191174" y="1119195"/>
                  </a:lnTo>
                  <a:lnTo>
                    <a:pt x="5206648" y="1075886"/>
                  </a:lnTo>
                  <a:lnTo>
                    <a:pt x="5212080" y="1028700"/>
                  </a:lnTo>
                  <a:lnTo>
                    <a:pt x="5212080" y="205739"/>
                  </a:lnTo>
                  <a:lnTo>
                    <a:pt x="5206648" y="158553"/>
                  </a:lnTo>
                  <a:lnTo>
                    <a:pt x="5191174" y="115244"/>
                  </a:lnTo>
                  <a:lnTo>
                    <a:pt x="5166893" y="77044"/>
                  </a:lnTo>
                  <a:lnTo>
                    <a:pt x="5135035" y="45186"/>
                  </a:lnTo>
                  <a:lnTo>
                    <a:pt x="5096835" y="20905"/>
                  </a:lnTo>
                  <a:lnTo>
                    <a:pt x="5053526" y="5431"/>
                  </a:lnTo>
                  <a:lnTo>
                    <a:pt x="500634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65163" y="1235963"/>
              <a:ext cx="5212080" cy="1234440"/>
            </a:xfrm>
            <a:custGeom>
              <a:avLst/>
              <a:gdLst/>
              <a:ahLst/>
              <a:cxnLst/>
              <a:rect l="l" t="t" r="r" b="b"/>
              <a:pathLst>
                <a:path w="5212080" h="1234439">
                  <a:moveTo>
                    <a:pt x="0" y="205739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5006340" y="0"/>
                  </a:lnTo>
                  <a:lnTo>
                    <a:pt x="5053526" y="5431"/>
                  </a:lnTo>
                  <a:lnTo>
                    <a:pt x="5096835" y="20905"/>
                  </a:lnTo>
                  <a:lnTo>
                    <a:pt x="5135035" y="45186"/>
                  </a:lnTo>
                  <a:lnTo>
                    <a:pt x="5166893" y="77044"/>
                  </a:lnTo>
                  <a:lnTo>
                    <a:pt x="5191174" y="115244"/>
                  </a:lnTo>
                  <a:lnTo>
                    <a:pt x="5206648" y="158553"/>
                  </a:lnTo>
                  <a:lnTo>
                    <a:pt x="5212080" y="205739"/>
                  </a:lnTo>
                  <a:lnTo>
                    <a:pt x="5212080" y="1028700"/>
                  </a:lnTo>
                  <a:lnTo>
                    <a:pt x="5206648" y="1075886"/>
                  </a:lnTo>
                  <a:lnTo>
                    <a:pt x="5191174" y="1119195"/>
                  </a:lnTo>
                  <a:lnTo>
                    <a:pt x="5166893" y="1157395"/>
                  </a:lnTo>
                  <a:lnTo>
                    <a:pt x="5135035" y="1189253"/>
                  </a:lnTo>
                  <a:lnTo>
                    <a:pt x="5096835" y="1213534"/>
                  </a:lnTo>
                  <a:lnTo>
                    <a:pt x="5053526" y="1229008"/>
                  </a:lnTo>
                  <a:lnTo>
                    <a:pt x="5006340" y="1234439"/>
                  </a:lnTo>
                  <a:lnTo>
                    <a:pt x="205739" y="1234439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39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526783" y="1465910"/>
            <a:ext cx="1962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02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21397" y="1417142"/>
            <a:ext cx="2686050" cy="5664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b="1">
                <a:solidFill>
                  <a:srgbClr val="F5F8FB"/>
                </a:solidFill>
                <a:latin typeface="Calibri"/>
                <a:cs typeface="Calibri"/>
              </a:rPr>
              <a:t>Cost</a:t>
            </a:r>
            <a:r>
              <a:rPr dirty="0" sz="1600" spc="-25" b="1">
                <a:solidFill>
                  <a:srgbClr val="F5F8FB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5F8FB"/>
                </a:solidFill>
                <a:latin typeface="Calibri"/>
                <a:cs typeface="Calibri"/>
              </a:rPr>
              <a:t>alone</a:t>
            </a:r>
            <a:r>
              <a:rPr dirty="0" sz="1600" spc="-45" b="1">
                <a:solidFill>
                  <a:srgbClr val="F5F8FB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5F8FB"/>
                </a:solidFill>
                <a:latin typeface="Calibri"/>
                <a:cs typeface="Calibri"/>
              </a:rPr>
              <a:t>is</a:t>
            </a:r>
            <a:r>
              <a:rPr dirty="0" sz="1600" spc="-10" b="1">
                <a:solidFill>
                  <a:srgbClr val="F5F8FB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5F8FB"/>
                </a:solidFill>
                <a:latin typeface="Calibri"/>
                <a:cs typeface="Calibri"/>
              </a:rPr>
              <a:t>not</a:t>
            </a:r>
            <a:r>
              <a:rPr dirty="0" sz="1600" spc="-25" b="1">
                <a:solidFill>
                  <a:srgbClr val="F5F8FB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5F8FB"/>
                </a:solidFill>
                <a:latin typeface="Calibri"/>
                <a:cs typeface="Calibri"/>
              </a:rPr>
              <a:t>enough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Evaluate</a:t>
            </a:r>
            <a:r>
              <a:rPr dirty="0" sz="1100" spc="-3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spend</a:t>
            </a:r>
            <a:r>
              <a:rPr dirty="0" sz="1100" spc="-3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alongside</a:t>
            </a:r>
            <a:r>
              <a:rPr dirty="0" sz="1100" spc="-6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ROI</a:t>
            </a:r>
            <a:r>
              <a:rPr dirty="0" sz="1100" spc="-2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and</a:t>
            </a:r>
            <a:r>
              <a:rPr dirty="0" sz="1100" spc="-3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hours</a:t>
            </a:r>
            <a:r>
              <a:rPr dirty="0" sz="1100" spc="-2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AEBDD2"/>
                </a:solidFill>
                <a:latin typeface="Calibri"/>
                <a:cs typeface="Calibri"/>
              </a:rPr>
              <a:t>saved</a:t>
            </a:r>
            <a:r>
              <a:rPr dirty="0" sz="1000" spc="-10">
                <a:solidFill>
                  <a:srgbClr val="AEBDD2"/>
                </a:solidFill>
                <a:latin typeface="Microsoft Sans Serif"/>
                <a:cs typeface="Microsoft Sans Serif"/>
              </a:rPr>
              <a:t>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1312" y="2764535"/>
            <a:ext cx="5307965" cy="1330325"/>
            <a:chOff x="591312" y="2764535"/>
            <a:chExt cx="5307965" cy="133032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312" y="2764535"/>
              <a:ext cx="5307965" cy="133019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41604" y="2790443"/>
              <a:ext cx="5212080" cy="1234440"/>
            </a:xfrm>
            <a:custGeom>
              <a:avLst/>
              <a:gdLst/>
              <a:ahLst/>
              <a:cxnLst/>
              <a:rect l="l" t="t" r="r" b="b"/>
              <a:pathLst>
                <a:path w="5212080" h="1234439">
                  <a:moveTo>
                    <a:pt x="5006340" y="0"/>
                  </a:moveTo>
                  <a:lnTo>
                    <a:pt x="205739" y="0"/>
                  </a:lnTo>
                  <a:lnTo>
                    <a:pt x="158565" y="5431"/>
                  </a:lnTo>
                  <a:lnTo>
                    <a:pt x="115260" y="20905"/>
                  </a:lnTo>
                  <a:lnTo>
                    <a:pt x="77060" y="45186"/>
                  </a:lnTo>
                  <a:lnTo>
                    <a:pt x="45198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39"/>
                  </a:lnTo>
                  <a:lnTo>
                    <a:pt x="0" y="1028699"/>
                  </a:lnTo>
                  <a:lnTo>
                    <a:pt x="5433" y="1075886"/>
                  </a:lnTo>
                  <a:lnTo>
                    <a:pt x="20911" y="1119195"/>
                  </a:lnTo>
                  <a:lnTo>
                    <a:pt x="45198" y="1157395"/>
                  </a:lnTo>
                  <a:lnTo>
                    <a:pt x="77060" y="1189253"/>
                  </a:lnTo>
                  <a:lnTo>
                    <a:pt x="115260" y="1213534"/>
                  </a:lnTo>
                  <a:lnTo>
                    <a:pt x="158565" y="1229008"/>
                  </a:lnTo>
                  <a:lnTo>
                    <a:pt x="205739" y="1234439"/>
                  </a:lnTo>
                  <a:lnTo>
                    <a:pt x="5006340" y="1234439"/>
                  </a:lnTo>
                  <a:lnTo>
                    <a:pt x="5053526" y="1229008"/>
                  </a:lnTo>
                  <a:lnTo>
                    <a:pt x="5096835" y="1213534"/>
                  </a:lnTo>
                  <a:lnTo>
                    <a:pt x="5135035" y="1189253"/>
                  </a:lnTo>
                  <a:lnTo>
                    <a:pt x="5166893" y="1157395"/>
                  </a:lnTo>
                  <a:lnTo>
                    <a:pt x="5191174" y="1119195"/>
                  </a:lnTo>
                  <a:lnTo>
                    <a:pt x="5206648" y="1075886"/>
                  </a:lnTo>
                  <a:lnTo>
                    <a:pt x="5212080" y="1028699"/>
                  </a:lnTo>
                  <a:lnTo>
                    <a:pt x="5212080" y="205739"/>
                  </a:lnTo>
                  <a:lnTo>
                    <a:pt x="5206648" y="158553"/>
                  </a:lnTo>
                  <a:lnTo>
                    <a:pt x="5191174" y="115244"/>
                  </a:lnTo>
                  <a:lnTo>
                    <a:pt x="5166893" y="77044"/>
                  </a:lnTo>
                  <a:lnTo>
                    <a:pt x="5135035" y="45186"/>
                  </a:lnTo>
                  <a:lnTo>
                    <a:pt x="5096835" y="20905"/>
                  </a:lnTo>
                  <a:lnTo>
                    <a:pt x="5053526" y="5431"/>
                  </a:lnTo>
                  <a:lnTo>
                    <a:pt x="500634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41604" y="2790443"/>
              <a:ext cx="5212080" cy="1234440"/>
            </a:xfrm>
            <a:custGeom>
              <a:avLst/>
              <a:gdLst/>
              <a:ahLst/>
              <a:cxnLst/>
              <a:rect l="l" t="t" r="r" b="b"/>
              <a:pathLst>
                <a:path w="5212080" h="1234439">
                  <a:moveTo>
                    <a:pt x="0" y="205739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8" y="77044"/>
                  </a:lnTo>
                  <a:lnTo>
                    <a:pt x="77060" y="45186"/>
                  </a:lnTo>
                  <a:lnTo>
                    <a:pt x="115260" y="20905"/>
                  </a:lnTo>
                  <a:lnTo>
                    <a:pt x="158565" y="5431"/>
                  </a:lnTo>
                  <a:lnTo>
                    <a:pt x="205739" y="0"/>
                  </a:lnTo>
                  <a:lnTo>
                    <a:pt x="5006340" y="0"/>
                  </a:lnTo>
                  <a:lnTo>
                    <a:pt x="5053526" y="5431"/>
                  </a:lnTo>
                  <a:lnTo>
                    <a:pt x="5096835" y="20905"/>
                  </a:lnTo>
                  <a:lnTo>
                    <a:pt x="5135035" y="45186"/>
                  </a:lnTo>
                  <a:lnTo>
                    <a:pt x="5166893" y="77044"/>
                  </a:lnTo>
                  <a:lnTo>
                    <a:pt x="5191174" y="115244"/>
                  </a:lnTo>
                  <a:lnTo>
                    <a:pt x="5206648" y="158553"/>
                  </a:lnTo>
                  <a:lnTo>
                    <a:pt x="5212080" y="205739"/>
                  </a:lnTo>
                  <a:lnTo>
                    <a:pt x="5212080" y="1028699"/>
                  </a:lnTo>
                  <a:lnTo>
                    <a:pt x="5206648" y="1075886"/>
                  </a:lnTo>
                  <a:lnTo>
                    <a:pt x="5191174" y="1119195"/>
                  </a:lnTo>
                  <a:lnTo>
                    <a:pt x="5166893" y="1157395"/>
                  </a:lnTo>
                  <a:lnTo>
                    <a:pt x="5135035" y="1189253"/>
                  </a:lnTo>
                  <a:lnTo>
                    <a:pt x="5096835" y="1213534"/>
                  </a:lnTo>
                  <a:lnTo>
                    <a:pt x="5053526" y="1229008"/>
                  </a:lnTo>
                  <a:lnTo>
                    <a:pt x="5006340" y="1234439"/>
                  </a:lnTo>
                  <a:lnTo>
                    <a:pt x="205739" y="1234439"/>
                  </a:lnTo>
                  <a:lnTo>
                    <a:pt x="158565" y="1229008"/>
                  </a:lnTo>
                  <a:lnTo>
                    <a:pt x="115260" y="1213534"/>
                  </a:lnTo>
                  <a:lnTo>
                    <a:pt x="77060" y="1189253"/>
                  </a:lnTo>
                  <a:lnTo>
                    <a:pt x="45198" y="1157395"/>
                  </a:lnTo>
                  <a:lnTo>
                    <a:pt x="20911" y="1119195"/>
                  </a:lnTo>
                  <a:lnTo>
                    <a:pt x="5433" y="1075886"/>
                  </a:lnTo>
                  <a:lnTo>
                    <a:pt x="0" y="1028699"/>
                  </a:lnTo>
                  <a:lnTo>
                    <a:pt x="0" y="205739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02004" y="3021584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03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96313" y="2972816"/>
            <a:ext cx="3588385" cy="733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b="1">
                <a:solidFill>
                  <a:srgbClr val="F5F8FB"/>
                </a:solidFill>
                <a:latin typeface="Calibri"/>
                <a:cs typeface="Calibri"/>
              </a:rPr>
              <a:t>Leaders</a:t>
            </a:r>
            <a:r>
              <a:rPr dirty="0" sz="1600" spc="-85" b="1">
                <a:solidFill>
                  <a:srgbClr val="F5F8FB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5F8FB"/>
                </a:solidFill>
                <a:latin typeface="Calibri"/>
                <a:cs typeface="Calibri"/>
              </a:rPr>
              <a:t>emerge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5"/>
              </a:spcBef>
            </a:pP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Adobe</a:t>
            </a:r>
            <a:r>
              <a:rPr dirty="0" sz="1100" spc="-2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Firefly</a:t>
            </a:r>
            <a:r>
              <a:rPr dirty="0" sz="1100" spc="-4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leads</a:t>
            </a:r>
            <a:r>
              <a:rPr dirty="0" sz="1100" spc="-4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ROI</a:t>
            </a:r>
            <a:r>
              <a:rPr dirty="0" sz="1100" spc="-2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at</a:t>
            </a:r>
            <a:r>
              <a:rPr dirty="0" sz="1100" spc="-1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$186K;</a:t>
            </a:r>
            <a:r>
              <a:rPr dirty="0" sz="1100" spc="1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GitHub</a:t>
            </a:r>
            <a:r>
              <a:rPr dirty="0" sz="1100" spc="-2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Copilot</a:t>
            </a:r>
            <a:r>
              <a:rPr dirty="0" sz="1100" spc="-5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leads</a:t>
            </a:r>
            <a:r>
              <a:rPr dirty="0" sz="1100" spc="-5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ROI%</a:t>
            </a:r>
            <a:r>
              <a:rPr dirty="0" sz="1100" spc="-2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AEBDD2"/>
                </a:solidFill>
                <a:latin typeface="Calibri"/>
                <a:cs typeface="Calibri"/>
              </a:rPr>
              <a:t>at </a:t>
            </a:r>
            <a:r>
              <a:rPr dirty="0" sz="1100" spc="-10">
                <a:solidFill>
                  <a:srgbClr val="AEBDD2"/>
                </a:solidFill>
                <a:latin typeface="Calibri"/>
                <a:cs typeface="Calibri"/>
              </a:rPr>
              <a:t>33.6%.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14871" y="2764535"/>
            <a:ext cx="5307965" cy="1330325"/>
            <a:chOff x="6214871" y="2764535"/>
            <a:chExt cx="5307965" cy="133032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4871" y="2764535"/>
              <a:ext cx="5307964" cy="133019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265163" y="2790443"/>
              <a:ext cx="5212080" cy="1234440"/>
            </a:xfrm>
            <a:custGeom>
              <a:avLst/>
              <a:gdLst/>
              <a:ahLst/>
              <a:cxnLst/>
              <a:rect l="l" t="t" r="r" b="b"/>
              <a:pathLst>
                <a:path w="5212080" h="1234439">
                  <a:moveTo>
                    <a:pt x="5006340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0" y="1028699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39"/>
                  </a:lnTo>
                  <a:lnTo>
                    <a:pt x="5006340" y="1234439"/>
                  </a:lnTo>
                  <a:lnTo>
                    <a:pt x="5053526" y="1229008"/>
                  </a:lnTo>
                  <a:lnTo>
                    <a:pt x="5096835" y="1213534"/>
                  </a:lnTo>
                  <a:lnTo>
                    <a:pt x="5135035" y="1189253"/>
                  </a:lnTo>
                  <a:lnTo>
                    <a:pt x="5166893" y="1157395"/>
                  </a:lnTo>
                  <a:lnTo>
                    <a:pt x="5191174" y="1119195"/>
                  </a:lnTo>
                  <a:lnTo>
                    <a:pt x="5206648" y="1075886"/>
                  </a:lnTo>
                  <a:lnTo>
                    <a:pt x="5212080" y="1028699"/>
                  </a:lnTo>
                  <a:lnTo>
                    <a:pt x="5212080" y="205739"/>
                  </a:lnTo>
                  <a:lnTo>
                    <a:pt x="5206648" y="158553"/>
                  </a:lnTo>
                  <a:lnTo>
                    <a:pt x="5191174" y="115244"/>
                  </a:lnTo>
                  <a:lnTo>
                    <a:pt x="5166893" y="77044"/>
                  </a:lnTo>
                  <a:lnTo>
                    <a:pt x="5135035" y="45186"/>
                  </a:lnTo>
                  <a:lnTo>
                    <a:pt x="5096835" y="20905"/>
                  </a:lnTo>
                  <a:lnTo>
                    <a:pt x="5053526" y="5431"/>
                  </a:lnTo>
                  <a:lnTo>
                    <a:pt x="500634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265163" y="2790443"/>
              <a:ext cx="5212080" cy="1234440"/>
            </a:xfrm>
            <a:custGeom>
              <a:avLst/>
              <a:gdLst/>
              <a:ahLst/>
              <a:cxnLst/>
              <a:rect l="l" t="t" r="r" b="b"/>
              <a:pathLst>
                <a:path w="5212080" h="1234439">
                  <a:moveTo>
                    <a:pt x="0" y="205739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5006340" y="0"/>
                  </a:lnTo>
                  <a:lnTo>
                    <a:pt x="5053526" y="5431"/>
                  </a:lnTo>
                  <a:lnTo>
                    <a:pt x="5096835" y="20905"/>
                  </a:lnTo>
                  <a:lnTo>
                    <a:pt x="5135035" y="45186"/>
                  </a:lnTo>
                  <a:lnTo>
                    <a:pt x="5166893" y="77044"/>
                  </a:lnTo>
                  <a:lnTo>
                    <a:pt x="5191174" y="115244"/>
                  </a:lnTo>
                  <a:lnTo>
                    <a:pt x="5206648" y="158553"/>
                  </a:lnTo>
                  <a:lnTo>
                    <a:pt x="5212080" y="205739"/>
                  </a:lnTo>
                  <a:lnTo>
                    <a:pt x="5212080" y="1028699"/>
                  </a:lnTo>
                  <a:lnTo>
                    <a:pt x="5206648" y="1075886"/>
                  </a:lnTo>
                  <a:lnTo>
                    <a:pt x="5191174" y="1119195"/>
                  </a:lnTo>
                  <a:lnTo>
                    <a:pt x="5166893" y="1157395"/>
                  </a:lnTo>
                  <a:lnTo>
                    <a:pt x="5135035" y="1189253"/>
                  </a:lnTo>
                  <a:lnTo>
                    <a:pt x="5096835" y="1213534"/>
                  </a:lnTo>
                  <a:lnTo>
                    <a:pt x="5053526" y="1229008"/>
                  </a:lnTo>
                  <a:lnTo>
                    <a:pt x="5006340" y="1234439"/>
                  </a:lnTo>
                  <a:lnTo>
                    <a:pt x="205739" y="1234439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699"/>
                  </a:lnTo>
                  <a:lnTo>
                    <a:pt x="0" y="205739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526783" y="3021584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04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21397" y="2972816"/>
            <a:ext cx="3820795" cy="733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 b="1">
                <a:solidFill>
                  <a:srgbClr val="F5F8FB"/>
                </a:solidFill>
                <a:latin typeface="Calibri"/>
                <a:cs typeface="Calibri"/>
              </a:rPr>
              <a:t>Optimize</a:t>
            </a:r>
            <a:r>
              <a:rPr dirty="0" sz="1600" spc="-45" b="1">
                <a:solidFill>
                  <a:srgbClr val="F5F8FB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5F8FB"/>
                </a:solidFill>
                <a:latin typeface="Calibri"/>
                <a:cs typeface="Calibri"/>
              </a:rPr>
              <a:t>by</a:t>
            </a:r>
            <a:r>
              <a:rPr dirty="0" sz="1600" spc="10" b="1">
                <a:solidFill>
                  <a:srgbClr val="F5F8FB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5F8FB"/>
                </a:solidFill>
                <a:latin typeface="Calibri"/>
                <a:cs typeface="Calibri"/>
              </a:rPr>
              <a:t>segment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5"/>
              </a:spcBef>
            </a:pP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Use</a:t>
            </a:r>
            <a:r>
              <a:rPr dirty="0" sz="1100" spc="-3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tool</a:t>
            </a:r>
            <a:r>
              <a:rPr dirty="0" sz="1100" spc="-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+</a:t>
            </a:r>
            <a:r>
              <a:rPr dirty="0" sz="1100" spc="-1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department</a:t>
            </a:r>
            <a:r>
              <a:rPr dirty="0" sz="1100" spc="-3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views</a:t>
            </a:r>
            <a:r>
              <a:rPr dirty="0" sz="1100" spc="-4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to identify</a:t>
            </a:r>
            <a:r>
              <a:rPr dirty="0" sz="1100" spc="-3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scale,</a:t>
            </a:r>
            <a:r>
              <a:rPr dirty="0" sz="1100" spc="-2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prioritize</a:t>
            </a:r>
            <a:r>
              <a:rPr dirty="0" sz="1100" spc="-35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DD2"/>
                </a:solidFill>
                <a:latin typeface="Calibri"/>
                <a:cs typeface="Calibri"/>
              </a:rPr>
              <a:t>and</a:t>
            </a:r>
            <a:r>
              <a:rPr dirty="0" sz="1100" spc="-20">
                <a:solidFill>
                  <a:srgbClr val="AEBDD2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AEBDD2"/>
                </a:solidFill>
                <a:latin typeface="Calibri"/>
                <a:cs typeface="Calibri"/>
              </a:rPr>
              <a:t>review decisions.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1312" y="4547679"/>
            <a:ext cx="10840085" cy="1330325"/>
            <a:chOff x="591312" y="4547679"/>
            <a:chExt cx="10840085" cy="1330325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312" y="4547679"/>
              <a:ext cx="10840085" cy="133019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41604" y="4573523"/>
              <a:ext cx="10744200" cy="1234440"/>
            </a:xfrm>
            <a:custGeom>
              <a:avLst/>
              <a:gdLst/>
              <a:ahLst/>
              <a:cxnLst/>
              <a:rect l="l" t="t" r="r" b="b"/>
              <a:pathLst>
                <a:path w="10744200" h="1234439">
                  <a:moveTo>
                    <a:pt x="10538460" y="0"/>
                  </a:moveTo>
                  <a:lnTo>
                    <a:pt x="205739" y="0"/>
                  </a:lnTo>
                  <a:lnTo>
                    <a:pt x="158565" y="5431"/>
                  </a:lnTo>
                  <a:lnTo>
                    <a:pt x="115260" y="20905"/>
                  </a:lnTo>
                  <a:lnTo>
                    <a:pt x="77060" y="45186"/>
                  </a:lnTo>
                  <a:lnTo>
                    <a:pt x="45198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39"/>
                  </a:lnTo>
                  <a:lnTo>
                    <a:pt x="0" y="1028700"/>
                  </a:lnTo>
                  <a:lnTo>
                    <a:pt x="5433" y="1075874"/>
                  </a:lnTo>
                  <a:lnTo>
                    <a:pt x="20911" y="1119179"/>
                  </a:lnTo>
                  <a:lnTo>
                    <a:pt x="45198" y="1157379"/>
                  </a:lnTo>
                  <a:lnTo>
                    <a:pt x="77060" y="1189241"/>
                  </a:lnTo>
                  <a:lnTo>
                    <a:pt x="115260" y="1213528"/>
                  </a:lnTo>
                  <a:lnTo>
                    <a:pt x="158565" y="1229006"/>
                  </a:lnTo>
                  <a:lnTo>
                    <a:pt x="205739" y="1234439"/>
                  </a:lnTo>
                  <a:lnTo>
                    <a:pt x="10538460" y="1234439"/>
                  </a:lnTo>
                  <a:lnTo>
                    <a:pt x="10585646" y="1229006"/>
                  </a:lnTo>
                  <a:lnTo>
                    <a:pt x="10628955" y="1213528"/>
                  </a:lnTo>
                  <a:lnTo>
                    <a:pt x="10667155" y="1189241"/>
                  </a:lnTo>
                  <a:lnTo>
                    <a:pt x="10699013" y="1157379"/>
                  </a:lnTo>
                  <a:lnTo>
                    <a:pt x="10723294" y="1119179"/>
                  </a:lnTo>
                  <a:lnTo>
                    <a:pt x="10738768" y="1075874"/>
                  </a:lnTo>
                  <a:lnTo>
                    <a:pt x="10744200" y="1028700"/>
                  </a:lnTo>
                  <a:lnTo>
                    <a:pt x="10744200" y="205739"/>
                  </a:lnTo>
                  <a:lnTo>
                    <a:pt x="10738768" y="158553"/>
                  </a:lnTo>
                  <a:lnTo>
                    <a:pt x="10723294" y="115244"/>
                  </a:lnTo>
                  <a:lnTo>
                    <a:pt x="10699013" y="77044"/>
                  </a:lnTo>
                  <a:lnTo>
                    <a:pt x="10667155" y="45186"/>
                  </a:lnTo>
                  <a:lnTo>
                    <a:pt x="10628955" y="20905"/>
                  </a:lnTo>
                  <a:lnTo>
                    <a:pt x="10585646" y="5431"/>
                  </a:lnTo>
                  <a:lnTo>
                    <a:pt x="1053846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41604" y="4573523"/>
              <a:ext cx="10744200" cy="1234440"/>
            </a:xfrm>
            <a:custGeom>
              <a:avLst/>
              <a:gdLst/>
              <a:ahLst/>
              <a:cxnLst/>
              <a:rect l="l" t="t" r="r" b="b"/>
              <a:pathLst>
                <a:path w="10744200" h="1234439">
                  <a:moveTo>
                    <a:pt x="0" y="205739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8" y="77044"/>
                  </a:lnTo>
                  <a:lnTo>
                    <a:pt x="77060" y="45186"/>
                  </a:lnTo>
                  <a:lnTo>
                    <a:pt x="115260" y="20905"/>
                  </a:lnTo>
                  <a:lnTo>
                    <a:pt x="158565" y="5431"/>
                  </a:lnTo>
                  <a:lnTo>
                    <a:pt x="205739" y="0"/>
                  </a:lnTo>
                  <a:lnTo>
                    <a:pt x="10538460" y="0"/>
                  </a:lnTo>
                  <a:lnTo>
                    <a:pt x="10585646" y="5431"/>
                  </a:lnTo>
                  <a:lnTo>
                    <a:pt x="10628955" y="20905"/>
                  </a:lnTo>
                  <a:lnTo>
                    <a:pt x="10667155" y="45186"/>
                  </a:lnTo>
                  <a:lnTo>
                    <a:pt x="10699013" y="77044"/>
                  </a:lnTo>
                  <a:lnTo>
                    <a:pt x="10723294" y="115244"/>
                  </a:lnTo>
                  <a:lnTo>
                    <a:pt x="10738768" y="158553"/>
                  </a:lnTo>
                  <a:lnTo>
                    <a:pt x="10744200" y="205739"/>
                  </a:lnTo>
                  <a:lnTo>
                    <a:pt x="10744200" y="1028700"/>
                  </a:lnTo>
                  <a:lnTo>
                    <a:pt x="10738768" y="1075874"/>
                  </a:lnTo>
                  <a:lnTo>
                    <a:pt x="10723294" y="1119179"/>
                  </a:lnTo>
                  <a:lnTo>
                    <a:pt x="10699013" y="1157379"/>
                  </a:lnTo>
                  <a:lnTo>
                    <a:pt x="10667155" y="1189241"/>
                  </a:lnTo>
                  <a:lnTo>
                    <a:pt x="10628955" y="1213528"/>
                  </a:lnTo>
                  <a:lnTo>
                    <a:pt x="10585646" y="1229006"/>
                  </a:lnTo>
                  <a:lnTo>
                    <a:pt x="10538460" y="1234439"/>
                  </a:lnTo>
                  <a:lnTo>
                    <a:pt x="205739" y="1234439"/>
                  </a:lnTo>
                  <a:lnTo>
                    <a:pt x="158565" y="1229006"/>
                  </a:lnTo>
                  <a:lnTo>
                    <a:pt x="115260" y="1213528"/>
                  </a:lnTo>
                  <a:lnTo>
                    <a:pt x="77060" y="1189241"/>
                  </a:lnTo>
                  <a:lnTo>
                    <a:pt x="45198" y="1157379"/>
                  </a:lnTo>
                  <a:lnTo>
                    <a:pt x="20911" y="1119179"/>
                  </a:lnTo>
                  <a:lnTo>
                    <a:pt x="5433" y="1075874"/>
                  </a:lnTo>
                  <a:lnTo>
                    <a:pt x="0" y="1028700"/>
                  </a:lnTo>
                  <a:lnTo>
                    <a:pt x="0" y="205739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947724" y="4851272"/>
            <a:ext cx="619125" cy="4514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400" spc="-20" b="1">
                <a:solidFill>
                  <a:srgbClr val="00C7FF"/>
                </a:solidFill>
                <a:latin typeface="Arial"/>
                <a:cs typeface="Arial"/>
              </a:rPr>
              <a:t>TECH </a:t>
            </a:r>
            <a:r>
              <a:rPr dirty="0" sz="1400" spc="-45" b="1">
                <a:solidFill>
                  <a:srgbClr val="00C7FF"/>
                </a:solidFill>
                <a:latin typeface="Arial"/>
                <a:cs typeface="Arial"/>
              </a:rPr>
              <a:t>STACK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142726" y="6514895"/>
            <a:ext cx="440055" cy="1549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09</a:t>
            </a:r>
            <a:r>
              <a:rPr dirty="0" sz="900" spc="24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/</a:t>
            </a:r>
            <a:r>
              <a:rPr dirty="0" sz="900" spc="24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AEBDD2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19654" y="4832984"/>
            <a:ext cx="7379334" cy="616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Excel</a:t>
            </a:r>
            <a:r>
              <a:rPr dirty="0" sz="1400" spc="32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•</a:t>
            </a:r>
            <a:r>
              <a:rPr dirty="0" sz="1400" spc="32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Tableau</a:t>
            </a:r>
            <a:r>
              <a:rPr dirty="0" sz="1400" spc="34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•</a:t>
            </a:r>
            <a:r>
              <a:rPr dirty="0" sz="1400" spc="32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Calculated</a:t>
            </a:r>
            <a:r>
              <a:rPr dirty="0" sz="1400" spc="1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Fields</a:t>
            </a:r>
            <a:r>
              <a:rPr dirty="0" sz="1400" spc="34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•</a:t>
            </a:r>
            <a:r>
              <a:rPr dirty="0" sz="1400" spc="30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KPI</a:t>
            </a:r>
            <a:r>
              <a:rPr dirty="0" sz="1400" spc="-2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Design</a:t>
            </a:r>
            <a:r>
              <a:rPr dirty="0" sz="1400" spc="34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•</a:t>
            </a:r>
            <a:r>
              <a:rPr dirty="0" sz="1400" spc="32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ROI</a:t>
            </a:r>
            <a:r>
              <a:rPr dirty="0" sz="1400" spc="-8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Analysis</a:t>
            </a:r>
            <a:r>
              <a:rPr dirty="0" sz="1400" spc="40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•</a:t>
            </a:r>
            <a:r>
              <a:rPr dirty="0" sz="1400" spc="32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5F8FB"/>
                </a:solidFill>
                <a:latin typeface="Arial"/>
                <a:cs typeface="Arial"/>
              </a:rPr>
              <a:t>Interactive</a:t>
            </a:r>
            <a:r>
              <a:rPr dirty="0" sz="1400" spc="4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5F8FB"/>
                </a:solidFill>
                <a:latin typeface="Arial"/>
                <a:cs typeface="Arial"/>
              </a:rPr>
              <a:t>Filters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solidFill>
                  <a:srgbClr val="AEBDD2"/>
                </a:solidFill>
                <a:latin typeface="Arial"/>
                <a:cs typeface="Arial"/>
              </a:rPr>
              <a:t>Analytics:</a:t>
            </a:r>
            <a:r>
              <a:rPr dirty="0" sz="1050" spc="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EBDD2"/>
                </a:solidFill>
                <a:latin typeface="Arial"/>
                <a:cs typeface="Arial"/>
              </a:rPr>
              <a:t>cost</a:t>
            </a:r>
            <a:r>
              <a:rPr dirty="0" sz="1050" spc="-1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EBDD2"/>
                </a:solidFill>
                <a:latin typeface="Arial"/>
                <a:cs typeface="Arial"/>
              </a:rPr>
              <a:t>analysis</a:t>
            </a:r>
            <a:r>
              <a:rPr dirty="0" sz="1050" spc="1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EBDD2"/>
                </a:solidFill>
                <a:latin typeface="Arial"/>
                <a:cs typeface="Arial"/>
              </a:rPr>
              <a:t>•</a:t>
            </a:r>
            <a:r>
              <a:rPr dirty="0" sz="1050" spc="-3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EBDD2"/>
                </a:solidFill>
                <a:latin typeface="Arial"/>
                <a:cs typeface="Arial"/>
              </a:rPr>
              <a:t>ROI</a:t>
            </a:r>
            <a:r>
              <a:rPr dirty="0" sz="1050" spc="-3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EBDD2"/>
                </a:solidFill>
                <a:latin typeface="Arial"/>
                <a:cs typeface="Arial"/>
              </a:rPr>
              <a:t>ranking</a:t>
            </a:r>
            <a:r>
              <a:rPr dirty="0" sz="1050" spc="-1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EBDD2"/>
                </a:solidFill>
                <a:latin typeface="Arial"/>
                <a:cs typeface="Arial"/>
              </a:rPr>
              <a:t>•</a:t>
            </a:r>
            <a:r>
              <a:rPr dirty="0" sz="1050" spc="-3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AEBDD2"/>
                </a:solidFill>
                <a:latin typeface="Arial"/>
                <a:cs typeface="Arial"/>
              </a:rPr>
              <a:t>department</a:t>
            </a:r>
            <a:r>
              <a:rPr dirty="0" sz="1050" spc="-6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EBDD2"/>
                </a:solidFill>
                <a:latin typeface="Arial"/>
                <a:cs typeface="Arial"/>
              </a:rPr>
              <a:t>comparison</a:t>
            </a:r>
            <a:r>
              <a:rPr dirty="0" sz="1050" spc="-4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EBDD2"/>
                </a:solidFill>
                <a:latin typeface="Arial"/>
                <a:cs typeface="Arial"/>
              </a:rPr>
              <a:t>•</a:t>
            </a:r>
            <a:r>
              <a:rPr dirty="0" sz="1050" spc="-3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EBDD2"/>
                </a:solidFill>
                <a:latin typeface="Arial"/>
                <a:cs typeface="Arial"/>
              </a:rPr>
              <a:t>business</a:t>
            </a:r>
            <a:r>
              <a:rPr dirty="0" sz="1050" spc="-10" b="1">
                <a:solidFill>
                  <a:srgbClr val="AEBDD2"/>
                </a:solidFill>
                <a:latin typeface="Arial"/>
                <a:cs typeface="Arial"/>
              </a:rPr>
              <a:t> intelligence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Conclusion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/>
              <a:t>Future</a:t>
            </a:r>
            <a:r>
              <a:rPr dirty="0" spc="-30"/>
              <a:t> </a:t>
            </a:r>
            <a:r>
              <a:rPr dirty="0" spc="-1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836" y="871854"/>
            <a:ext cx="34842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AEBDD2"/>
                </a:solidFill>
                <a:latin typeface="Arial"/>
                <a:cs typeface="Arial"/>
              </a:rPr>
              <a:t>A</a:t>
            </a:r>
            <a:r>
              <a:rPr dirty="0" sz="1200" spc="-6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AEBDD2"/>
                </a:solidFill>
                <a:latin typeface="Arial"/>
                <a:cs typeface="Arial"/>
              </a:rPr>
              <a:t>practical</a:t>
            </a:r>
            <a:r>
              <a:rPr dirty="0" sz="1200" spc="-5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AEBDD2"/>
                </a:solidFill>
                <a:latin typeface="Arial"/>
                <a:cs typeface="Arial"/>
              </a:rPr>
              <a:t>framework</a:t>
            </a:r>
            <a:r>
              <a:rPr dirty="0" sz="1200" spc="-1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AEBDD2"/>
                </a:solidFill>
                <a:latin typeface="Arial"/>
                <a:cs typeface="Arial"/>
              </a:rPr>
              <a:t>for</a:t>
            </a:r>
            <a:r>
              <a:rPr dirty="0" sz="1200" spc="-4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EBDD2"/>
                </a:solidFill>
                <a:latin typeface="Arial"/>
                <a:cs typeface="Arial"/>
              </a:rPr>
              <a:t>smarter</a:t>
            </a:r>
            <a:r>
              <a:rPr dirty="0" sz="1200" spc="-7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AEBDD2"/>
                </a:solidFill>
                <a:latin typeface="Arial"/>
                <a:cs typeface="Arial"/>
              </a:rPr>
              <a:t>AI</a:t>
            </a:r>
            <a:r>
              <a:rPr dirty="0" sz="1200" spc="1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EBDD2"/>
                </a:solidFill>
                <a:latin typeface="Arial"/>
                <a:cs typeface="Arial"/>
              </a:rPr>
              <a:t>investment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7031" y="1210055"/>
            <a:ext cx="5307965" cy="4347845"/>
            <a:chOff x="637031" y="1210055"/>
            <a:chExt cx="5307965" cy="43478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031" y="1210055"/>
              <a:ext cx="5307965" cy="434771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7323" y="1235963"/>
              <a:ext cx="5212080" cy="4251960"/>
            </a:xfrm>
            <a:custGeom>
              <a:avLst/>
              <a:gdLst/>
              <a:ahLst/>
              <a:cxnLst/>
              <a:rect l="l" t="t" r="r" b="b"/>
              <a:pathLst>
                <a:path w="5212080" h="4251960">
                  <a:moveTo>
                    <a:pt x="4503420" y="0"/>
                  </a:moveTo>
                  <a:lnTo>
                    <a:pt x="708660" y="0"/>
                  </a:lnTo>
                  <a:lnTo>
                    <a:pt x="660141" y="1634"/>
                  </a:lnTo>
                  <a:lnTo>
                    <a:pt x="612500" y="6468"/>
                  </a:lnTo>
                  <a:lnTo>
                    <a:pt x="565842" y="14396"/>
                  </a:lnTo>
                  <a:lnTo>
                    <a:pt x="520272" y="25311"/>
                  </a:lnTo>
                  <a:lnTo>
                    <a:pt x="475896" y="39110"/>
                  </a:lnTo>
                  <a:lnTo>
                    <a:pt x="432820" y="55685"/>
                  </a:lnTo>
                  <a:lnTo>
                    <a:pt x="391149" y="74932"/>
                  </a:lnTo>
                  <a:lnTo>
                    <a:pt x="350988" y="96745"/>
                  </a:lnTo>
                  <a:lnTo>
                    <a:pt x="312444" y="121019"/>
                  </a:lnTo>
                  <a:lnTo>
                    <a:pt x="275621" y="147648"/>
                  </a:lnTo>
                  <a:lnTo>
                    <a:pt x="240626" y="176527"/>
                  </a:lnTo>
                  <a:lnTo>
                    <a:pt x="207564" y="207549"/>
                  </a:lnTo>
                  <a:lnTo>
                    <a:pt x="176540" y="240611"/>
                  </a:lnTo>
                  <a:lnTo>
                    <a:pt x="147660" y="275605"/>
                  </a:lnTo>
                  <a:lnTo>
                    <a:pt x="121029" y="312427"/>
                  </a:lnTo>
                  <a:lnTo>
                    <a:pt x="96754" y="350971"/>
                  </a:lnTo>
                  <a:lnTo>
                    <a:pt x="74939" y="391132"/>
                  </a:lnTo>
                  <a:lnTo>
                    <a:pt x="55690" y="432804"/>
                  </a:lnTo>
                  <a:lnTo>
                    <a:pt x="39114" y="475881"/>
                  </a:lnTo>
                  <a:lnTo>
                    <a:pt x="25314" y="520259"/>
                  </a:lnTo>
                  <a:lnTo>
                    <a:pt x="14397" y="565831"/>
                  </a:lnTo>
                  <a:lnTo>
                    <a:pt x="6469" y="612492"/>
                  </a:lnTo>
                  <a:lnTo>
                    <a:pt x="1634" y="660137"/>
                  </a:lnTo>
                  <a:lnTo>
                    <a:pt x="0" y="708660"/>
                  </a:lnTo>
                  <a:lnTo>
                    <a:pt x="0" y="3543300"/>
                  </a:lnTo>
                  <a:lnTo>
                    <a:pt x="1634" y="3591822"/>
                  </a:lnTo>
                  <a:lnTo>
                    <a:pt x="6469" y="3639467"/>
                  </a:lnTo>
                  <a:lnTo>
                    <a:pt x="14397" y="3686128"/>
                  </a:lnTo>
                  <a:lnTo>
                    <a:pt x="25314" y="3731700"/>
                  </a:lnTo>
                  <a:lnTo>
                    <a:pt x="39114" y="3776078"/>
                  </a:lnTo>
                  <a:lnTo>
                    <a:pt x="55690" y="3819155"/>
                  </a:lnTo>
                  <a:lnTo>
                    <a:pt x="74939" y="3860827"/>
                  </a:lnTo>
                  <a:lnTo>
                    <a:pt x="96754" y="3900988"/>
                  </a:lnTo>
                  <a:lnTo>
                    <a:pt x="121029" y="3939532"/>
                  </a:lnTo>
                  <a:lnTo>
                    <a:pt x="147660" y="3976354"/>
                  </a:lnTo>
                  <a:lnTo>
                    <a:pt x="176540" y="4011348"/>
                  </a:lnTo>
                  <a:lnTo>
                    <a:pt x="207564" y="4044410"/>
                  </a:lnTo>
                  <a:lnTo>
                    <a:pt x="240626" y="4075432"/>
                  </a:lnTo>
                  <a:lnTo>
                    <a:pt x="275621" y="4104311"/>
                  </a:lnTo>
                  <a:lnTo>
                    <a:pt x="312444" y="4130940"/>
                  </a:lnTo>
                  <a:lnTo>
                    <a:pt x="350988" y="4155214"/>
                  </a:lnTo>
                  <a:lnTo>
                    <a:pt x="391149" y="4177027"/>
                  </a:lnTo>
                  <a:lnTo>
                    <a:pt x="432820" y="4196274"/>
                  </a:lnTo>
                  <a:lnTo>
                    <a:pt x="475896" y="4212849"/>
                  </a:lnTo>
                  <a:lnTo>
                    <a:pt x="520272" y="4226648"/>
                  </a:lnTo>
                  <a:lnTo>
                    <a:pt x="565842" y="4237563"/>
                  </a:lnTo>
                  <a:lnTo>
                    <a:pt x="612500" y="4245491"/>
                  </a:lnTo>
                  <a:lnTo>
                    <a:pt x="660141" y="4250325"/>
                  </a:lnTo>
                  <a:lnTo>
                    <a:pt x="708660" y="4251960"/>
                  </a:lnTo>
                  <a:lnTo>
                    <a:pt x="4503420" y="4251960"/>
                  </a:lnTo>
                  <a:lnTo>
                    <a:pt x="4551942" y="4250325"/>
                  </a:lnTo>
                  <a:lnTo>
                    <a:pt x="4599587" y="4245491"/>
                  </a:lnTo>
                  <a:lnTo>
                    <a:pt x="4646248" y="4237563"/>
                  </a:lnTo>
                  <a:lnTo>
                    <a:pt x="4691820" y="4226648"/>
                  </a:lnTo>
                  <a:lnTo>
                    <a:pt x="4736198" y="4212849"/>
                  </a:lnTo>
                  <a:lnTo>
                    <a:pt x="4779275" y="4196274"/>
                  </a:lnTo>
                  <a:lnTo>
                    <a:pt x="4820947" y="4177027"/>
                  </a:lnTo>
                  <a:lnTo>
                    <a:pt x="4861108" y="4155214"/>
                  </a:lnTo>
                  <a:lnTo>
                    <a:pt x="4899652" y="4130940"/>
                  </a:lnTo>
                  <a:lnTo>
                    <a:pt x="4936474" y="4104311"/>
                  </a:lnTo>
                  <a:lnTo>
                    <a:pt x="4971468" y="4075432"/>
                  </a:lnTo>
                  <a:lnTo>
                    <a:pt x="5004530" y="4044410"/>
                  </a:lnTo>
                  <a:lnTo>
                    <a:pt x="5035552" y="4011348"/>
                  </a:lnTo>
                  <a:lnTo>
                    <a:pt x="5064431" y="3976354"/>
                  </a:lnTo>
                  <a:lnTo>
                    <a:pt x="5091060" y="3939532"/>
                  </a:lnTo>
                  <a:lnTo>
                    <a:pt x="5115334" y="3900988"/>
                  </a:lnTo>
                  <a:lnTo>
                    <a:pt x="5137147" y="3860827"/>
                  </a:lnTo>
                  <a:lnTo>
                    <a:pt x="5156394" y="3819155"/>
                  </a:lnTo>
                  <a:lnTo>
                    <a:pt x="5172969" y="3776078"/>
                  </a:lnTo>
                  <a:lnTo>
                    <a:pt x="5186768" y="3731700"/>
                  </a:lnTo>
                  <a:lnTo>
                    <a:pt x="5197683" y="3686128"/>
                  </a:lnTo>
                  <a:lnTo>
                    <a:pt x="5205611" y="3639467"/>
                  </a:lnTo>
                  <a:lnTo>
                    <a:pt x="5210445" y="3591822"/>
                  </a:lnTo>
                  <a:lnTo>
                    <a:pt x="5212080" y="3543300"/>
                  </a:lnTo>
                  <a:lnTo>
                    <a:pt x="5212080" y="708660"/>
                  </a:lnTo>
                  <a:lnTo>
                    <a:pt x="5210445" y="660137"/>
                  </a:lnTo>
                  <a:lnTo>
                    <a:pt x="5205611" y="612492"/>
                  </a:lnTo>
                  <a:lnTo>
                    <a:pt x="5197683" y="565831"/>
                  </a:lnTo>
                  <a:lnTo>
                    <a:pt x="5186768" y="520259"/>
                  </a:lnTo>
                  <a:lnTo>
                    <a:pt x="5172969" y="475881"/>
                  </a:lnTo>
                  <a:lnTo>
                    <a:pt x="5156394" y="432804"/>
                  </a:lnTo>
                  <a:lnTo>
                    <a:pt x="5137147" y="391132"/>
                  </a:lnTo>
                  <a:lnTo>
                    <a:pt x="5115334" y="350971"/>
                  </a:lnTo>
                  <a:lnTo>
                    <a:pt x="5091060" y="312427"/>
                  </a:lnTo>
                  <a:lnTo>
                    <a:pt x="5064431" y="275605"/>
                  </a:lnTo>
                  <a:lnTo>
                    <a:pt x="5035552" y="240611"/>
                  </a:lnTo>
                  <a:lnTo>
                    <a:pt x="5004530" y="207549"/>
                  </a:lnTo>
                  <a:lnTo>
                    <a:pt x="4971468" y="176527"/>
                  </a:lnTo>
                  <a:lnTo>
                    <a:pt x="4936474" y="147648"/>
                  </a:lnTo>
                  <a:lnTo>
                    <a:pt x="4899652" y="121019"/>
                  </a:lnTo>
                  <a:lnTo>
                    <a:pt x="4861108" y="96745"/>
                  </a:lnTo>
                  <a:lnTo>
                    <a:pt x="4820947" y="74932"/>
                  </a:lnTo>
                  <a:lnTo>
                    <a:pt x="4779275" y="55685"/>
                  </a:lnTo>
                  <a:lnTo>
                    <a:pt x="4736198" y="39110"/>
                  </a:lnTo>
                  <a:lnTo>
                    <a:pt x="4691820" y="25311"/>
                  </a:lnTo>
                  <a:lnTo>
                    <a:pt x="4646248" y="14396"/>
                  </a:lnTo>
                  <a:lnTo>
                    <a:pt x="4599587" y="6468"/>
                  </a:lnTo>
                  <a:lnTo>
                    <a:pt x="4551942" y="1634"/>
                  </a:lnTo>
                  <a:lnTo>
                    <a:pt x="450342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7323" y="1235963"/>
              <a:ext cx="5212080" cy="4251960"/>
            </a:xfrm>
            <a:custGeom>
              <a:avLst/>
              <a:gdLst/>
              <a:ahLst/>
              <a:cxnLst/>
              <a:rect l="l" t="t" r="r" b="b"/>
              <a:pathLst>
                <a:path w="5212080" h="4251960">
                  <a:moveTo>
                    <a:pt x="0" y="708660"/>
                  </a:moveTo>
                  <a:lnTo>
                    <a:pt x="1634" y="660137"/>
                  </a:lnTo>
                  <a:lnTo>
                    <a:pt x="6469" y="612492"/>
                  </a:lnTo>
                  <a:lnTo>
                    <a:pt x="14397" y="565831"/>
                  </a:lnTo>
                  <a:lnTo>
                    <a:pt x="25314" y="520259"/>
                  </a:lnTo>
                  <a:lnTo>
                    <a:pt x="39114" y="475881"/>
                  </a:lnTo>
                  <a:lnTo>
                    <a:pt x="55690" y="432804"/>
                  </a:lnTo>
                  <a:lnTo>
                    <a:pt x="74939" y="391132"/>
                  </a:lnTo>
                  <a:lnTo>
                    <a:pt x="96754" y="350971"/>
                  </a:lnTo>
                  <a:lnTo>
                    <a:pt x="121029" y="312427"/>
                  </a:lnTo>
                  <a:lnTo>
                    <a:pt x="147660" y="275605"/>
                  </a:lnTo>
                  <a:lnTo>
                    <a:pt x="176540" y="240611"/>
                  </a:lnTo>
                  <a:lnTo>
                    <a:pt x="207564" y="207549"/>
                  </a:lnTo>
                  <a:lnTo>
                    <a:pt x="240626" y="176527"/>
                  </a:lnTo>
                  <a:lnTo>
                    <a:pt x="275621" y="147648"/>
                  </a:lnTo>
                  <a:lnTo>
                    <a:pt x="312444" y="121019"/>
                  </a:lnTo>
                  <a:lnTo>
                    <a:pt x="350988" y="96745"/>
                  </a:lnTo>
                  <a:lnTo>
                    <a:pt x="391149" y="74932"/>
                  </a:lnTo>
                  <a:lnTo>
                    <a:pt x="432820" y="55685"/>
                  </a:lnTo>
                  <a:lnTo>
                    <a:pt x="475896" y="39110"/>
                  </a:lnTo>
                  <a:lnTo>
                    <a:pt x="520272" y="25311"/>
                  </a:lnTo>
                  <a:lnTo>
                    <a:pt x="565842" y="14396"/>
                  </a:lnTo>
                  <a:lnTo>
                    <a:pt x="612500" y="6468"/>
                  </a:lnTo>
                  <a:lnTo>
                    <a:pt x="660141" y="1634"/>
                  </a:lnTo>
                  <a:lnTo>
                    <a:pt x="708660" y="0"/>
                  </a:lnTo>
                  <a:lnTo>
                    <a:pt x="4503420" y="0"/>
                  </a:lnTo>
                  <a:lnTo>
                    <a:pt x="4551942" y="1634"/>
                  </a:lnTo>
                  <a:lnTo>
                    <a:pt x="4599587" y="6468"/>
                  </a:lnTo>
                  <a:lnTo>
                    <a:pt x="4646248" y="14396"/>
                  </a:lnTo>
                  <a:lnTo>
                    <a:pt x="4691820" y="25311"/>
                  </a:lnTo>
                  <a:lnTo>
                    <a:pt x="4736198" y="39110"/>
                  </a:lnTo>
                  <a:lnTo>
                    <a:pt x="4779275" y="55685"/>
                  </a:lnTo>
                  <a:lnTo>
                    <a:pt x="4820947" y="74932"/>
                  </a:lnTo>
                  <a:lnTo>
                    <a:pt x="4861108" y="96745"/>
                  </a:lnTo>
                  <a:lnTo>
                    <a:pt x="4899652" y="121019"/>
                  </a:lnTo>
                  <a:lnTo>
                    <a:pt x="4936474" y="147648"/>
                  </a:lnTo>
                  <a:lnTo>
                    <a:pt x="4971468" y="176527"/>
                  </a:lnTo>
                  <a:lnTo>
                    <a:pt x="5004530" y="207549"/>
                  </a:lnTo>
                  <a:lnTo>
                    <a:pt x="5035552" y="240611"/>
                  </a:lnTo>
                  <a:lnTo>
                    <a:pt x="5064431" y="275605"/>
                  </a:lnTo>
                  <a:lnTo>
                    <a:pt x="5091060" y="312427"/>
                  </a:lnTo>
                  <a:lnTo>
                    <a:pt x="5115334" y="350971"/>
                  </a:lnTo>
                  <a:lnTo>
                    <a:pt x="5137147" y="391132"/>
                  </a:lnTo>
                  <a:lnTo>
                    <a:pt x="5156394" y="432804"/>
                  </a:lnTo>
                  <a:lnTo>
                    <a:pt x="5172969" y="475881"/>
                  </a:lnTo>
                  <a:lnTo>
                    <a:pt x="5186768" y="520259"/>
                  </a:lnTo>
                  <a:lnTo>
                    <a:pt x="5197683" y="565831"/>
                  </a:lnTo>
                  <a:lnTo>
                    <a:pt x="5205611" y="612492"/>
                  </a:lnTo>
                  <a:lnTo>
                    <a:pt x="5210445" y="660137"/>
                  </a:lnTo>
                  <a:lnTo>
                    <a:pt x="5212080" y="708660"/>
                  </a:lnTo>
                  <a:lnTo>
                    <a:pt x="5212080" y="3543300"/>
                  </a:lnTo>
                  <a:lnTo>
                    <a:pt x="5210445" y="3591822"/>
                  </a:lnTo>
                  <a:lnTo>
                    <a:pt x="5205611" y="3639467"/>
                  </a:lnTo>
                  <a:lnTo>
                    <a:pt x="5197683" y="3686128"/>
                  </a:lnTo>
                  <a:lnTo>
                    <a:pt x="5186768" y="3731700"/>
                  </a:lnTo>
                  <a:lnTo>
                    <a:pt x="5172969" y="3776078"/>
                  </a:lnTo>
                  <a:lnTo>
                    <a:pt x="5156394" y="3819155"/>
                  </a:lnTo>
                  <a:lnTo>
                    <a:pt x="5137147" y="3860827"/>
                  </a:lnTo>
                  <a:lnTo>
                    <a:pt x="5115334" y="3900988"/>
                  </a:lnTo>
                  <a:lnTo>
                    <a:pt x="5091060" y="3939532"/>
                  </a:lnTo>
                  <a:lnTo>
                    <a:pt x="5064431" y="3976354"/>
                  </a:lnTo>
                  <a:lnTo>
                    <a:pt x="5035552" y="4011348"/>
                  </a:lnTo>
                  <a:lnTo>
                    <a:pt x="5004530" y="4044410"/>
                  </a:lnTo>
                  <a:lnTo>
                    <a:pt x="4971468" y="4075432"/>
                  </a:lnTo>
                  <a:lnTo>
                    <a:pt x="4936474" y="4104311"/>
                  </a:lnTo>
                  <a:lnTo>
                    <a:pt x="4899652" y="4130940"/>
                  </a:lnTo>
                  <a:lnTo>
                    <a:pt x="4861108" y="4155214"/>
                  </a:lnTo>
                  <a:lnTo>
                    <a:pt x="4820947" y="4177027"/>
                  </a:lnTo>
                  <a:lnTo>
                    <a:pt x="4779275" y="4196274"/>
                  </a:lnTo>
                  <a:lnTo>
                    <a:pt x="4736198" y="4212849"/>
                  </a:lnTo>
                  <a:lnTo>
                    <a:pt x="4691820" y="4226648"/>
                  </a:lnTo>
                  <a:lnTo>
                    <a:pt x="4646248" y="4237563"/>
                  </a:lnTo>
                  <a:lnTo>
                    <a:pt x="4599587" y="4245491"/>
                  </a:lnTo>
                  <a:lnTo>
                    <a:pt x="4551942" y="4250325"/>
                  </a:lnTo>
                  <a:lnTo>
                    <a:pt x="4503420" y="4251960"/>
                  </a:lnTo>
                  <a:lnTo>
                    <a:pt x="708660" y="4251960"/>
                  </a:lnTo>
                  <a:lnTo>
                    <a:pt x="660141" y="4250325"/>
                  </a:lnTo>
                  <a:lnTo>
                    <a:pt x="612500" y="4245491"/>
                  </a:lnTo>
                  <a:lnTo>
                    <a:pt x="565842" y="4237563"/>
                  </a:lnTo>
                  <a:lnTo>
                    <a:pt x="520272" y="4226648"/>
                  </a:lnTo>
                  <a:lnTo>
                    <a:pt x="475896" y="4212849"/>
                  </a:lnTo>
                  <a:lnTo>
                    <a:pt x="432820" y="4196274"/>
                  </a:lnTo>
                  <a:lnTo>
                    <a:pt x="391149" y="4177027"/>
                  </a:lnTo>
                  <a:lnTo>
                    <a:pt x="350988" y="4155214"/>
                  </a:lnTo>
                  <a:lnTo>
                    <a:pt x="312444" y="4130940"/>
                  </a:lnTo>
                  <a:lnTo>
                    <a:pt x="275621" y="4104311"/>
                  </a:lnTo>
                  <a:lnTo>
                    <a:pt x="240626" y="4075432"/>
                  </a:lnTo>
                  <a:lnTo>
                    <a:pt x="207564" y="4044410"/>
                  </a:lnTo>
                  <a:lnTo>
                    <a:pt x="176540" y="4011348"/>
                  </a:lnTo>
                  <a:lnTo>
                    <a:pt x="147660" y="3976354"/>
                  </a:lnTo>
                  <a:lnTo>
                    <a:pt x="121029" y="3939532"/>
                  </a:lnTo>
                  <a:lnTo>
                    <a:pt x="96754" y="3900988"/>
                  </a:lnTo>
                  <a:lnTo>
                    <a:pt x="74939" y="3860827"/>
                  </a:lnTo>
                  <a:lnTo>
                    <a:pt x="55690" y="3819155"/>
                  </a:lnTo>
                  <a:lnTo>
                    <a:pt x="39114" y="3776078"/>
                  </a:lnTo>
                  <a:lnTo>
                    <a:pt x="25314" y="3731700"/>
                  </a:lnTo>
                  <a:lnTo>
                    <a:pt x="14397" y="3686128"/>
                  </a:lnTo>
                  <a:lnTo>
                    <a:pt x="6469" y="3639467"/>
                  </a:lnTo>
                  <a:lnTo>
                    <a:pt x="1634" y="3591822"/>
                  </a:lnTo>
                  <a:lnTo>
                    <a:pt x="0" y="3543300"/>
                  </a:lnTo>
                  <a:lnTo>
                    <a:pt x="0" y="70866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39164" y="1585341"/>
            <a:ext cx="121348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solidFill>
                  <a:srgbClr val="00C7FF"/>
                </a:solidFill>
                <a:latin typeface="Arial"/>
                <a:cs typeface="Arial"/>
              </a:rPr>
              <a:t>CONCLUSION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9164" y="2087956"/>
            <a:ext cx="4135120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95"/>
              </a:spcBef>
              <a:buFont typeface="Yu Gothic UI"/>
              <a:buChar char="✓"/>
              <a:tabLst>
                <a:tab pos="243840" algn="l"/>
              </a:tabLst>
            </a:pP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Built</a:t>
            </a:r>
            <a:r>
              <a:rPr dirty="0" sz="1400" spc="-3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a</a:t>
            </a:r>
            <a:r>
              <a:rPr dirty="0" sz="1400" spc="-2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5F8FB"/>
                </a:solidFill>
                <a:latin typeface="Arial"/>
                <a:cs typeface="Arial"/>
              </a:rPr>
              <a:t>decision-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ready</a:t>
            </a:r>
            <a:r>
              <a:rPr dirty="0" sz="1400" spc="-3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AI</a:t>
            </a:r>
            <a:r>
              <a:rPr dirty="0" sz="1400" spc="-2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5F8FB"/>
                </a:solidFill>
                <a:latin typeface="Arial"/>
                <a:cs typeface="Arial"/>
              </a:rPr>
              <a:t>Tools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ROI</a:t>
            </a:r>
            <a:r>
              <a:rPr dirty="0" sz="1400" spc="-4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5F8FB"/>
                </a:solidFill>
                <a:latin typeface="Arial"/>
                <a:cs typeface="Arial"/>
              </a:rPr>
              <a:t>dashboard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9164" y="2710129"/>
            <a:ext cx="3881120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2725" indent="-200025">
              <a:lnSpc>
                <a:spcPct val="100000"/>
              </a:lnSpc>
              <a:spcBef>
                <a:spcPts val="95"/>
              </a:spcBef>
              <a:buSzPct val="85714"/>
              <a:buFont typeface="Segoe UI Symbol"/>
              <a:buChar char="✓"/>
              <a:tabLst>
                <a:tab pos="212725" algn="l"/>
              </a:tabLst>
            </a:pP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Compared</a:t>
            </a:r>
            <a:r>
              <a:rPr dirty="0" sz="1400" spc="-5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investment</a:t>
            </a:r>
            <a:r>
              <a:rPr dirty="0" sz="1400" spc="-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with</a:t>
            </a:r>
            <a:r>
              <a:rPr dirty="0" sz="1400" spc="-7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generated</a:t>
            </a:r>
            <a:r>
              <a:rPr dirty="0" sz="1400" spc="-3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5F8FB"/>
                </a:solidFill>
                <a:latin typeface="Arial"/>
                <a:cs typeface="Arial"/>
              </a:rPr>
              <a:t>value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9164" y="3332175"/>
            <a:ext cx="2897505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2725" indent="-200025">
              <a:lnSpc>
                <a:spcPct val="100000"/>
              </a:lnSpc>
              <a:spcBef>
                <a:spcPts val="95"/>
              </a:spcBef>
              <a:buSzPct val="85714"/>
              <a:buFont typeface="Segoe UI Symbol"/>
              <a:buChar char="✓"/>
              <a:tabLst>
                <a:tab pos="212725" algn="l"/>
              </a:tabLst>
            </a:pP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Identified</a:t>
            </a:r>
            <a:r>
              <a:rPr dirty="0" sz="1400" spc="-3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5F8FB"/>
                </a:solidFill>
                <a:latin typeface="Arial"/>
                <a:cs typeface="Arial"/>
              </a:rPr>
              <a:t>high-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performing</a:t>
            </a:r>
            <a:r>
              <a:rPr dirty="0" sz="1400" spc="-1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5F8FB"/>
                </a:solidFill>
                <a:latin typeface="Arial"/>
                <a:cs typeface="Arial"/>
              </a:rPr>
              <a:t>tools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9164" y="3954221"/>
            <a:ext cx="32416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2090" indent="-199390">
              <a:lnSpc>
                <a:spcPct val="100000"/>
              </a:lnSpc>
              <a:spcBef>
                <a:spcPts val="95"/>
              </a:spcBef>
              <a:buSzPct val="85714"/>
              <a:buFont typeface="Yu Gothic UI"/>
              <a:buChar char="✓"/>
              <a:tabLst>
                <a:tab pos="212090" algn="l"/>
              </a:tabLst>
            </a:pP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Created</a:t>
            </a:r>
            <a:r>
              <a:rPr dirty="0" sz="1400" spc="-4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a</a:t>
            </a:r>
            <a:r>
              <a:rPr dirty="0" sz="1400" spc="-3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framework</a:t>
            </a:r>
            <a:r>
              <a:rPr dirty="0" sz="1400" spc="-1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5F8FB"/>
                </a:solidFill>
                <a:latin typeface="Arial"/>
                <a:cs typeface="Arial"/>
              </a:rPr>
              <a:t>for</a:t>
            </a:r>
            <a:r>
              <a:rPr dirty="0" sz="1400" spc="-2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5F8FB"/>
                </a:solidFill>
                <a:latin typeface="Arial"/>
                <a:cs typeface="Arial"/>
              </a:rPr>
              <a:t>investment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solidFill>
                  <a:srgbClr val="F5F8FB"/>
                </a:solidFill>
                <a:latin typeface="Arial"/>
                <a:cs typeface="Arial"/>
              </a:rPr>
              <a:t>optimization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23432" y="1210055"/>
            <a:ext cx="5307965" cy="4347845"/>
            <a:chOff x="6123432" y="1210055"/>
            <a:chExt cx="5307965" cy="434784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3432" y="1210055"/>
              <a:ext cx="5307965" cy="434771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73724" y="1235963"/>
              <a:ext cx="5212080" cy="4251960"/>
            </a:xfrm>
            <a:custGeom>
              <a:avLst/>
              <a:gdLst/>
              <a:ahLst/>
              <a:cxnLst/>
              <a:rect l="l" t="t" r="r" b="b"/>
              <a:pathLst>
                <a:path w="5212080" h="4251960">
                  <a:moveTo>
                    <a:pt x="4503420" y="0"/>
                  </a:moveTo>
                  <a:lnTo>
                    <a:pt x="708659" y="0"/>
                  </a:lnTo>
                  <a:lnTo>
                    <a:pt x="660137" y="1634"/>
                  </a:lnTo>
                  <a:lnTo>
                    <a:pt x="612492" y="6468"/>
                  </a:lnTo>
                  <a:lnTo>
                    <a:pt x="565831" y="14396"/>
                  </a:lnTo>
                  <a:lnTo>
                    <a:pt x="520259" y="25311"/>
                  </a:lnTo>
                  <a:lnTo>
                    <a:pt x="475881" y="39110"/>
                  </a:lnTo>
                  <a:lnTo>
                    <a:pt x="432804" y="55685"/>
                  </a:lnTo>
                  <a:lnTo>
                    <a:pt x="391132" y="74932"/>
                  </a:lnTo>
                  <a:lnTo>
                    <a:pt x="350971" y="96745"/>
                  </a:lnTo>
                  <a:lnTo>
                    <a:pt x="312427" y="121019"/>
                  </a:lnTo>
                  <a:lnTo>
                    <a:pt x="275605" y="147648"/>
                  </a:lnTo>
                  <a:lnTo>
                    <a:pt x="240611" y="176527"/>
                  </a:lnTo>
                  <a:lnTo>
                    <a:pt x="207549" y="207549"/>
                  </a:lnTo>
                  <a:lnTo>
                    <a:pt x="176527" y="240611"/>
                  </a:lnTo>
                  <a:lnTo>
                    <a:pt x="147648" y="275605"/>
                  </a:lnTo>
                  <a:lnTo>
                    <a:pt x="121019" y="312427"/>
                  </a:lnTo>
                  <a:lnTo>
                    <a:pt x="96745" y="350971"/>
                  </a:lnTo>
                  <a:lnTo>
                    <a:pt x="74932" y="391132"/>
                  </a:lnTo>
                  <a:lnTo>
                    <a:pt x="55685" y="432804"/>
                  </a:lnTo>
                  <a:lnTo>
                    <a:pt x="39110" y="475881"/>
                  </a:lnTo>
                  <a:lnTo>
                    <a:pt x="25311" y="520259"/>
                  </a:lnTo>
                  <a:lnTo>
                    <a:pt x="14396" y="565831"/>
                  </a:lnTo>
                  <a:lnTo>
                    <a:pt x="6468" y="612492"/>
                  </a:lnTo>
                  <a:lnTo>
                    <a:pt x="1634" y="660137"/>
                  </a:lnTo>
                  <a:lnTo>
                    <a:pt x="0" y="708660"/>
                  </a:lnTo>
                  <a:lnTo>
                    <a:pt x="0" y="3543300"/>
                  </a:lnTo>
                  <a:lnTo>
                    <a:pt x="1634" y="3591822"/>
                  </a:lnTo>
                  <a:lnTo>
                    <a:pt x="6468" y="3639467"/>
                  </a:lnTo>
                  <a:lnTo>
                    <a:pt x="14396" y="3686128"/>
                  </a:lnTo>
                  <a:lnTo>
                    <a:pt x="25311" y="3731700"/>
                  </a:lnTo>
                  <a:lnTo>
                    <a:pt x="39110" y="3776078"/>
                  </a:lnTo>
                  <a:lnTo>
                    <a:pt x="55685" y="3819155"/>
                  </a:lnTo>
                  <a:lnTo>
                    <a:pt x="74932" y="3860827"/>
                  </a:lnTo>
                  <a:lnTo>
                    <a:pt x="96745" y="3900988"/>
                  </a:lnTo>
                  <a:lnTo>
                    <a:pt x="121019" y="3939532"/>
                  </a:lnTo>
                  <a:lnTo>
                    <a:pt x="147648" y="3976354"/>
                  </a:lnTo>
                  <a:lnTo>
                    <a:pt x="176527" y="4011348"/>
                  </a:lnTo>
                  <a:lnTo>
                    <a:pt x="207549" y="4044410"/>
                  </a:lnTo>
                  <a:lnTo>
                    <a:pt x="240611" y="4075432"/>
                  </a:lnTo>
                  <a:lnTo>
                    <a:pt x="275605" y="4104311"/>
                  </a:lnTo>
                  <a:lnTo>
                    <a:pt x="312427" y="4130940"/>
                  </a:lnTo>
                  <a:lnTo>
                    <a:pt x="350971" y="4155214"/>
                  </a:lnTo>
                  <a:lnTo>
                    <a:pt x="391132" y="4177027"/>
                  </a:lnTo>
                  <a:lnTo>
                    <a:pt x="432804" y="4196274"/>
                  </a:lnTo>
                  <a:lnTo>
                    <a:pt x="475881" y="4212849"/>
                  </a:lnTo>
                  <a:lnTo>
                    <a:pt x="520259" y="4226648"/>
                  </a:lnTo>
                  <a:lnTo>
                    <a:pt x="565831" y="4237563"/>
                  </a:lnTo>
                  <a:lnTo>
                    <a:pt x="612492" y="4245491"/>
                  </a:lnTo>
                  <a:lnTo>
                    <a:pt x="660137" y="4250325"/>
                  </a:lnTo>
                  <a:lnTo>
                    <a:pt x="708659" y="4251960"/>
                  </a:lnTo>
                  <a:lnTo>
                    <a:pt x="4503420" y="4251960"/>
                  </a:lnTo>
                  <a:lnTo>
                    <a:pt x="4551942" y="4250325"/>
                  </a:lnTo>
                  <a:lnTo>
                    <a:pt x="4599587" y="4245491"/>
                  </a:lnTo>
                  <a:lnTo>
                    <a:pt x="4646248" y="4237563"/>
                  </a:lnTo>
                  <a:lnTo>
                    <a:pt x="4691820" y="4226648"/>
                  </a:lnTo>
                  <a:lnTo>
                    <a:pt x="4736198" y="4212849"/>
                  </a:lnTo>
                  <a:lnTo>
                    <a:pt x="4779275" y="4196274"/>
                  </a:lnTo>
                  <a:lnTo>
                    <a:pt x="4820947" y="4177027"/>
                  </a:lnTo>
                  <a:lnTo>
                    <a:pt x="4861108" y="4155214"/>
                  </a:lnTo>
                  <a:lnTo>
                    <a:pt x="4899652" y="4130940"/>
                  </a:lnTo>
                  <a:lnTo>
                    <a:pt x="4936474" y="4104311"/>
                  </a:lnTo>
                  <a:lnTo>
                    <a:pt x="4971468" y="4075432"/>
                  </a:lnTo>
                  <a:lnTo>
                    <a:pt x="5004530" y="4044410"/>
                  </a:lnTo>
                  <a:lnTo>
                    <a:pt x="5035552" y="4011348"/>
                  </a:lnTo>
                  <a:lnTo>
                    <a:pt x="5064431" y="3976354"/>
                  </a:lnTo>
                  <a:lnTo>
                    <a:pt x="5091060" y="3939532"/>
                  </a:lnTo>
                  <a:lnTo>
                    <a:pt x="5115334" y="3900988"/>
                  </a:lnTo>
                  <a:lnTo>
                    <a:pt x="5137147" y="3860827"/>
                  </a:lnTo>
                  <a:lnTo>
                    <a:pt x="5156394" y="3819155"/>
                  </a:lnTo>
                  <a:lnTo>
                    <a:pt x="5172969" y="3776078"/>
                  </a:lnTo>
                  <a:lnTo>
                    <a:pt x="5186768" y="3731700"/>
                  </a:lnTo>
                  <a:lnTo>
                    <a:pt x="5197683" y="3686128"/>
                  </a:lnTo>
                  <a:lnTo>
                    <a:pt x="5205611" y="3639467"/>
                  </a:lnTo>
                  <a:lnTo>
                    <a:pt x="5210445" y="3591822"/>
                  </a:lnTo>
                  <a:lnTo>
                    <a:pt x="5212080" y="3543300"/>
                  </a:lnTo>
                  <a:lnTo>
                    <a:pt x="5212080" y="708660"/>
                  </a:lnTo>
                  <a:lnTo>
                    <a:pt x="5210445" y="660137"/>
                  </a:lnTo>
                  <a:lnTo>
                    <a:pt x="5205611" y="612492"/>
                  </a:lnTo>
                  <a:lnTo>
                    <a:pt x="5197683" y="565831"/>
                  </a:lnTo>
                  <a:lnTo>
                    <a:pt x="5186768" y="520259"/>
                  </a:lnTo>
                  <a:lnTo>
                    <a:pt x="5172969" y="475881"/>
                  </a:lnTo>
                  <a:lnTo>
                    <a:pt x="5156394" y="432804"/>
                  </a:lnTo>
                  <a:lnTo>
                    <a:pt x="5137147" y="391132"/>
                  </a:lnTo>
                  <a:lnTo>
                    <a:pt x="5115334" y="350971"/>
                  </a:lnTo>
                  <a:lnTo>
                    <a:pt x="5091060" y="312427"/>
                  </a:lnTo>
                  <a:lnTo>
                    <a:pt x="5064431" y="275605"/>
                  </a:lnTo>
                  <a:lnTo>
                    <a:pt x="5035552" y="240611"/>
                  </a:lnTo>
                  <a:lnTo>
                    <a:pt x="5004530" y="207549"/>
                  </a:lnTo>
                  <a:lnTo>
                    <a:pt x="4971468" y="176527"/>
                  </a:lnTo>
                  <a:lnTo>
                    <a:pt x="4936474" y="147648"/>
                  </a:lnTo>
                  <a:lnTo>
                    <a:pt x="4899652" y="121019"/>
                  </a:lnTo>
                  <a:lnTo>
                    <a:pt x="4861108" y="96745"/>
                  </a:lnTo>
                  <a:lnTo>
                    <a:pt x="4820947" y="74932"/>
                  </a:lnTo>
                  <a:lnTo>
                    <a:pt x="4779275" y="55685"/>
                  </a:lnTo>
                  <a:lnTo>
                    <a:pt x="4736198" y="39110"/>
                  </a:lnTo>
                  <a:lnTo>
                    <a:pt x="4691820" y="25311"/>
                  </a:lnTo>
                  <a:lnTo>
                    <a:pt x="4646248" y="14396"/>
                  </a:lnTo>
                  <a:lnTo>
                    <a:pt x="4599587" y="6468"/>
                  </a:lnTo>
                  <a:lnTo>
                    <a:pt x="4551942" y="1634"/>
                  </a:lnTo>
                  <a:lnTo>
                    <a:pt x="4503420" y="0"/>
                  </a:lnTo>
                  <a:close/>
                </a:path>
              </a:pathLst>
            </a:custGeom>
            <a:solidFill>
              <a:srgbClr val="0F25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73724" y="1235963"/>
              <a:ext cx="5212080" cy="4251960"/>
            </a:xfrm>
            <a:custGeom>
              <a:avLst/>
              <a:gdLst/>
              <a:ahLst/>
              <a:cxnLst/>
              <a:rect l="l" t="t" r="r" b="b"/>
              <a:pathLst>
                <a:path w="5212080" h="4251960">
                  <a:moveTo>
                    <a:pt x="0" y="708660"/>
                  </a:moveTo>
                  <a:lnTo>
                    <a:pt x="1634" y="660137"/>
                  </a:lnTo>
                  <a:lnTo>
                    <a:pt x="6468" y="612492"/>
                  </a:lnTo>
                  <a:lnTo>
                    <a:pt x="14396" y="565831"/>
                  </a:lnTo>
                  <a:lnTo>
                    <a:pt x="25311" y="520259"/>
                  </a:lnTo>
                  <a:lnTo>
                    <a:pt x="39110" y="475881"/>
                  </a:lnTo>
                  <a:lnTo>
                    <a:pt x="55685" y="432804"/>
                  </a:lnTo>
                  <a:lnTo>
                    <a:pt x="74932" y="391132"/>
                  </a:lnTo>
                  <a:lnTo>
                    <a:pt x="96745" y="350971"/>
                  </a:lnTo>
                  <a:lnTo>
                    <a:pt x="121019" y="312427"/>
                  </a:lnTo>
                  <a:lnTo>
                    <a:pt x="147648" y="275605"/>
                  </a:lnTo>
                  <a:lnTo>
                    <a:pt x="176527" y="240611"/>
                  </a:lnTo>
                  <a:lnTo>
                    <a:pt x="207549" y="207549"/>
                  </a:lnTo>
                  <a:lnTo>
                    <a:pt x="240611" y="176527"/>
                  </a:lnTo>
                  <a:lnTo>
                    <a:pt x="275605" y="147648"/>
                  </a:lnTo>
                  <a:lnTo>
                    <a:pt x="312427" y="121019"/>
                  </a:lnTo>
                  <a:lnTo>
                    <a:pt x="350971" y="96745"/>
                  </a:lnTo>
                  <a:lnTo>
                    <a:pt x="391132" y="74932"/>
                  </a:lnTo>
                  <a:lnTo>
                    <a:pt x="432804" y="55685"/>
                  </a:lnTo>
                  <a:lnTo>
                    <a:pt x="475881" y="39110"/>
                  </a:lnTo>
                  <a:lnTo>
                    <a:pt x="520259" y="25311"/>
                  </a:lnTo>
                  <a:lnTo>
                    <a:pt x="565831" y="14396"/>
                  </a:lnTo>
                  <a:lnTo>
                    <a:pt x="612492" y="6468"/>
                  </a:lnTo>
                  <a:lnTo>
                    <a:pt x="660137" y="1634"/>
                  </a:lnTo>
                  <a:lnTo>
                    <a:pt x="708659" y="0"/>
                  </a:lnTo>
                  <a:lnTo>
                    <a:pt x="4503420" y="0"/>
                  </a:lnTo>
                  <a:lnTo>
                    <a:pt x="4551942" y="1634"/>
                  </a:lnTo>
                  <a:lnTo>
                    <a:pt x="4599587" y="6468"/>
                  </a:lnTo>
                  <a:lnTo>
                    <a:pt x="4646248" y="14396"/>
                  </a:lnTo>
                  <a:lnTo>
                    <a:pt x="4691820" y="25311"/>
                  </a:lnTo>
                  <a:lnTo>
                    <a:pt x="4736198" y="39110"/>
                  </a:lnTo>
                  <a:lnTo>
                    <a:pt x="4779275" y="55685"/>
                  </a:lnTo>
                  <a:lnTo>
                    <a:pt x="4820947" y="74932"/>
                  </a:lnTo>
                  <a:lnTo>
                    <a:pt x="4861108" y="96745"/>
                  </a:lnTo>
                  <a:lnTo>
                    <a:pt x="4899652" y="121019"/>
                  </a:lnTo>
                  <a:lnTo>
                    <a:pt x="4936474" y="147648"/>
                  </a:lnTo>
                  <a:lnTo>
                    <a:pt x="4971468" y="176527"/>
                  </a:lnTo>
                  <a:lnTo>
                    <a:pt x="5004530" y="207549"/>
                  </a:lnTo>
                  <a:lnTo>
                    <a:pt x="5035552" y="240611"/>
                  </a:lnTo>
                  <a:lnTo>
                    <a:pt x="5064431" y="275605"/>
                  </a:lnTo>
                  <a:lnTo>
                    <a:pt x="5091060" y="312427"/>
                  </a:lnTo>
                  <a:lnTo>
                    <a:pt x="5115334" y="350971"/>
                  </a:lnTo>
                  <a:lnTo>
                    <a:pt x="5137147" y="391132"/>
                  </a:lnTo>
                  <a:lnTo>
                    <a:pt x="5156394" y="432804"/>
                  </a:lnTo>
                  <a:lnTo>
                    <a:pt x="5172969" y="475881"/>
                  </a:lnTo>
                  <a:lnTo>
                    <a:pt x="5186768" y="520259"/>
                  </a:lnTo>
                  <a:lnTo>
                    <a:pt x="5197683" y="565831"/>
                  </a:lnTo>
                  <a:lnTo>
                    <a:pt x="5205611" y="612492"/>
                  </a:lnTo>
                  <a:lnTo>
                    <a:pt x="5210445" y="660137"/>
                  </a:lnTo>
                  <a:lnTo>
                    <a:pt x="5212080" y="708660"/>
                  </a:lnTo>
                  <a:lnTo>
                    <a:pt x="5212080" y="3543300"/>
                  </a:lnTo>
                  <a:lnTo>
                    <a:pt x="5210445" y="3591822"/>
                  </a:lnTo>
                  <a:lnTo>
                    <a:pt x="5205611" y="3639467"/>
                  </a:lnTo>
                  <a:lnTo>
                    <a:pt x="5197683" y="3686128"/>
                  </a:lnTo>
                  <a:lnTo>
                    <a:pt x="5186768" y="3731700"/>
                  </a:lnTo>
                  <a:lnTo>
                    <a:pt x="5172969" y="3776078"/>
                  </a:lnTo>
                  <a:lnTo>
                    <a:pt x="5156394" y="3819155"/>
                  </a:lnTo>
                  <a:lnTo>
                    <a:pt x="5137147" y="3860827"/>
                  </a:lnTo>
                  <a:lnTo>
                    <a:pt x="5115334" y="3900988"/>
                  </a:lnTo>
                  <a:lnTo>
                    <a:pt x="5091060" y="3939532"/>
                  </a:lnTo>
                  <a:lnTo>
                    <a:pt x="5064431" y="3976354"/>
                  </a:lnTo>
                  <a:lnTo>
                    <a:pt x="5035552" y="4011348"/>
                  </a:lnTo>
                  <a:lnTo>
                    <a:pt x="5004530" y="4044410"/>
                  </a:lnTo>
                  <a:lnTo>
                    <a:pt x="4971468" y="4075432"/>
                  </a:lnTo>
                  <a:lnTo>
                    <a:pt x="4936474" y="4104311"/>
                  </a:lnTo>
                  <a:lnTo>
                    <a:pt x="4899652" y="4130940"/>
                  </a:lnTo>
                  <a:lnTo>
                    <a:pt x="4861108" y="4155214"/>
                  </a:lnTo>
                  <a:lnTo>
                    <a:pt x="4820947" y="4177027"/>
                  </a:lnTo>
                  <a:lnTo>
                    <a:pt x="4779275" y="4196274"/>
                  </a:lnTo>
                  <a:lnTo>
                    <a:pt x="4736198" y="4212849"/>
                  </a:lnTo>
                  <a:lnTo>
                    <a:pt x="4691820" y="4226648"/>
                  </a:lnTo>
                  <a:lnTo>
                    <a:pt x="4646248" y="4237563"/>
                  </a:lnTo>
                  <a:lnTo>
                    <a:pt x="4599587" y="4245491"/>
                  </a:lnTo>
                  <a:lnTo>
                    <a:pt x="4551942" y="4250325"/>
                  </a:lnTo>
                  <a:lnTo>
                    <a:pt x="4503420" y="4251960"/>
                  </a:lnTo>
                  <a:lnTo>
                    <a:pt x="708659" y="4251960"/>
                  </a:lnTo>
                  <a:lnTo>
                    <a:pt x="660137" y="4250325"/>
                  </a:lnTo>
                  <a:lnTo>
                    <a:pt x="612492" y="4245491"/>
                  </a:lnTo>
                  <a:lnTo>
                    <a:pt x="565831" y="4237563"/>
                  </a:lnTo>
                  <a:lnTo>
                    <a:pt x="520259" y="4226648"/>
                  </a:lnTo>
                  <a:lnTo>
                    <a:pt x="475881" y="4212849"/>
                  </a:lnTo>
                  <a:lnTo>
                    <a:pt x="432804" y="4196274"/>
                  </a:lnTo>
                  <a:lnTo>
                    <a:pt x="391132" y="4177027"/>
                  </a:lnTo>
                  <a:lnTo>
                    <a:pt x="350971" y="4155214"/>
                  </a:lnTo>
                  <a:lnTo>
                    <a:pt x="312427" y="4130940"/>
                  </a:lnTo>
                  <a:lnTo>
                    <a:pt x="275605" y="4104311"/>
                  </a:lnTo>
                  <a:lnTo>
                    <a:pt x="240611" y="4075432"/>
                  </a:lnTo>
                  <a:lnTo>
                    <a:pt x="207549" y="4044410"/>
                  </a:lnTo>
                  <a:lnTo>
                    <a:pt x="176527" y="4011348"/>
                  </a:lnTo>
                  <a:lnTo>
                    <a:pt x="147648" y="3976354"/>
                  </a:lnTo>
                  <a:lnTo>
                    <a:pt x="121019" y="3939532"/>
                  </a:lnTo>
                  <a:lnTo>
                    <a:pt x="96745" y="3900988"/>
                  </a:lnTo>
                  <a:lnTo>
                    <a:pt x="74932" y="3860827"/>
                  </a:lnTo>
                  <a:lnTo>
                    <a:pt x="55685" y="3819155"/>
                  </a:lnTo>
                  <a:lnTo>
                    <a:pt x="39110" y="3776078"/>
                  </a:lnTo>
                  <a:lnTo>
                    <a:pt x="25311" y="3731700"/>
                  </a:lnTo>
                  <a:lnTo>
                    <a:pt x="14396" y="3686128"/>
                  </a:lnTo>
                  <a:lnTo>
                    <a:pt x="6468" y="3639467"/>
                  </a:lnTo>
                  <a:lnTo>
                    <a:pt x="1634" y="3591822"/>
                  </a:lnTo>
                  <a:lnTo>
                    <a:pt x="0" y="3543300"/>
                  </a:lnTo>
                  <a:lnTo>
                    <a:pt x="0" y="70866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526783" y="1585341"/>
            <a:ext cx="141668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solidFill>
                  <a:srgbClr val="00C7FF"/>
                </a:solidFill>
                <a:latin typeface="Arial"/>
                <a:cs typeface="Arial"/>
              </a:rPr>
              <a:t>FUTURE</a:t>
            </a:r>
            <a:r>
              <a:rPr dirty="0" sz="1400" spc="-3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00C7FF"/>
                </a:solidFill>
                <a:latin typeface="Arial"/>
                <a:cs typeface="Arial"/>
              </a:rPr>
              <a:t>SCOPE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26783" y="2060524"/>
            <a:ext cx="21717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→</a:t>
            </a:r>
            <a:r>
              <a:rPr dirty="0" sz="1200" spc="31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Predictive</a:t>
            </a:r>
            <a:r>
              <a:rPr dirty="0" sz="1200" spc="-1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ROI</a:t>
            </a:r>
            <a:r>
              <a:rPr dirty="0" sz="1200" spc="-1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5F8FB"/>
                </a:solidFill>
                <a:latin typeface="Arial"/>
                <a:cs typeface="Arial"/>
              </a:rPr>
              <a:t>forecasting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26783" y="2628138"/>
            <a:ext cx="27355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5F8FB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31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 b="1">
                <a:solidFill>
                  <a:srgbClr val="F5F8FB"/>
                </a:solidFill>
                <a:latin typeface="Arial"/>
                <a:cs typeface="Arial"/>
              </a:rPr>
              <a:t>Department-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level</a:t>
            </a:r>
            <a:r>
              <a:rPr dirty="0" sz="1200" spc="-1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ROI</a:t>
            </a:r>
            <a:r>
              <a:rPr dirty="0" sz="1200" spc="1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5F8FB"/>
                </a:solidFill>
                <a:latin typeface="Arial"/>
                <a:cs typeface="Arial"/>
              </a:rPr>
              <a:t>optimization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26783" y="3195320"/>
            <a:ext cx="2820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5F8FB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30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Usage-</a:t>
            </a:r>
            <a:r>
              <a:rPr dirty="0" sz="1200" spc="-10" b="1">
                <a:solidFill>
                  <a:srgbClr val="F5F8FB"/>
                </a:solidFill>
                <a:latin typeface="Arial"/>
                <a:cs typeface="Arial"/>
              </a:rPr>
              <a:t>based</a:t>
            </a:r>
            <a:r>
              <a:rPr dirty="0" sz="1200" spc="-8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subscription</a:t>
            </a:r>
            <a:r>
              <a:rPr dirty="0" sz="1200" spc="-10" b="1">
                <a:solidFill>
                  <a:srgbClr val="F5F8FB"/>
                </a:solidFill>
                <a:latin typeface="Arial"/>
                <a:cs typeface="Arial"/>
              </a:rPr>
              <a:t> planning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26783" y="3762502"/>
            <a:ext cx="21139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5F8FB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315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 b="1">
                <a:solidFill>
                  <a:srgbClr val="F5F8FB"/>
                </a:solidFill>
                <a:latin typeface="Arial"/>
                <a:cs typeface="Arial"/>
              </a:rPr>
              <a:t>Real-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time</a:t>
            </a:r>
            <a:r>
              <a:rPr dirty="0" sz="1200" spc="-3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data</a:t>
            </a:r>
            <a:r>
              <a:rPr dirty="0" sz="1200" spc="-10" b="1">
                <a:solidFill>
                  <a:srgbClr val="F5F8FB"/>
                </a:solidFill>
                <a:latin typeface="Arial"/>
                <a:cs typeface="Arial"/>
              </a:rPr>
              <a:t> integration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26783" y="4329810"/>
            <a:ext cx="4236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5F8FB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280">
                <a:solidFill>
                  <a:srgbClr val="F5F8FB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5" b="1">
                <a:solidFill>
                  <a:srgbClr val="F5F8FB"/>
                </a:solidFill>
                <a:latin typeface="Arial"/>
                <a:cs typeface="Arial"/>
              </a:rPr>
              <a:t>AI-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powered</a:t>
            </a:r>
            <a:r>
              <a:rPr dirty="0" sz="1200" spc="-5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Keep</a:t>
            </a:r>
            <a:r>
              <a:rPr dirty="0" sz="1200" spc="-2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/</a:t>
            </a:r>
            <a:r>
              <a:rPr dirty="0" sz="1200" spc="-1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Upgrade</a:t>
            </a:r>
            <a:r>
              <a:rPr dirty="0" sz="1200" spc="-3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/</a:t>
            </a:r>
            <a:r>
              <a:rPr dirty="0" sz="1200" spc="-10" b="1">
                <a:solidFill>
                  <a:srgbClr val="F5F8F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5F8FB"/>
                </a:solidFill>
                <a:latin typeface="Arial"/>
                <a:cs typeface="Arial"/>
              </a:rPr>
              <a:t>Review</a:t>
            </a:r>
            <a:r>
              <a:rPr dirty="0" sz="1200" spc="-10" b="1">
                <a:solidFill>
                  <a:srgbClr val="F5F8FB"/>
                </a:solidFill>
                <a:latin typeface="Arial"/>
                <a:cs typeface="Arial"/>
              </a:rPr>
              <a:t> recommendations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31391" y="5690615"/>
            <a:ext cx="9742805" cy="553085"/>
            <a:chOff x="1231391" y="5690615"/>
            <a:chExt cx="9742805" cy="55308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1391" y="5690615"/>
              <a:ext cx="9742678" cy="55305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281683" y="5716523"/>
              <a:ext cx="9646920" cy="457200"/>
            </a:xfrm>
            <a:custGeom>
              <a:avLst/>
              <a:gdLst/>
              <a:ahLst/>
              <a:cxnLst/>
              <a:rect l="l" t="t" r="r" b="b"/>
              <a:pathLst>
                <a:path w="9646920" h="457200">
                  <a:moveTo>
                    <a:pt x="9570720" y="0"/>
                  </a:moveTo>
                  <a:lnTo>
                    <a:pt x="76200" y="0"/>
                  </a:lnTo>
                  <a:lnTo>
                    <a:pt x="46559" y="5987"/>
                  </a:lnTo>
                  <a:lnTo>
                    <a:pt x="22336" y="22317"/>
                  </a:lnTo>
                  <a:lnTo>
                    <a:pt x="5994" y="46537"/>
                  </a:lnTo>
                  <a:lnTo>
                    <a:pt x="0" y="76200"/>
                  </a:lnTo>
                  <a:lnTo>
                    <a:pt x="0" y="380999"/>
                  </a:lnTo>
                  <a:lnTo>
                    <a:pt x="5994" y="410662"/>
                  </a:lnTo>
                  <a:lnTo>
                    <a:pt x="22336" y="434882"/>
                  </a:lnTo>
                  <a:lnTo>
                    <a:pt x="46559" y="451212"/>
                  </a:lnTo>
                  <a:lnTo>
                    <a:pt x="76200" y="457199"/>
                  </a:lnTo>
                  <a:lnTo>
                    <a:pt x="9570720" y="457199"/>
                  </a:lnTo>
                  <a:lnTo>
                    <a:pt x="9600360" y="451212"/>
                  </a:lnTo>
                  <a:lnTo>
                    <a:pt x="9624583" y="434882"/>
                  </a:lnTo>
                  <a:lnTo>
                    <a:pt x="9640925" y="410662"/>
                  </a:lnTo>
                  <a:lnTo>
                    <a:pt x="9646920" y="380999"/>
                  </a:lnTo>
                  <a:lnTo>
                    <a:pt x="9646920" y="76200"/>
                  </a:lnTo>
                  <a:lnTo>
                    <a:pt x="9640925" y="46537"/>
                  </a:lnTo>
                  <a:lnTo>
                    <a:pt x="9624583" y="22317"/>
                  </a:lnTo>
                  <a:lnTo>
                    <a:pt x="9600360" y="5987"/>
                  </a:lnTo>
                  <a:lnTo>
                    <a:pt x="9570720" y="0"/>
                  </a:lnTo>
                  <a:close/>
                </a:path>
              </a:pathLst>
            </a:custGeom>
            <a:solidFill>
              <a:srgbClr val="0C2F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281683" y="5716523"/>
              <a:ext cx="9646920" cy="457200"/>
            </a:xfrm>
            <a:custGeom>
              <a:avLst/>
              <a:gdLst/>
              <a:ahLst/>
              <a:cxnLst/>
              <a:rect l="l" t="t" r="r" b="b"/>
              <a:pathLst>
                <a:path w="9646920" h="457200">
                  <a:moveTo>
                    <a:pt x="0" y="76200"/>
                  </a:moveTo>
                  <a:lnTo>
                    <a:pt x="5994" y="46537"/>
                  </a:lnTo>
                  <a:lnTo>
                    <a:pt x="22336" y="22317"/>
                  </a:lnTo>
                  <a:lnTo>
                    <a:pt x="46559" y="5987"/>
                  </a:lnTo>
                  <a:lnTo>
                    <a:pt x="76200" y="0"/>
                  </a:lnTo>
                  <a:lnTo>
                    <a:pt x="9570720" y="0"/>
                  </a:lnTo>
                  <a:lnTo>
                    <a:pt x="9600360" y="5987"/>
                  </a:lnTo>
                  <a:lnTo>
                    <a:pt x="9624583" y="22317"/>
                  </a:lnTo>
                  <a:lnTo>
                    <a:pt x="9640925" y="46537"/>
                  </a:lnTo>
                  <a:lnTo>
                    <a:pt x="9646920" y="76200"/>
                  </a:lnTo>
                  <a:lnTo>
                    <a:pt x="9646920" y="380999"/>
                  </a:lnTo>
                  <a:lnTo>
                    <a:pt x="9640925" y="410662"/>
                  </a:lnTo>
                  <a:lnTo>
                    <a:pt x="9624583" y="434882"/>
                  </a:lnTo>
                  <a:lnTo>
                    <a:pt x="9600360" y="451212"/>
                  </a:lnTo>
                  <a:lnTo>
                    <a:pt x="9570720" y="457199"/>
                  </a:lnTo>
                  <a:lnTo>
                    <a:pt x="76200" y="457199"/>
                  </a:lnTo>
                  <a:lnTo>
                    <a:pt x="46559" y="451212"/>
                  </a:lnTo>
                  <a:lnTo>
                    <a:pt x="22336" y="434882"/>
                  </a:lnTo>
                  <a:lnTo>
                    <a:pt x="5994" y="410662"/>
                  </a:lnTo>
                  <a:lnTo>
                    <a:pt x="0" y="380999"/>
                  </a:lnTo>
                  <a:lnTo>
                    <a:pt x="0" y="76200"/>
                  </a:lnTo>
                  <a:close/>
                </a:path>
              </a:pathLst>
            </a:custGeom>
            <a:ln w="9144">
              <a:solidFill>
                <a:srgbClr val="223D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872232" y="5857443"/>
            <a:ext cx="64185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AI</a:t>
            </a:r>
            <a:r>
              <a:rPr dirty="0" sz="1200" spc="-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investment</a:t>
            </a:r>
            <a:r>
              <a:rPr dirty="0" sz="1200" spc="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should</a:t>
            </a:r>
            <a:r>
              <a:rPr dirty="0" sz="1200" spc="-2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be</a:t>
            </a: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measured</a:t>
            </a:r>
            <a:r>
              <a:rPr dirty="0" sz="1200" spc="-3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by</a:t>
            </a: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value</a:t>
            </a: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it</a:t>
            </a:r>
            <a:r>
              <a:rPr dirty="0" sz="1200" spc="-2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creates</a:t>
            </a: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—</a:t>
            </a:r>
            <a:r>
              <a:rPr dirty="0" sz="1200" spc="-2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not</a:t>
            </a:r>
            <a:r>
              <a:rPr dirty="0" sz="1200" spc="-2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simply</a:t>
            </a:r>
            <a:r>
              <a:rPr dirty="0" sz="1200" spc="-2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by</a:t>
            </a:r>
            <a:r>
              <a:rPr dirty="0" sz="1200" spc="-45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what</a:t>
            </a:r>
            <a:r>
              <a:rPr dirty="0" sz="1200" spc="-2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C7FF"/>
                </a:solidFill>
                <a:latin typeface="Arial"/>
                <a:cs typeface="Arial"/>
              </a:rPr>
              <a:t>it</a:t>
            </a:r>
            <a:r>
              <a:rPr dirty="0" sz="1200" spc="-20" b="1">
                <a:solidFill>
                  <a:srgbClr val="00C7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C7FF"/>
                </a:solidFill>
                <a:latin typeface="Arial"/>
                <a:cs typeface="Arial"/>
              </a:rPr>
              <a:t>costs.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142726" y="6514895"/>
            <a:ext cx="440055" cy="1549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10</a:t>
            </a:r>
            <a:r>
              <a:rPr dirty="0" sz="900" spc="245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AEBDD2"/>
                </a:solidFill>
                <a:latin typeface="Arial"/>
                <a:cs typeface="Arial"/>
              </a:rPr>
              <a:t>/</a:t>
            </a:r>
            <a:r>
              <a:rPr dirty="0" sz="900" spc="240" b="1">
                <a:solidFill>
                  <a:srgbClr val="AEBDD2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AEBDD2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2026-09-06T18:40:05Z</dcterms:created>
  <dcterms:modified xsi:type="dcterms:W3CDTF">2026-09-06T18:40:05Z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2026-09-06T00:00:00Z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2026-09-06T00:00:00Z</vt:filetime>
  </property>
  <property fmtid="{D5CDD505-2E9C-101B-9397-08002B2CF9AE}" pid="6" name="Producer">
    <vt:lpwstr>www.ilovepdf.com</vt:lpwstr>
  </property>
</Properties>
</file>